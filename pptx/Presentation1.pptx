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9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0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21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22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23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1178" r:id="rId2"/>
    <p:sldId id="256" r:id="rId3"/>
    <p:sldId id="1193" r:id="rId4"/>
    <p:sldId id="1196" r:id="rId5"/>
    <p:sldId id="1198" r:id="rId6"/>
    <p:sldId id="1197" r:id="rId7"/>
    <p:sldId id="1194" r:id="rId8"/>
    <p:sldId id="1183" r:id="rId9"/>
    <p:sldId id="1182" r:id="rId10"/>
    <p:sldId id="1188" r:id="rId11"/>
    <p:sldId id="1184" r:id="rId12"/>
    <p:sldId id="1107" r:id="rId13"/>
    <p:sldId id="1181" r:id="rId14"/>
    <p:sldId id="475" r:id="rId15"/>
    <p:sldId id="1180" r:id="rId16"/>
    <p:sldId id="1199" r:id="rId17"/>
    <p:sldId id="1243" r:id="rId18"/>
    <p:sldId id="1244" r:id="rId19"/>
    <p:sldId id="1185" r:id="rId20"/>
    <p:sldId id="1257" r:id="rId21"/>
    <p:sldId id="1222" r:id="rId22"/>
    <p:sldId id="1223" r:id="rId23"/>
    <p:sldId id="1224" r:id="rId24"/>
    <p:sldId id="1225" r:id="rId25"/>
    <p:sldId id="1189" r:id="rId26"/>
    <p:sldId id="1190" r:id="rId27"/>
    <p:sldId id="1191" r:id="rId28"/>
    <p:sldId id="1192" r:id="rId29"/>
    <p:sldId id="1227" r:id="rId30"/>
    <p:sldId id="1200" r:id="rId31"/>
    <p:sldId id="1201" r:id="rId32"/>
    <p:sldId id="1202" r:id="rId33"/>
    <p:sldId id="1230" r:id="rId34"/>
    <p:sldId id="1203" r:id="rId35"/>
    <p:sldId id="1232" r:id="rId36"/>
    <p:sldId id="1233" r:id="rId37"/>
    <p:sldId id="1205" r:id="rId38"/>
    <p:sldId id="1231" r:id="rId39"/>
    <p:sldId id="1229" r:id="rId40"/>
    <p:sldId id="1234" r:id="rId41"/>
    <p:sldId id="1235" r:id="rId42"/>
    <p:sldId id="1250" r:id="rId43"/>
    <p:sldId id="1249" r:id="rId44"/>
    <p:sldId id="1237" r:id="rId45"/>
    <p:sldId id="1251" r:id="rId46"/>
    <p:sldId id="1252" r:id="rId47"/>
    <p:sldId id="1253" r:id="rId48"/>
    <p:sldId id="1255" r:id="rId49"/>
    <p:sldId id="1256" r:id="rId50"/>
    <p:sldId id="1238" r:id="rId51"/>
    <p:sldId id="1241" r:id="rId52"/>
    <p:sldId id="1242" r:id="rId53"/>
    <p:sldId id="1254" r:id="rId54"/>
    <p:sldId id="1239" r:id="rId55"/>
    <p:sldId id="1240" r:id="rId56"/>
    <p:sldId id="1245" r:id="rId57"/>
    <p:sldId id="1246" r:id="rId58"/>
    <p:sldId id="1247" r:id="rId59"/>
    <p:sldId id="1248" r:id="rId60"/>
    <p:sldId id="1207" r:id="rId61"/>
    <p:sldId id="1206" r:id="rId62"/>
    <p:sldId id="1204" r:id="rId63"/>
    <p:sldId id="1208" r:id="rId64"/>
    <p:sldId id="1209" r:id="rId65"/>
    <p:sldId id="1228" r:id="rId66"/>
    <p:sldId id="1210" r:id="rId67"/>
    <p:sldId id="1211" r:id="rId68"/>
    <p:sldId id="1212" r:id="rId69"/>
    <p:sldId id="1213" r:id="rId70"/>
    <p:sldId id="1214" r:id="rId71"/>
    <p:sldId id="1215" r:id="rId72"/>
    <p:sldId id="1216" r:id="rId73"/>
    <p:sldId id="1217" r:id="rId74"/>
    <p:sldId id="1218" r:id="rId75"/>
    <p:sldId id="1195" r:id="rId76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A99B"/>
    <a:srgbClr val="FFFFFF"/>
    <a:srgbClr val="DFDCD3"/>
    <a:srgbClr val="E3DECF"/>
    <a:srgbClr val="D5CEB9"/>
    <a:srgbClr val="DFD2AF"/>
    <a:srgbClr val="F0EAD9"/>
    <a:srgbClr val="B7AE8B"/>
    <a:srgbClr val="CAB578"/>
    <a:srgbClr val="0003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928" autoAdjust="0"/>
  </p:normalViewPr>
  <p:slideViewPr>
    <p:cSldViewPr snapToGrid="0">
      <p:cViewPr varScale="1">
        <p:scale>
          <a:sx n="154" d="100"/>
          <a:sy n="154" d="100"/>
        </p:scale>
        <p:origin x="572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ha\Desktop\Projektit\kuopio-pelaa-2026\exports\modien-kokonaismaara-kaaviot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ha\Desktop\Projektit\kuopio-pelaa-2026\exports\modien-kokonaismaara-kaaviot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ha\Desktop\Projektit\kuopio-pelaa-2026\exports\modien-kokonaismaara-kaaviot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ha\Desktop\Projektit\kuopio-pelaa-2026\exports\modien-kokonaismaara-kaaviot-korjattu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Myönteinen</c:v>
                </c:pt>
              </c:strCache>
            </c:strRef>
          </c:tx>
          <c:spPr>
            <a:solidFill>
              <a:srgbClr val="69A400"/>
            </a:solidFill>
            <a:ln>
              <a:noFill/>
            </a:ln>
            <a:effectLst/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Sheet1!$B$2:$B$4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DB-4301-9288-9F6E0B0BD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ln>
                <a:noFill/>
              </a:ln>
              <a:solidFill>
                <a:srgbClr val="69A4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Kielteinen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Sheet1!$C$2:$C$4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AD-4750-A859-88870E7EE6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C000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Sekalainen</c:v>
                </c:pt>
              </c:strCache>
            </c:strRef>
          </c:tx>
          <c:spPr>
            <a:solidFill>
              <a:srgbClr val="F4A505"/>
            </a:solidFill>
            <a:ln>
              <a:noFill/>
            </a:ln>
            <a:effectLst/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Sheet1!$D$2:$D$4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8B-4E77-9D9E-259669789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FFC0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Myönteinen</c:v>
                </c:pt>
              </c:strCache>
            </c:strRef>
          </c:tx>
          <c:spPr>
            <a:solidFill>
              <a:srgbClr val="69A4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 formatCode="0%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DB-4301-9288-9F6E0B0BD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ln>
                <a:noFill/>
              </a:ln>
              <a:solidFill>
                <a:srgbClr val="69A4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Kielteinen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 formatCode="0%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AD-4750-A859-88870E7EE6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C000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Sekalainen</c:v>
                </c:pt>
              </c:strCache>
            </c:strRef>
          </c:tx>
          <c:spPr>
            <a:solidFill>
              <a:srgbClr val="F4A50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 formatCode="0%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8B-4E77-9D9E-259669789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FFC0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Myönteinen</c:v>
                </c:pt>
              </c:strCache>
            </c:strRef>
          </c:tx>
          <c:spPr>
            <a:solidFill>
              <a:srgbClr val="69A4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Sheet1!$B$2:$B$4</c:f>
              <c:numCache>
                <c:formatCode>0%</c:formatCode>
                <c:ptCount val="3"/>
                <c:pt idx="0">
                  <c:v>0.21</c:v>
                </c:pt>
                <c:pt idx="1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DB-4301-9288-9F6E0B0BD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ln>
                <a:noFill/>
              </a:ln>
              <a:solidFill>
                <a:srgbClr val="69A4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Kielteinen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Sheet1!$C$2:$C$4</c:f>
              <c:numCache>
                <c:formatCode>0%</c:formatCode>
                <c:ptCount val="3"/>
                <c:pt idx="0">
                  <c:v>0.18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AD-4750-A859-88870E7EE6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C000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Sekalainen</c:v>
                </c:pt>
              </c:strCache>
            </c:strRef>
          </c:tx>
          <c:spPr>
            <a:solidFill>
              <a:srgbClr val="F4A50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Sheet1!$D$2:$D$4</c:f>
              <c:numCache>
                <c:formatCode>0%</c:formatCode>
                <c:ptCount val="3"/>
                <c:pt idx="0">
                  <c:v>0.56999999999999995</c:v>
                </c:pt>
                <c:pt idx="1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8B-4E77-9D9E-259669789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FFC0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Myönteinen</c:v>
                </c:pt>
              </c:strCache>
            </c:strRef>
          </c:tx>
          <c:spPr>
            <a:solidFill>
              <a:srgbClr val="69A4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Sheet1!$B$2:$B$4</c:f>
              <c:numCache>
                <c:formatCode>0%</c:formatCode>
                <c:ptCount val="3"/>
                <c:pt idx="0">
                  <c:v>0.21</c:v>
                </c:pt>
                <c:pt idx="1">
                  <c:v>0.13</c:v>
                </c:pt>
                <c:pt idx="2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DB-4301-9288-9F6E0B0BD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ln>
                <a:noFill/>
              </a:ln>
              <a:solidFill>
                <a:srgbClr val="69A4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Kielteinen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Sheet1!$C$2:$C$4</c:f>
              <c:numCache>
                <c:formatCode>0%</c:formatCode>
                <c:ptCount val="3"/>
                <c:pt idx="0">
                  <c:v>0.18</c:v>
                </c:pt>
                <c:pt idx="1">
                  <c:v>0.3</c:v>
                </c:pt>
                <c:pt idx="2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AD-4750-A859-88870E7EE6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C000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Sekalainen</c:v>
                </c:pt>
              </c:strCache>
            </c:strRef>
          </c:tx>
          <c:spPr>
            <a:solidFill>
              <a:srgbClr val="F4A50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Sheet1!$D$2:$D$4</c:f>
              <c:numCache>
                <c:formatCode>0%</c:formatCode>
                <c:ptCount val="3"/>
                <c:pt idx="0">
                  <c:v>0.56999999999999995</c:v>
                </c:pt>
                <c:pt idx="1">
                  <c:v>0.51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8B-4E77-9D9E-259669789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-27"/>
        <c:axId val="596825247"/>
        <c:axId val="696274303"/>
      </c:barChart>
      <c:catAx>
        <c:axId val="59682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96274303"/>
        <c:crosses val="autoZero"/>
        <c:auto val="1"/>
        <c:lblAlgn val="ctr"/>
        <c:lblOffset val="100"/>
        <c:noMultiLvlLbl val="0"/>
      </c:catAx>
      <c:valAx>
        <c:axId val="6962743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5968252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FFC00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Osuus käyttäjistä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Pelaajalle näkyvät ominaisuudet</c:v>
                </c:pt>
                <c:pt idx="1">
                  <c:v>Muu käyttö</c:v>
                </c:pt>
                <c:pt idx="2">
                  <c:v>Proseduraalinen generointi</c:v>
                </c:pt>
                <c:pt idx="3">
                  <c:v>Personoitu sisältö</c:v>
                </c:pt>
                <c:pt idx="4">
                  <c:v>Pelimateriaalin generointi</c:v>
                </c:pt>
                <c:pt idx="5">
                  <c:v>Markkinointi</c:v>
                </c:pt>
                <c:pt idx="6">
                  <c:v>Testaus ja virheiden korjaus</c:v>
                </c:pt>
                <c:pt idx="7">
                  <c:v>Prototypointi</c:v>
                </c:pt>
                <c:pt idx="8">
                  <c:v>Koodaaminen ja ohjelmointi</c:v>
                </c:pt>
                <c:pt idx="9">
                  <c:v>Sähköpostit ja muut arjen tehtävät</c:v>
                </c:pt>
                <c:pt idx="10">
                  <c:v>Tutkimus ja ideointi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0.05</c:v>
                </c:pt>
                <c:pt idx="1">
                  <c:v>0.08</c:v>
                </c:pt>
                <c:pt idx="2">
                  <c:v>0.1</c:v>
                </c:pt>
                <c:pt idx="3">
                  <c:v>0.12</c:v>
                </c:pt>
                <c:pt idx="4">
                  <c:v>0.19</c:v>
                </c:pt>
                <c:pt idx="5">
                  <c:v>0.2</c:v>
                </c:pt>
                <c:pt idx="6">
                  <c:v>0.22</c:v>
                </c:pt>
                <c:pt idx="7">
                  <c:v>0.35</c:v>
                </c:pt>
                <c:pt idx="8">
                  <c:v>0.47</c:v>
                </c:pt>
                <c:pt idx="9">
                  <c:v>0.47</c:v>
                </c:pt>
                <c:pt idx="10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8F-41DC-98F7-D4DE3DA0D2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-32"/>
        <c:axId val="653549999"/>
        <c:axId val="903890495"/>
      </c:barChart>
      <c:catAx>
        <c:axId val="6535499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FI"/>
          </a:p>
        </c:txPr>
        <c:crossAx val="903890495"/>
        <c:crosses val="autoZero"/>
        <c:auto val="1"/>
        <c:lblAlgn val="ctr"/>
        <c:lblOffset val="100"/>
        <c:noMultiLvlLbl val="0"/>
      </c:catAx>
      <c:valAx>
        <c:axId val="9038904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53549999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Erittäin kielteinen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Sheet1!$B$11</c:f>
              <c:numCache>
                <c:formatCode>0.0%</c:formatCode>
                <c:ptCount val="1"/>
                <c:pt idx="0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BC-4B75-BED4-EAB74004D1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Melko kielteinen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Sheet1!$C$11</c:f>
              <c:numCache>
                <c:formatCode>0.0%</c:formatCode>
                <c:ptCount val="1"/>
                <c:pt idx="0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9-4E46-BCFC-974485FF8F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Hieman kielteinen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Sheet1!$D$11</c:f>
              <c:numCache>
                <c:formatCode>0.0%</c:formatCode>
                <c:ptCount val="1"/>
                <c:pt idx="0">
                  <c:v>6.8000000000000005E-2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A9-4E46-BCFC-974485FF8FF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Neutraali</c:v>
                </c:pt>
              </c:strCache>
            </c:strRef>
          </c:tx>
          <c:spPr>
            <a:solidFill>
              <a:srgbClr val="FFDF79"/>
            </a:solidFill>
            <a:ln>
              <a:noFill/>
            </a:ln>
            <a:effectLst/>
          </c:spPr>
          <c:invertIfNegative val="0"/>
          <c:cat>
            <c:strRef>
              <c:f>Sheet1!$A$11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Sheet1!$E$11</c:f>
              <c:numCache>
                <c:formatCode>0.0%</c:formatCode>
                <c:ptCount val="1"/>
                <c:pt idx="0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A9-4E46-BCFC-974485FF8FF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Hieman myönteinen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Sheet1!$F$11</c:f>
              <c:numCache>
                <c:formatCode>0.0%</c:formatCode>
                <c:ptCount val="1"/>
                <c:pt idx="0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A9-4E46-BCFC-974485FF8FF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Melko myönteinen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Sheet1!$G$11</c:f>
              <c:numCache>
                <c:formatCode>0.0%</c:formatCode>
                <c:ptCount val="1"/>
                <c:pt idx="0">
                  <c:v>2.8000000000000001E-2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A9-4E46-BCFC-974485FF8FF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Erittäin myönteinen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Sheet1!$A$11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Sheet1!$H$11</c:f>
              <c:numCache>
                <c:formatCode>0.0%</c:formatCode>
                <c:ptCount val="1"/>
                <c:pt idx="0">
                  <c:v>1.7999999999999999E-2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EA9-4E46-BCFC-974485FF8F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607768607"/>
        <c:axId val="1645147359"/>
      </c:barChart>
      <c:catAx>
        <c:axId val="60776860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45147359"/>
        <c:crosses val="autoZero"/>
        <c:auto val="1"/>
        <c:lblAlgn val="ctr"/>
        <c:lblOffset val="100"/>
        <c:noMultiLvlLbl val="0"/>
      </c:catAx>
      <c:valAx>
        <c:axId val="16451473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0776860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FI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Erittäin kielteinen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Sheet1!$A$9:$A$13</c:f>
              <c:strCache>
                <c:ptCount val="5"/>
                <c:pt idx="0">
                  <c:v>Kuvamateriaali</c:v>
                </c:pt>
                <c:pt idx="1">
                  <c:v>Musiikki / äänitehosteet</c:v>
                </c:pt>
                <c:pt idx="2">
                  <c:v>Tarinankerronta / dialogi</c:v>
                </c:pt>
                <c:pt idx="3">
                  <c:v>Tehtävät (questit)</c:v>
                </c:pt>
                <c:pt idx="4">
                  <c:v>Dynaaminenvaikeustason säätö</c:v>
                </c:pt>
              </c:strCache>
            </c:strRef>
          </c:cat>
          <c:val>
            <c:numRef>
              <c:f>Sheet1!$C$9:$C$13</c:f>
              <c:numCache>
                <c:formatCode>0%</c:formatCode>
                <c:ptCount val="5"/>
                <c:pt idx="0">
                  <c:v>0.83</c:v>
                </c:pt>
                <c:pt idx="1">
                  <c:v>0.77</c:v>
                </c:pt>
                <c:pt idx="2">
                  <c:v>0.7</c:v>
                </c:pt>
                <c:pt idx="3">
                  <c:v>0.59</c:v>
                </c:pt>
                <c:pt idx="4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51-4291-B218-8F69EF5D0D8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Kielteinen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Sheet1!$A$9:$A$13</c:f>
              <c:strCache>
                <c:ptCount val="5"/>
                <c:pt idx="0">
                  <c:v>Kuvamateriaali</c:v>
                </c:pt>
                <c:pt idx="1">
                  <c:v>Musiikki / äänitehosteet</c:v>
                </c:pt>
                <c:pt idx="2">
                  <c:v>Tarinankerronta / dialogi</c:v>
                </c:pt>
                <c:pt idx="3">
                  <c:v>Tehtävät (questit)</c:v>
                </c:pt>
                <c:pt idx="4">
                  <c:v>Dynaaminenvaikeustason säätö</c:v>
                </c:pt>
              </c:strCache>
            </c:strRef>
          </c:cat>
          <c:val>
            <c:numRef>
              <c:f>Sheet1!$D$9:$D$13</c:f>
              <c:numCache>
                <c:formatCode>0%</c:formatCode>
                <c:ptCount val="5"/>
                <c:pt idx="0">
                  <c:v>0.08</c:v>
                </c:pt>
                <c:pt idx="1">
                  <c:v>0.11</c:v>
                </c:pt>
                <c:pt idx="2">
                  <c:v>0.13</c:v>
                </c:pt>
                <c:pt idx="3">
                  <c:v>0.18</c:v>
                </c:pt>
                <c:pt idx="4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E-4B55-8A17-728B9605E6A9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Neutraali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Sheet1!$A$9:$A$13</c:f>
              <c:strCache>
                <c:ptCount val="5"/>
                <c:pt idx="0">
                  <c:v>Kuvamateriaali</c:v>
                </c:pt>
                <c:pt idx="1">
                  <c:v>Musiikki / äänitehosteet</c:v>
                </c:pt>
                <c:pt idx="2">
                  <c:v>Tarinankerronta / dialogi</c:v>
                </c:pt>
                <c:pt idx="3">
                  <c:v>Tehtävät (questit)</c:v>
                </c:pt>
                <c:pt idx="4">
                  <c:v>Dynaaminenvaikeustason säätö</c:v>
                </c:pt>
              </c:strCache>
            </c:strRef>
          </c:cat>
          <c:val>
            <c:numRef>
              <c:f>Sheet1!$E$9:$E$13</c:f>
              <c:numCache>
                <c:formatCode>0%</c:formatCode>
                <c:ptCount val="5"/>
                <c:pt idx="0">
                  <c:v>0.04</c:v>
                </c:pt>
                <c:pt idx="1">
                  <c:v>0.06</c:v>
                </c:pt>
                <c:pt idx="2">
                  <c:v>0.06</c:v>
                </c:pt>
                <c:pt idx="3">
                  <c:v>0.09</c:v>
                </c:pt>
                <c:pt idx="4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7E-4B55-8A17-728B9605E6A9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Myönteinen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Sheet1!$A$9:$A$13</c:f>
              <c:strCache>
                <c:ptCount val="5"/>
                <c:pt idx="0">
                  <c:v>Kuvamateriaali</c:v>
                </c:pt>
                <c:pt idx="1">
                  <c:v>Musiikki / äänitehosteet</c:v>
                </c:pt>
                <c:pt idx="2">
                  <c:v>Tarinankerronta / dialogi</c:v>
                </c:pt>
                <c:pt idx="3">
                  <c:v>Tehtävät (questit)</c:v>
                </c:pt>
                <c:pt idx="4">
                  <c:v>Dynaaminenvaikeustason säätö</c:v>
                </c:pt>
              </c:strCache>
            </c:strRef>
          </c:cat>
          <c:val>
            <c:numRef>
              <c:f>Sheet1!$F$9:$F$13</c:f>
              <c:numCache>
                <c:formatCode>0%</c:formatCode>
                <c:ptCount val="5"/>
                <c:pt idx="0">
                  <c:v>0.02</c:v>
                </c:pt>
                <c:pt idx="1">
                  <c:v>0.03</c:v>
                </c:pt>
                <c:pt idx="2">
                  <c:v>7.0000000000000007E-2</c:v>
                </c:pt>
                <c:pt idx="3">
                  <c:v>7.0000000000000007E-2</c:v>
                </c:pt>
                <c:pt idx="4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7E-4B55-8A17-728B9605E6A9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Erittäin myönteinen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Sheet1!$A$9:$A$13</c:f>
              <c:strCache>
                <c:ptCount val="5"/>
                <c:pt idx="0">
                  <c:v>Kuvamateriaali</c:v>
                </c:pt>
                <c:pt idx="1">
                  <c:v>Musiikki / äänitehosteet</c:v>
                </c:pt>
                <c:pt idx="2">
                  <c:v>Tarinankerronta / dialogi</c:v>
                </c:pt>
                <c:pt idx="3">
                  <c:v>Tehtävät (questit)</c:v>
                </c:pt>
                <c:pt idx="4">
                  <c:v>Dynaaminenvaikeustason säätö</c:v>
                </c:pt>
              </c:strCache>
            </c:strRef>
          </c:cat>
          <c:val>
            <c:numRef>
              <c:f>Sheet1!$G$9:$G$13</c:f>
              <c:numCache>
                <c:formatCode>0%</c:formatCode>
                <c:ptCount val="5"/>
                <c:pt idx="0">
                  <c:v>0.01</c:v>
                </c:pt>
                <c:pt idx="1">
                  <c:v>0.01</c:v>
                </c:pt>
                <c:pt idx="2">
                  <c:v>0.03</c:v>
                </c:pt>
                <c:pt idx="3">
                  <c:v>0.03</c:v>
                </c:pt>
                <c:pt idx="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47E-4B55-8A17-728B9605E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100"/>
        <c:axId val="653549999"/>
        <c:axId val="903890495"/>
      </c:barChart>
      <c:catAx>
        <c:axId val="6535499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FI"/>
          </a:p>
        </c:txPr>
        <c:crossAx val="903890495"/>
        <c:crosses val="autoZero"/>
        <c:auto val="1"/>
        <c:lblAlgn val="ctr"/>
        <c:lblOffset val="100"/>
        <c:noMultiLvlLbl val="0"/>
      </c:catAx>
      <c:valAx>
        <c:axId val="9038904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53549999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Samaa mieltä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Sheet1!$A$2:$A$28</c:f>
              <c:strCache>
                <c:ptCount val="27"/>
                <c:pt idx="0">
                  <c:v>Kiina</c:v>
                </c:pt>
                <c:pt idx="1">
                  <c:v>Intia</c:v>
                </c:pt>
                <c:pt idx="2">
                  <c:v>Indonesia</c:v>
                </c:pt>
                <c:pt idx="3">
                  <c:v>Thaimaa</c:v>
                </c:pt>
                <c:pt idx="4">
                  <c:v>Peru</c:v>
                </c:pt>
                <c:pt idx="5">
                  <c:v>Malesia</c:v>
                </c:pt>
                <c:pt idx="6">
                  <c:v>Singapore</c:v>
                </c:pt>
                <c:pt idx="7">
                  <c:v>Etelä-Korea</c:v>
                </c:pt>
                <c:pt idx="8">
                  <c:v>Meksiko</c:v>
                </c:pt>
                <c:pt idx="9">
                  <c:v>Kolumbia</c:v>
                </c:pt>
                <c:pt idx="10">
                  <c:v>Chile</c:v>
                </c:pt>
                <c:pt idx="11">
                  <c:v>Argentiina</c:v>
                </c:pt>
                <c:pt idx="12">
                  <c:v>Brasilia</c:v>
                </c:pt>
                <c:pt idx="13">
                  <c:v>Espanja</c:v>
                </c:pt>
                <c:pt idx="14">
                  <c:v>Italia</c:v>
                </c:pt>
                <c:pt idx="15">
                  <c:v>Japani</c:v>
                </c:pt>
                <c:pt idx="16">
                  <c:v>Unkari</c:v>
                </c:pt>
                <c:pt idx="17">
                  <c:v>Irlanti</c:v>
                </c:pt>
                <c:pt idx="18">
                  <c:v>Puola</c:v>
                </c:pt>
                <c:pt idx="19">
                  <c:v>Ruotsi</c:v>
                </c:pt>
                <c:pt idx="20">
                  <c:v>Belgia</c:v>
                </c:pt>
                <c:pt idx="21">
                  <c:v>Iso-Britannia</c:v>
                </c:pt>
                <c:pt idx="22">
                  <c:v>Ranska</c:v>
                </c:pt>
                <c:pt idx="23">
                  <c:v>Yhdysvallat</c:v>
                </c:pt>
                <c:pt idx="24">
                  <c:v>Alankomaat</c:v>
                </c:pt>
                <c:pt idx="25">
                  <c:v>Saksa</c:v>
                </c:pt>
                <c:pt idx="26">
                  <c:v>Kanada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85</c:v>
                </c:pt>
                <c:pt idx="1">
                  <c:v>80</c:v>
                </c:pt>
                <c:pt idx="2">
                  <c:v>77</c:v>
                </c:pt>
                <c:pt idx="3">
                  <c:v>74</c:v>
                </c:pt>
                <c:pt idx="4">
                  <c:v>71</c:v>
                </c:pt>
                <c:pt idx="5">
                  <c:v>70</c:v>
                </c:pt>
                <c:pt idx="6">
                  <c:v>68</c:v>
                </c:pt>
                <c:pt idx="7">
                  <c:v>67</c:v>
                </c:pt>
                <c:pt idx="8">
                  <c:v>66</c:v>
                </c:pt>
                <c:pt idx="9">
                  <c:v>63</c:v>
                </c:pt>
                <c:pt idx="10">
                  <c:v>60</c:v>
                </c:pt>
                <c:pt idx="11">
                  <c:v>56</c:v>
                </c:pt>
                <c:pt idx="12">
                  <c:v>56</c:v>
                </c:pt>
                <c:pt idx="13">
                  <c:v>54</c:v>
                </c:pt>
                <c:pt idx="14">
                  <c:v>53</c:v>
                </c:pt>
                <c:pt idx="15">
                  <c:v>50</c:v>
                </c:pt>
                <c:pt idx="16">
                  <c:v>50</c:v>
                </c:pt>
                <c:pt idx="17">
                  <c:v>47</c:v>
                </c:pt>
                <c:pt idx="18">
                  <c:v>47</c:v>
                </c:pt>
                <c:pt idx="19">
                  <c:v>47</c:v>
                </c:pt>
                <c:pt idx="20">
                  <c:v>41</c:v>
                </c:pt>
                <c:pt idx="21">
                  <c:v>38</c:v>
                </c:pt>
                <c:pt idx="22">
                  <c:v>38</c:v>
                </c:pt>
                <c:pt idx="23">
                  <c:v>38</c:v>
                </c:pt>
                <c:pt idx="24">
                  <c:v>38</c:v>
                </c:pt>
                <c:pt idx="25">
                  <c:v>37</c:v>
                </c:pt>
                <c:pt idx="26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E-446D-B400-85BF11033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axId val="653549999"/>
        <c:axId val="903890495"/>
      </c:barChart>
      <c:catAx>
        <c:axId val="653549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FI"/>
          </a:p>
        </c:txPr>
        <c:crossAx val="903890495"/>
        <c:crosses val="autoZero"/>
        <c:auto val="1"/>
        <c:lblAlgn val="ctr"/>
        <c:lblOffset val="100"/>
        <c:noMultiLvlLbl val="0"/>
      </c:catAx>
      <c:valAx>
        <c:axId val="903890495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53549999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Samaa mieltä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017-422F-9029-C3CD3EC135D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017-422F-9029-C3CD3EC135D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017-422F-9029-C3CD3EC135D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17-422F-9029-C3CD3EC135DA}"/>
              </c:ext>
            </c:extLst>
          </c:dPt>
          <c:dPt>
            <c:idx val="4"/>
            <c:invertIfNegative val="0"/>
            <c:bubble3D val="0"/>
            <c:spPr>
              <a:solidFill>
                <a:srgbClr val="69A4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A017-422F-9029-C3CD3EC135D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017-422F-9029-C3CD3EC135DA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17-422F-9029-C3CD3EC135DA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A017-422F-9029-C3CD3EC135DA}"/>
              </c:ext>
            </c:extLst>
          </c:dPt>
          <c:dPt>
            <c:idx val="8"/>
            <c:invertIfNegative val="0"/>
            <c:bubble3D val="0"/>
            <c:spPr>
              <a:solidFill>
                <a:srgbClr val="69A4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017-422F-9029-C3CD3EC135DA}"/>
              </c:ext>
            </c:extLst>
          </c:dPt>
          <c:dPt>
            <c:idx val="9"/>
            <c:invertIfNegative val="0"/>
            <c:bubble3D val="0"/>
            <c:spPr>
              <a:solidFill>
                <a:srgbClr val="69A4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A017-422F-9029-C3CD3EC135DA}"/>
              </c:ext>
            </c:extLst>
          </c:dPt>
          <c:dPt>
            <c:idx val="10"/>
            <c:invertIfNegative val="0"/>
            <c:bubble3D val="0"/>
            <c:spPr>
              <a:solidFill>
                <a:srgbClr val="69A4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017-422F-9029-C3CD3EC135DA}"/>
              </c:ext>
            </c:extLst>
          </c:dPt>
          <c:dPt>
            <c:idx val="11"/>
            <c:invertIfNegative val="0"/>
            <c:bubble3D val="0"/>
            <c:spPr>
              <a:solidFill>
                <a:srgbClr val="69A4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A017-422F-9029-C3CD3EC135DA}"/>
              </c:ext>
            </c:extLst>
          </c:dPt>
          <c:dPt>
            <c:idx val="12"/>
            <c:invertIfNegative val="0"/>
            <c:bubble3D val="0"/>
            <c:spPr>
              <a:solidFill>
                <a:srgbClr val="69A4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017-422F-9029-C3CD3EC135DA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017-422F-9029-C3CD3EC135DA}"/>
              </c:ext>
            </c:extLst>
          </c:dPt>
          <c:dPt>
            <c:idx val="2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017-422F-9029-C3CD3EC135DA}"/>
              </c:ext>
            </c:extLst>
          </c:dPt>
          <c:dPt>
            <c:idx val="2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A017-422F-9029-C3CD3EC135D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Sheet1!$A$2:$A$28</c:f>
              <c:strCache>
                <c:ptCount val="27"/>
                <c:pt idx="0">
                  <c:v>Kiina</c:v>
                </c:pt>
                <c:pt idx="1">
                  <c:v>Intia</c:v>
                </c:pt>
                <c:pt idx="2">
                  <c:v>Indonesia</c:v>
                </c:pt>
                <c:pt idx="3">
                  <c:v>Thaimaa</c:v>
                </c:pt>
                <c:pt idx="4">
                  <c:v>Peru</c:v>
                </c:pt>
                <c:pt idx="5">
                  <c:v>Malesia</c:v>
                </c:pt>
                <c:pt idx="6">
                  <c:v>Singapore</c:v>
                </c:pt>
                <c:pt idx="7">
                  <c:v>Etelä-Korea</c:v>
                </c:pt>
                <c:pt idx="8">
                  <c:v>Meksiko</c:v>
                </c:pt>
                <c:pt idx="9">
                  <c:v>Kolumbia</c:v>
                </c:pt>
                <c:pt idx="10">
                  <c:v>Chile</c:v>
                </c:pt>
                <c:pt idx="11">
                  <c:v>Argentiina</c:v>
                </c:pt>
                <c:pt idx="12">
                  <c:v>Brasilia</c:v>
                </c:pt>
                <c:pt idx="13">
                  <c:v>Espanja</c:v>
                </c:pt>
                <c:pt idx="14">
                  <c:v>Italia</c:v>
                </c:pt>
                <c:pt idx="15">
                  <c:v>Japani</c:v>
                </c:pt>
                <c:pt idx="16">
                  <c:v>Unkari</c:v>
                </c:pt>
                <c:pt idx="17">
                  <c:v>Irlanti</c:v>
                </c:pt>
                <c:pt idx="18">
                  <c:v>Puola</c:v>
                </c:pt>
                <c:pt idx="19">
                  <c:v>Ruotsi</c:v>
                </c:pt>
                <c:pt idx="20">
                  <c:v>Belgia</c:v>
                </c:pt>
                <c:pt idx="21">
                  <c:v>Iso-Britannia</c:v>
                </c:pt>
                <c:pt idx="22">
                  <c:v>Ranska</c:v>
                </c:pt>
                <c:pt idx="23">
                  <c:v>Yhdysvallat</c:v>
                </c:pt>
                <c:pt idx="24">
                  <c:v>Alankomaat</c:v>
                </c:pt>
                <c:pt idx="25">
                  <c:v>Saksa</c:v>
                </c:pt>
                <c:pt idx="26">
                  <c:v>Kanada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85</c:v>
                </c:pt>
                <c:pt idx="1">
                  <c:v>80</c:v>
                </c:pt>
                <c:pt idx="2">
                  <c:v>77</c:v>
                </c:pt>
                <c:pt idx="3">
                  <c:v>74</c:v>
                </c:pt>
                <c:pt idx="4">
                  <c:v>71</c:v>
                </c:pt>
                <c:pt idx="5">
                  <c:v>70</c:v>
                </c:pt>
                <c:pt idx="6">
                  <c:v>68</c:v>
                </c:pt>
                <c:pt idx="7">
                  <c:v>67</c:v>
                </c:pt>
                <c:pt idx="8">
                  <c:v>66</c:v>
                </c:pt>
                <c:pt idx="9">
                  <c:v>63</c:v>
                </c:pt>
                <c:pt idx="10">
                  <c:v>60</c:v>
                </c:pt>
                <c:pt idx="11">
                  <c:v>56</c:v>
                </c:pt>
                <c:pt idx="12">
                  <c:v>56</c:v>
                </c:pt>
                <c:pt idx="13">
                  <c:v>54</c:v>
                </c:pt>
                <c:pt idx="14">
                  <c:v>53</c:v>
                </c:pt>
                <c:pt idx="15">
                  <c:v>50</c:v>
                </c:pt>
                <c:pt idx="16">
                  <c:v>50</c:v>
                </c:pt>
                <c:pt idx="17">
                  <c:v>47</c:v>
                </c:pt>
                <c:pt idx="18">
                  <c:v>47</c:v>
                </c:pt>
                <c:pt idx="19">
                  <c:v>47</c:v>
                </c:pt>
                <c:pt idx="20">
                  <c:v>41</c:v>
                </c:pt>
                <c:pt idx="21">
                  <c:v>38</c:v>
                </c:pt>
                <c:pt idx="22">
                  <c:v>38</c:v>
                </c:pt>
                <c:pt idx="23">
                  <c:v>38</c:v>
                </c:pt>
                <c:pt idx="24">
                  <c:v>38</c:v>
                </c:pt>
                <c:pt idx="25">
                  <c:v>37</c:v>
                </c:pt>
                <c:pt idx="26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E-446D-B400-85BF11033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axId val="653549999"/>
        <c:axId val="903890495"/>
      </c:barChart>
      <c:catAx>
        <c:axId val="653549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FI"/>
          </a:p>
        </c:txPr>
        <c:crossAx val="903890495"/>
        <c:crosses val="autoZero"/>
        <c:auto val="1"/>
        <c:lblAlgn val="ctr"/>
        <c:lblOffset val="100"/>
        <c:noMultiLvlLbl val="0"/>
      </c:catAx>
      <c:valAx>
        <c:axId val="903890495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653549999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Interpoloitu yhteys</c:v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'Minecraft - käyrä'!$A$2:$A$242</c:f>
              <c:numCache>
                <c:formatCode>mmm\ yyyy</c:formatCode>
                <c:ptCount val="241"/>
                <c:pt idx="0">
                  <c:v>39814</c:v>
                </c:pt>
                <c:pt idx="1">
                  <c:v>39878.916666666657</c:v>
                </c:pt>
                <c:pt idx="2">
                  <c:v>39943.833333333343</c:v>
                </c:pt>
                <c:pt idx="3">
                  <c:v>40008.75</c:v>
                </c:pt>
                <c:pt idx="4">
                  <c:v>40073.666666666657</c:v>
                </c:pt>
                <c:pt idx="5">
                  <c:v>40138.583333333343</c:v>
                </c:pt>
                <c:pt idx="6">
                  <c:v>40203.5</c:v>
                </c:pt>
                <c:pt idx="7">
                  <c:v>40268.416666666657</c:v>
                </c:pt>
                <c:pt idx="8">
                  <c:v>40333.333333333343</c:v>
                </c:pt>
                <c:pt idx="9">
                  <c:v>40398.25</c:v>
                </c:pt>
                <c:pt idx="10">
                  <c:v>40463.166666666657</c:v>
                </c:pt>
                <c:pt idx="11">
                  <c:v>40528.083333333343</c:v>
                </c:pt>
                <c:pt idx="12">
                  <c:v>40593</c:v>
                </c:pt>
                <c:pt idx="13">
                  <c:v>40657.916666666657</c:v>
                </c:pt>
                <c:pt idx="14">
                  <c:v>40722.833333333343</c:v>
                </c:pt>
                <c:pt idx="15">
                  <c:v>40787.75</c:v>
                </c:pt>
                <c:pt idx="16">
                  <c:v>40852.666666666657</c:v>
                </c:pt>
                <c:pt idx="17">
                  <c:v>40917.583333333343</c:v>
                </c:pt>
                <c:pt idx="18">
                  <c:v>40982.5</c:v>
                </c:pt>
                <c:pt idx="19">
                  <c:v>41047.416666666657</c:v>
                </c:pt>
                <c:pt idx="20">
                  <c:v>41112.333333333343</c:v>
                </c:pt>
                <c:pt idx="21">
                  <c:v>41177.25</c:v>
                </c:pt>
                <c:pt idx="22">
                  <c:v>41242.166666666657</c:v>
                </c:pt>
                <c:pt idx="23">
                  <c:v>41307.083333333343</c:v>
                </c:pt>
                <c:pt idx="24">
                  <c:v>41372</c:v>
                </c:pt>
                <c:pt idx="25">
                  <c:v>41436.916666666657</c:v>
                </c:pt>
                <c:pt idx="26">
                  <c:v>41501.833333333343</c:v>
                </c:pt>
                <c:pt idx="27">
                  <c:v>41566.75</c:v>
                </c:pt>
                <c:pt idx="28">
                  <c:v>41631.666666666657</c:v>
                </c:pt>
                <c:pt idx="29">
                  <c:v>41696.583333333343</c:v>
                </c:pt>
                <c:pt idx="30">
                  <c:v>41761.5</c:v>
                </c:pt>
                <c:pt idx="31">
                  <c:v>41826.416666666657</c:v>
                </c:pt>
                <c:pt idx="32">
                  <c:v>41891.333333333343</c:v>
                </c:pt>
                <c:pt idx="33">
                  <c:v>41956.25</c:v>
                </c:pt>
                <c:pt idx="34">
                  <c:v>42021.166666666657</c:v>
                </c:pt>
                <c:pt idx="35">
                  <c:v>42086.083333333343</c:v>
                </c:pt>
                <c:pt idx="36">
                  <c:v>42151</c:v>
                </c:pt>
                <c:pt idx="37">
                  <c:v>42215.916666666657</c:v>
                </c:pt>
                <c:pt idx="38">
                  <c:v>42280.833333333343</c:v>
                </c:pt>
                <c:pt idx="39">
                  <c:v>42345.75</c:v>
                </c:pt>
                <c:pt idx="40">
                  <c:v>42410.666666666657</c:v>
                </c:pt>
                <c:pt idx="41">
                  <c:v>42475.583333333343</c:v>
                </c:pt>
                <c:pt idx="42">
                  <c:v>42540.5</c:v>
                </c:pt>
                <c:pt idx="43">
                  <c:v>42605.416666666657</c:v>
                </c:pt>
                <c:pt idx="44">
                  <c:v>42670.333333333343</c:v>
                </c:pt>
                <c:pt idx="45">
                  <c:v>42735.25</c:v>
                </c:pt>
                <c:pt idx="46">
                  <c:v>42800.166666666657</c:v>
                </c:pt>
                <c:pt idx="47">
                  <c:v>42865.083333333343</c:v>
                </c:pt>
                <c:pt idx="48">
                  <c:v>42930</c:v>
                </c:pt>
                <c:pt idx="49">
                  <c:v>42994.916666666657</c:v>
                </c:pt>
                <c:pt idx="50">
                  <c:v>43059.833333333343</c:v>
                </c:pt>
                <c:pt idx="51">
                  <c:v>43124.75</c:v>
                </c:pt>
                <c:pt idx="52">
                  <c:v>43189.666666666657</c:v>
                </c:pt>
                <c:pt idx="53">
                  <c:v>43254.583333333343</c:v>
                </c:pt>
                <c:pt idx="54">
                  <c:v>43319.5</c:v>
                </c:pt>
                <c:pt idx="55">
                  <c:v>43384.416666666657</c:v>
                </c:pt>
                <c:pt idx="56">
                  <c:v>43449.333333333343</c:v>
                </c:pt>
                <c:pt idx="57">
                  <c:v>43514.25</c:v>
                </c:pt>
                <c:pt idx="58">
                  <c:v>43579.166666666657</c:v>
                </c:pt>
                <c:pt idx="59">
                  <c:v>43644.083333333343</c:v>
                </c:pt>
                <c:pt idx="60">
                  <c:v>43709</c:v>
                </c:pt>
                <c:pt idx="61">
                  <c:v>43724.2</c:v>
                </c:pt>
                <c:pt idx="62">
                  <c:v>43739.4</c:v>
                </c:pt>
                <c:pt idx="63">
                  <c:v>43754.6</c:v>
                </c:pt>
                <c:pt idx="64">
                  <c:v>43769.8</c:v>
                </c:pt>
                <c:pt idx="65">
                  <c:v>43785</c:v>
                </c:pt>
                <c:pt idx="66">
                  <c:v>43800.2</c:v>
                </c:pt>
                <c:pt idx="67">
                  <c:v>43815.4</c:v>
                </c:pt>
                <c:pt idx="68">
                  <c:v>43830.6</c:v>
                </c:pt>
                <c:pt idx="69">
                  <c:v>43845.8</c:v>
                </c:pt>
                <c:pt idx="70">
                  <c:v>43861</c:v>
                </c:pt>
                <c:pt idx="71">
                  <c:v>43876.2</c:v>
                </c:pt>
                <c:pt idx="72">
                  <c:v>43891.4</c:v>
                </c:pt>
                <c:pt idx="73">
                  <c:v>43906.6</c:v>
                </c:pt>
                <c:pt idx="74">
                  <c:v>43921.8</c:v>
                </c:pt>
                <c:pt idx="75">
                  <c:v>43937</c:v>
                </c:pt>
                <c:pt idx="76">
                  <c:v>43952.2</c:v>
                </c:pt>
                <c:pt idx="77">
                  <c:v>43967.4</c:v>
                </c:pt>
                <c:pt idx="78">
                  <c:v>43982.6</c:v>
                </c:pt>
                <c:pt idx="79">
                  <c:v>43997.8</c:v>
                </c:pt>
                <c:pt idx="80">
                  <c:v>44013</c:v>
                </c:pt>
                <c:pt idx="81">
                  <c:v>44028.2</c:v>
                </c:pt>
                <c:pt idx="82">
                  <c:v>44043.4</c:v>
                </c:pt>
                <c:pt idx="83">
                  <c:v>44058.6</c:v>
                </c:pt>
                <c:pt idx="84">
                  <c:v>44073.8</c:v>
                </c:pt>
                <c:pt idx="85">
                  <c:v>44089</c:v>
                </c:pt>
                <c:pt idx="86">
                  <c:v>44104.2</c:v>
                </c:pt>
                <c:pt idx="87">
                  <c:v>44119.4</c:v>
                </c:pt>
                <c:pt idx="88">
                  <c:v>44134.6</c:v>
                </c:pt>
                <c:pt idx="89">
                  <c:v>44149.8</c:v>
                </c:pt>
                <c:pt idx="90">
                  <c:v>44165</c:v>
                </c:pt>
                <c:pt idx="91">
                  <c:v>44180.2</c:v>
                </c:pt>
                <c:pt idx="92">
                  <c:v>44195.4</c:v>
                </c:pt>
                <c:pt idx="93">
                  <c:v>44210.6</c:v>
                </c:pt>
                <c:pt idx="94">
                  <c:v>44225.8</c:v>
                </c:pt>
                <c:pt idx="95">
                  <c:v>44241</c:v>
                </c:pt>
                <c:pt idx="96">
                  <c:v>44256.2</c:v>
                </c:pt>
                <c:pt idx="97">
                  <c:v>44271.4</c:v>
                </c:pt>
                <c:pt idx="98">
                  <c:v>44286.6</c:v>
                </c:pt>
                <c:pt idx="99">
                  <c:v>44301.8</c:v>
                </c:pt>
                <c:pt idx="100">
                  <c:v>44317</c:v>
                </c:pt>
                <c:pt idx="101">
                  <c:v>44332.2</c:v>
                </c:pt>
                <c:pt idx="102">
                  <c:v>44347.4</c:v>
                </c:pt>
                <c:pt idx="103">
                  <c:v>44362.6</c:v>
                </c:pt>
                <c:pt idx="104">
                  <c:v>44377.8</c:v>
                </c:pt>
                <c:pt idx="105">
                  <c:v>44393</c:v>
                </c:pt>
                <c:pt idx="106">
                  <c:v>44408.2</c:v>
                </c:pt>
                <c:pt idx="107">
                  <c:v>44423.4</c:v>
                </c:pt>
                <c:pt idx="108">
                  <c:v>44438.6</c:v>
                </c:pt>
                <c:pt idx="109">
                  <c:v>44453.8</c:v>
                </c:pt>
                <c:pt idx="110">
                  <c:v>44469</c:v>
                </c:pt>
                <c:pt idx="111">
                  <c:v>44484.2</c:v>
                </c:pt>
                <c:pt idx="112">
                  <c:v>44499.4</c:v>
                </c:pt>
                <c:pt idx="113">
                  <c:v>44514.6</c:v>
                </c:pt>
                <c:pt idx="114">
                  <c:v>44529.8</c:v>
                </c:pt>
                <c:pt idx="115">
                  <c:v>44545</c:v>
                </c:pt>
                <c:pt idx="116">
                  <c:v>44560.2</c:v>
                </c:pt>
                <c:pt idx="117">
                  <c:v>44575.4</c:v>
                </c:pt>
                <c:pt idx="118">
                  <c:v>44590.6</c:v>
                </c:pt>
                <c:pt idx="119">
                  <c:v>44605.8</c:v>
                </c:pt>
                <c:pt idx="120">
                  <c:v>44621</c:v>
                </c:pt>
                <c:pt idx="121">
                  <c:v>44638.8</c:v>
                </c:pt>
                <c:pt idx="122">
                  <c:v>44656.6</c:v>
                </c:pt>
                <c:pt idx="123">
                  <c:v>44674.400000000001</c:v>
                </c:pt>
                <c:pt idx="124">
                  <c:v>44692.2</c:v>
                </c:pt>
                <c:pt idx="125">
                  <c:v>44710</c:v>
                </c:pt>
                <c:pt idx="126">
                  <c:v>44727.8</c:v>
                </c:pt>
                <c:pt idx="127">
                  <c:v>44745.599999999999</c:v>
                </c:pt>
                <c:pt idx="128">
                  <c:v>44763.4</c:v>
                </c:pt>
                <c:pt idx="129">
                  <c:v>44781.2</c:v>
                </c:pt>
                <c:pt idx="130">
                  <c:v>44799</c:v>
                </c:pt>
                <c:pt idx="131">
                  <c:v>44816.800000000003</c:v>
                </c:pt>
                <c:pt idx="132">
                  <c:v>44834.6</c:v>
                </c:pt>
                <c:pt idx="133">
                  <c:v>44852.4</c:v>
                </c:pt>
                <c:pt idx="134">
                  <c:v>44870.2</c:v>
                </c:pt>
                <c:pt idx="135">
                  <c:v>44888</c:v>
                </c:pt>
                <c:pt idx="136">
                  <c:v>44905.8</c:v>
                </c:pt>
                <c:pt idx="137">
                  <c:v>44923.6</c:v>
                </c:pt>
                <c:pt idx="138">
                  <c:v>44941.4</c:v>
                </c:pt>
                <c:pt idx="139">
                  <c:v>44959.199999999997</c:v>
                </c:pt>
                <c:pt idx="140">
                  <c:v>44977</c:v>
                </c:pt>
                <c:pt idx="141">
                  <c:v>44994.8</c:v>
                </c:pt>
                <c:pt idx="142">
                  <c:v>45012.6</c:v>
                </c:pt>
                <c:pt idx="143">
                  <c:v>45030.400000000001</c:v>
                </c:pt>
                <c:pt idx="144">
                  <c:v>45048.2</c:v>
                </c:pt>
                <c:pt idx="145">
                  <c:v>45066</c:v>
                </c:pt>
                <c:pt idx="146">
                  <c:v>45083.8</c:v>
                </c:pt>
                <c:pt idx="147">
                  <c:v>45101.599999999999</c:v>
                </c:pt>
                <c:pt idx="148">
                  <c:v>45119.4</c:v>
                </c:pt>
                <c:pt idx="149">
                  <c:v>45137.2</c:v>
                </c:pt>
                <c:pt idx="150">
                  <c:v>45155</c:v>
                </c:pt>
                <c:pt idx="151">
                  <c:v>45172.800000000003</c:v>
                </c:pt>
                <c:pt idx="152">
                  <c:v>45190.6</c:v>
                </c:pt>
                <c:pt idx="153">
                  <c:v>45208.4</c:v>
                </c:pt>
                <c:pt idx="154">
                  <c:v>45226.2</c:v>
                </c:pt>
                <c:pt idx="155">
                  <c:v>45244</c:v>
                </c:pt>
                <c:pt idx="156">
                  <c:v>45261.8</c:v>
                </c:pt>
                <c:pt idx="157">
                  <c:v>45279.6</c:v>
                </c:pt>
                <c:pt idx="158">
                  <c:v>45297.4</c:v>
                </c:pt>
                <c:pt idx="159">
                  <c:v>45315.199999999997</c:v>
                </c:pt>
                <c:pt idx="160">
                  <c:v>45333</c:v>
                </c:pt>
                <c:pt idx="161">
                  <c:v>45350.8</c:v>
                </c:pt>
                <c:pt idx="162">
                  <c:v>45368.6</c:v>
                </c:pt>
                <c:pt idx="163">
                  <c:v>45386.400000000001</c:v>
                </c:pt>
                <c:pt idx="164">
                  <c:v>45404.2</c:v>
                </c:pt>
                <c:pt idx="165">
                  <c:v>45422</c:v>
                </c:pt>
                <c:pt idx="166">
                  <c:v>45439.8</c:v>
                </c:pt>
                <c:pt idx="167">
                  <c:v>45457.599999999999</c:v>
                </c:pt>
                <c:pt idx="168">
                  <c:v>45475.4</c:v>
                </c:pt>
                <c:pt idx="169">
                  <c:v>45493.2</c:v>
                </c:pt>
                <c:pt idx="170">
                  <c:v>45511</c:v>
                </c:pt>
                <c:pt idx="171">
                  <c:v>45528.800000000003</c:v>
                </c:pt>
                <c:pt idx="172">
                  <c:v>45546.6</c:v>
                </c:pt>
                <c:pt idx="173">
                  <c:v>45564.4</c:v>
                </c:pt>
                <c:pt idx="174">
                  <c:v>45582.2</c:v>
                </c:pt>
                <c:pt idx="175">
                  <c:v>45600</c:v>
                </c:pt>
                <c:pt idx="176">
                  <c:v>45617.8</c:v>
                </c:pt>
                <c:pt idx="177">
                  <c:v>45635.6</c:v>
                </c:pt>
                <c:pt idx="178">
                  <c:v>45653.4</c:v>
                </c:pt>
                <c:pt idx="179">
                  <c:v>45671.199999999997</c:v>
                </c:pt>
                <c:pt idx="180">
                  <c:v>45689</c:v>
                </c:pt>
                <c:pt idx="181">
                  <c:v>45698.1</c:v>
                </c:pt>
                <c:pt idx="182">
                  <c:v>45707.199999999997</c:v>
                </c:pt>
                <c:pt idx="183">
                  <c:v>45716.3</c:v>
                </c:pt>
                <c:pt idx="184">
                  <c:v>45725.4</c:v>
                </c:pt>
                <c:pt idx="185">
                  <c:v>45734.5</c:v>
                </c:pt>
                <c:pt idx="186">
                  <c:v>45743.6</c:v>
                </c:pt>
                <c:pt idx="187">
                  <c:v>45752.7</c:v>
                </c:pt>
                <c:pt idx="188">
                  <c:v>45761.8</c:v>
                </c:pt>
                <c:pt idx="189">
                  <c:v>45770.9</c:v>
                </c:pt>
                <c:pt idx="190">
                  <c:v>45780</c:v>
                </c:pt>
                <c:pt idx="191">
                  <c:v>45789.1</c:v>
                </c:pt>
                <c:pt idx="192">
                  <c:v>45798.2</c:v>
                </c:pt>
                <c:pt idx="193">
                  <c:v>45807.3</c:v>
                </c:pt>
                <c:pt idx="194">
                  <c:v>45816.4</c:v>
                </c:pt>
                <c:pt idx="195">
                  <c:v>45825.5</c:v>
                </c:pt>
                <c:pt idx="196">
                  <c:v>45834.6</c:v>
                </c:pt>
                <c:pt idx="197">
                  <c:v>45843.7</c:v>
                </c:pt>
                <c:pt idx="198">
                  <c:v>45852.800000000003</c:v>
                </c:pt>
                <c:pt idx="199">
                  <c:v>45861.9</c:v>
                </c:pt>
                <c:pt idx="200">
                  <c:v>45871</c:v>
                </c:pt>
                <c:pt idx="201">
                  <c:v>45880.1</c:v>
                </c:pt>
                <c:pt idx="202">
                  <c:v>45889.2</c:v>
                </c:pt>
                <c:pt idx="203">
                  <c:v>45898.3</c:v>
                </c:pt>
                <c:pt idx="204">
                  <c:v>45907.4</c:v>
                </c:pt>
                <c:pt idx="205">
                  <c:v>45916.5</c:v>
                </c:pt>
                <c:pt idx="206">
                  <c:v>45925.599999999999</c:v>
                </c:pt>
                <c:pt idx="207">
                  <c:v>45934.7</c:v>
                </c:pt>
                <c:pt idx="208">
                  <c:v>45943.8</c:v>
                </c:pt>
                <c:pt idx="209">
                  <c:v>45952.9</c:v>
                </c:pt>
                <c:pt idx="210">
                  <c:v>45962</c:v>
                </c:pt>
                <c:pt idx="211">
                  <c:v>45971.1</c:v>
                </c:pt>
                <c:pt idx="212">
                  <c:v>45980.2</c:v>
                </c:pt>
                <c:pt idx="213">
                  <c:v>45989.3</c:v>
                </c:pt>
                <c:pt idx="214">
                  <c:v>45998.400000000001</c:v>
                </c:pt>
                <c:pt idx="215">
                  <c:v>46007.5</c:v>
                </c:pt>
                <c:pt idx="216">
                  <c:v>46016.6</c:v>
                </c:pt>
                <c:pt idx="217">
                  <c:v>46025.7</c:v>
                </c:pt>
                <c:pt idx="218">
                  <c:v>46034.8</c:v>
                </c:pt>
                <c:pt idx="219">
                  <c:v>46043.9</c:v>
                </c:pt>
                <c:pt idx="220">
                  <c:v>46053</c:v>
                </c:pt>
                <c:pt idx="221">
                  <c:v>46062.1</c:v>
                </c:pt>
                <c:pt idx="222">
                  <c:v>46071.199999999997</c:v>
                </c:pt>
                <c:pt idx="223">
                  <c:v>46080.3</c:v>
                </c:pt>
                <c:pt idx="224">
                  <c:v>46089.4</c:v>
                </c:pt>
                <c:pt idx="225">
                  <c:v>46098.5</c:v>
                </c:pt>
                <c:pt idx="226">
                  <c:v>46107.6</c:v>
                </c:pt>
                <c:pt idx="227">
                  <c:v>46116.7</c:v>
                </c:pt>
                <c:pt idx="228">
                  <c:v>46125.8</c:v>
                </c:pt>
                <c:pt idx="229">
                  <c:v>46134.9</c:v>
                </c:pt>
                <c:pt idx="230">
                  <c:v>46144</c:v>
                </c:pt>
                <c:pt idx="231">
                  <c:v>46153.1</c:v>
                </c:pt>
                <c:pt idx="232">
                  <c:v>46162.2</c:v>
                </c:pt>
                <c:pt idx="233">
                  <c:v>46171.3</c:v>
                </c:pt>
                <c:pt idx="234">
                  <c:v>46180.4</c:v>
                </c:pt>
                <c:pt idx="235">
                  <c:v>46189.5</c:v>
                </c:pt>
                <c:pt idx="236">
                  <c:v>46198.6</c:v>
                </c:pt>
                <c:pt idx="237">
                  <c:v>46207.7</c:v>
                </c:pt>
                <c:pt idx="238">
                  <c:v>46216.800000000003</c:v>
                </c:pt>
                <c:pt idx="239">
                  <c:v>46225.9</c:v>
                </c:pt>
                <c:pt idx="240">
                  <c:v>46235</c:v>
                </c:pt>
              </c:numCache>
            </c:numRef>
          </c:xVal>
          <c:yVal>
            <c:numRef>
              <c:f>'Minecraft - käyrä'!$B$2:$B$242</c:f>
              <c:numCache>
                <c:formatCode>#,##0</c:formatCode>
                <c:ptCount val="241"/>
                <c:pt idx="0">
                  <c:v>0</c:v>
                </c:pt>
                <c:pt idx="1">
                  <c:v>821.6071412363226</c:v>
                </c:pt>
                <c:pt idx="2">
                  <c:v>1620.5568943529979</c:v>
                </c:pt>
                <c:pt idx="3">
                  <c:v>2398.0417534615849</c:v>
                </c:pt>
                <c:pt idx="4">
                  <c:v>3155.2542126736462</c:v>
                </c:pt>
                <c:pt idx="5">
                  <c:v>3893.3867661007412</c:v>
                </c:pt>
                <c:pt idx="6">
                  <c:v>4613.6319078544293</c:v>
                </c:pt>
                <c:pt idx="7">
                  <c:v>5317.1821320462723</c:v>
                </c:pt>
                <c:pt idx="8">
                  <c:v>6005.2299327878318</c:v>
                </c:pt>
                <c:pt idx="9">
                  <c:v>6678.9678041906627</c:v>
                </c:pt>
                <c:pt idx="10">
                  <c:v>7339.5882403663318</c:v>
                </c:pt>
                <c:pt idx="11">
                  <c:v>7988.2837354263938</c:v>
                </c:pt>
                <c:pt idx="12">
                  <c:v>8626.2467834824165</c:v>
                </c:pt>
                <c:pt idx="13">
                  <c:v>9254.6698786459528</c:v>
                </c:pt>
                <c:pt idx="14">
                  <c:v>9874.7455150285696</c:v>
                </c:pt>
                <c:pt idx="15">
                  <c:v>10487.666186741821</c:v>
                </c:pt>
                <c:pt idx="16">
                  <c:v>11094.624387897269</c:v>
                </c:pt>
                <c:pt idx="17">
                  <c:v>11696.81261260648</c:v>
                </c:pt>
                <c:pt idx="18">
                  <c:v>12295.423354981011</c:v>
                </c:pt>
                <c:pt idx="19">
                  <c:v>12891.64910913241</c:v>
                </c:pt>
                <c:pt idx="20">
                  <c:v>13486.68236917226</c:v>
                </c:pt>
                <c:pt idx="21">
                  <c:v>14081.7156292121</c:v>
                </c:pt>
                <c:pt idx="22">
                  <c:v>14677.94138336351</c:v>
                </c:pt>
                <c:pt idx="23">
                  <c:v>15276.552125738041</c:v>
                </c:pt>
                <c:pt idx="24">
                  <c:v>15878.74035044725</c:v>
                </c:pt>
                <c:pt idx="25">
                  <c:v>16485.698551602702</c:v>
                </c:pt>
                <c:pt idx="26">
                  <c:v>17098.619223315949</c:v>
                </c:pt>
                <c:pt idx="27">
                  <c:v>17718.694859698571</c:v>
                </c:pt>
                <c:pt idx="28">
                  <c:v>18347.1179548621</c:v>
                </c:pt>
                <c:pt idx="29">
                  <c:v>18985.08100291813</c:v>
                </c:pt>
                <c:pt idx="30">
                  <c:v>19633.77649797819</c:v>
                </c:pt>
                <c:pt idx="31">
                  <c:v>20294.396934153861</c:v>
                </c:pt>
                <c:pt idx="32">
                  <c:v>20968.134805556689</c:v>
                </c:pt>
                <c:pt idx="33">
                  <c:v>21656.182606298251</c:v>
                </c:pt>
                <c:pt idx="34">
                  <c:v>22359.732830490091</c:v>
                </c:pt>
                <c:pt idx="35">
                  <c:v>23079.977972243771</c:v>
                </c:pt>
                <c:pt idx="36">
                  <c:v>23818.110525670869</c:v>
                </c:pt>
                <c:pt idx="37">
                  <c:v>24575.322984882929</c:v>
                </c:pt>
                <c:pt idx="38">
                  <c:v>25352.807843991519</c:v>
                </c:pt>
                <c:pt idx="39">
                  <c:v>26151.757597108201</c:v>
                </c:pt>
                <c:pt idx="40">
                  <c:v>26973.36473834452</c:v>
                </c:pt>
                <c:pt idx="41">
                  <c:v>27818.82176181204</c:v>
                </c:pt>
                <c:pt idx="42">
                  <c:v>28689.321161622342</c:v>
                </c:pt>
                <c:pt idx="43">
                  <c:v>29586.05543188698</c:v>
                </c:pt>
                <c:pt idx="44">
                  <c:v>30510.217066717491</c:v>
                </c:pt>
                <c:pt idx="45">
                  <c:v>31462.99856022546</c:v>
                </c:pt>
                <c:pt idx="46">
                  <c:v>32445.59240652245</c:v>
                </c:pt>
                <c:pt idx="47">
                  <c:v>33459.191099719988</c:v>
                </c:pt>
                <c:pt idx="48">
                  <c:v>34504.987133929673</c:v>
                </c:pt>
                <c:pt idx="49">
                  <c:v>35584.173003263037</c:v>
                </c:pt>
                <c:pt idx="50">
                  <c:v>36697.941201831658</c:v>
                </c:pt>
                <c:pt idx="51">
                  <c:v>37847.484223747102</c:v>
                </c:pt>
                <c:pt idx="52">
                  <c:v>39033.994563120898</c:v>
                </c:pt>
                <c:pt idx="53">
                  <c:v>40258.664714064638</c:v>
                </c:pt>
                <c:pt idx="54">
                  <c:v>41522.687170689867</c:v>
                </c:pt>
                <c:pt idx="55">
                  <c:v>42827.254427108157</c:v>
                </c:pt>
                <c:pt idx="56">
                  <c:v>44173.55897743105</c:v>
                </c:pt>
                <c:pt idx="57">
                  <c:v>45562.793315770097</c:v>
                </c:pt>
                <c:pt idx="58">
                  <c:v>46996.149936236943</c:v>
                </c:pt>
                <c:pt idx="59">
                  <c:v>48474.821332943022</c:v>
                </c:pt>
                <c:pt idx="60">
                  <c:v>50000</c:v>
                </c:pt>
                <c:pt idx="61">
                  <c:v>50375.075455033271</c:v>
                </c:pt>
                <c:pt idx="62">
                  <c:v>50774.00109206255</c:v>
                </c:pt>
                <c:pt idx="63">
                  <c:v>51196.346772296667</c:v>
                </c:pt>
                <c:pt idx="64">
                  <c:v>51641.68235694441</c:v>
                </c:pt>
                <c:pt idx="65">
                  <c:v>52109.577707214557</c:v>
                </c:pt>
                <c:pt idx="66">
                  <c:v>52599.602684315942</c:v>
                </c:pt>
                <c:pt idx="67">
                  <c:v>53111.327149457327</c:v>
                </c:pt>
                <c:pt idx="68">
                  <c:v>53644.320963847531</c:v>
                </c:pt>
                <c:pt idx="69">
                  <c:v>54198.153988695332</c:v>
                </c:pt>
                <c:pt idx="70">
                  <c:v>54772.396085209548</c:v>
                </c:pt>
                <c:pt idx="71">
                  <c:v>55366.617114598957</c:v>
                </c:pt>
                <c:pt idx="72">
                  <c:v>55980.38693807237</c:v>
                </c:pt>
                <c:pt idx="73">
                  <c:v>56613.275416838573</c:v>
                </c:pt>
                <c:pt idx="74">
                  <c:v>57264.852412106367</c:v>
                </c:pt>
                <c:pt idx="75">
                  <c:v>57934.687785084563</c:v>
                </c:pt>
                <c:pt idx="76">
                  <c:v>58622.351396981932</c:v>
                </c:pt>
                <c:pt idx="77">
                  <c:v>59327.413109007277</c:v>
                </c:pt>
                <c:pt idx="78">
                  <c:v>60049.44278236942</c:v>
                </c:pt>
                <c:pt idx="79">
                  <c:v>60788.010278277143</c:v>
                </c:pt>
                <c:pt idx="80">
                  <c:v>61542.685457939231</c:v>
                </c:pt>
                <c:pt idx="81">
                  <c:v>62313.038182564502</c:v>
                </c:pt>
                <c:pt idx="82">
                  <c:v>63098.638313361727</c:v>
                </c:pt>
                <c:pt idx="83">
                  <c:v>63899.055711539731</c:v>
                </c:pt>
                <c:pt idx="84">
                  <c:v>64713.860238307279</c:v>
                </c:pt>
                <c:pt idx="85">
                  <c:v>65542.621754873195</c:v>
                </c:pt>
                <c:pt idx="86">
                  <c:v>66384.910122446279</c:v>
                </c:pt>
                <c:pt idx="87">
                  <c:v>67240.295202235313</c:v>
                </c:pt>
                <c:pt idx="88">
                  <c:v>68108.346855449083</c:v>
                </c:pt>
                <c:pt idx="89">
                  <c:v>68988.634943296434</c:v>
                </c:pt>
                <c:pt idx="90">
                  <c:v>69880.729326986082</c:v>
                </c:pt>
                <c:pt idx="91">
                  <c:v>70784.199867726915</c:v>
                </c:pt>
                <c:pt idx="92">
                  <c:v>71698.616426727676</c:v>
                </c:pt>
                <c:pt idx="93">
                  <c:v>72623.548865197168</c:v>
                </c:pt>
                <c:pt idx="94">
                  <c:v>73558.567044344178</c:v>
                </c:pt>
                <c:pt idx="95">
                  <c:v>74503.240825377536</c:v>
                </c:pt>
                <c:pt idx="96">
                  <c:v>75457.140069506015</c:v>
                </c:pt>
                <c:pt idx="97">
                  <c:v>76419.834637938431</c:v>
                </c:pt>
                <c:pt idx="98">
                  <c:v>77390.894391883543</c:v>
                </c:pt>
                <c:pt idx="99">
                  <c:v>78369.889192550181</c:v>
                </c:pt>
                <c:pt idx="100">
                  <c:v>79356.388901147162</c:v>
                </c:pt>
                <c:pt idx="101">
                  <c:v>80349.963378883229</c:v>
                </c:pt>
                <c:pt idx="102">
                  <c:v>81350.182486967184</c:v>
                </c:pt>
                <c:pt idx="103">
                  <c:v>82356.616086607886</c:v>
                </c:pt>
                <c:pt idx="104">
                  <c:v>83368.83403901408</c:v>
                </c:pt>
                <c:pt idx="105">
                  <c:v>84386.406205394582</c:v>
                </c:pt>
                <c:pt idx="106">
                  <c:v>85408.902446958178</c:v>
                </c:pt>
                <c:pt idx="107">
                  <c:v>86435.892624913657</c:v>
                </c:pt>
                <c:pt idx="108">
                  <c:v>87466.946600469833</c:v>
                </c:pt>
                <c:pt idx="109">
                  <c:v>88501.63423483551</c:v>
                </c:pt>
                <c:pt idx="110">
                  <c:v>89539.525389219445</c:v>
                </c:pt>
                <c:pt idx="111">
                  <c:v>90580.189924830484</c:v>
                </c:pt>
                <c:pt idx="112">
                  <c:v>91623.197702877398</c:v>
                </c:pt>
                <c:pt idx="113">
                  <c:v>92668.118584568991</c:v>
                </c:pt>
                <c:pt idx="114">
                  <c:v>93714.522431114048</c:v>
                </c:pt>
                <c:pt idx="115">
                  <c:v>94761.979103721373</c:v>
                </c:pt>
                <c:pt idx="116">
                  <c:v>95810.05846359978</c:v>
                </c:pt>
                <c:pt idx="117">
                  <c:v>96858.330371958044</c:v>
                </c:pt>
                <c:pt idx="118">
                  <c:v>97906.364690004964</c:v>
                </c:pt>
                <c:pt idx="119">
                  <c:v>98953.731278949344</c:v>
                </c:pt>
                <c:pt idx="120">
                  <c:v>100000</c:v>
                </c:pt>
                <c:pt idx="121">
                  <c:v>101224.5667666669</c:v>
                </c:pt>
                <c:pt idx="122">
                  <c:v>102458.7731554232</c:v>
                </c:pt>
                <c:pt idx="123">
                  <c:v>103702.8957256758</c:v>
                </c:pt>
                <c:pt idx="124">
                  <c:v>104957.2110368314</c:v>
                </c:pt>
                <c:pt idx="125">
                  <c:v>106221.9956482969</c:v>
                </c:pt>
                <c:pt idx="126">
                  <c:v>107497.5261194792</c:v>
                </c:pt>
                <c:pt idx="127">
                  <c:v>108784.079009785</c:v>
                </c:pt>
                <c:pt idx="128">
                  <c:v>110081.93087862121</c:v>
                </c:pt>
                <c:pt idx="129">
                  <c:v>111391.3582853946</c:v>
                </c:pt>
                <c:pt idx="130">
                  <c:v>112712.6377895121</c:v>
                </c:pt>
                <c:pt idx="131">
                  <c:v>114046.0459503805</c:v>
                </c:pt>
                <c:pt idx="132">
                  <c:v>115391.85932740651</c:v>
                </c:pt>
                <c:pt idx="133">
                  <c:v>116750.3544799971</c:v>
                </c:pt>
                <c:pt idx="134">
                  <c:v>118121.8079675591</c:v>
                </c:pt>
                <c:pt idx="135">
                  <c:v>119506.4963494993</c:v>
                </c:pt>
                <c:pt idx="136">
                  <c:v>120904.6961852245</c:v>
                </c:pt>
                <c:pt idx="137">
                  <c:v>122316.6840341416</c:v>
                </c:pt>
                <c:pt idx="138">
                  <c:v>123742.7364556573</c:v>
                </c:pt>
                <c:pt idx="139">
                  <c:v>125183.1300091786</c:v>
                </c:pt>
                <c:pt idx="140">
                  <c:v>126638.1412541123</c:v>
                </c:pt>
                <c:pt idx="141">
                  <c:v>128108.0467498651</c:v>
                </c:pt>
                <c:pt idx="142">
                  <c:v>129593.1230558439</c:v>
                </c:pt>
                <c:pt idx="143">
                  <c:v>131093.64673145561</c:v>
                </c:pt>
                <c:pt idx="144">
                  <c:v>132609.89433610701</c:v>
                </c:pt>
                <c:pt idx="145">
                  <c:v>134142.1424292048</c:v>
                </c:pt>
                <c:pt idx="146">
                  <c:v>135690.66757015599</c:v>
                </c:pt>
                <c:pt idx="147">
                  <c:v>137255.7463183674</c:v>
                </c:pt>
                <c:pt idx="148">
                  <c:v>138837.65523324581</c:v>
                </c:pt>
                <c:pt idx="149">
                  <c:v>140436.670874198</c:v>
                </c:pt>
                <c:pt idx="150">
                  <c:v>142053.06980063079</c:v>
                </c:pt>
                <c:pt idx="151">
                  <c:v>143687.12857195121</c:v>
                </c:pt>
                <c:pt idx="152">
                  <c:v>145339.12374756581</c:v>
                </c:pt>
                <c:pt idx="153">
                  <c:v>147009.33188688161</c:v>
                </c:pt>
                <c:pt idx="154">
                  <c:v>148698.02954930541</c:v>
                </c:pt>
                <c:pt idx="155">
                  <c:v>150405.4932942439</c:v>
                </c:pt>
                <c:pt idx="156">
                  <c:v>152131.99968110409</c:v>
                </c:pt>
                <c:pt idx="157">
                  <c:v>153877.82526929289</c:v>
                </c:pt>
                <c:pt idx="158">
                  <c:v>155643.24661821689</c:v>
                </c:pt>
                <c:pt idx="159">
                  <c:v>157428.54028728299</c:v>
                </c:pt>
                <c:pt idx="160">
                  <c:v>159233.98283589809</c:v>
                </c:pt>
                <c:pt idx="161">
                  <c:v>161059.85082346891</c:v>
                </c:pt>
                <c:pt idx="162">
                  <c:v>162906.42080940239</c:v>
                </c:pt>
                <c:pt idx="163">
                  <c:v>164773.96935310529</c:v>
                </c:pt>
                <c:pt idx="164">
                  <c:v>166662.77301398461</c:v>
                </c:pt>
                <c:pt idx="165">
                  <c:v>168573.10835144701</c:v>
                </c:pt>
                <c:pt idx="166">
                  <c:v>170505.2519248992</c:v>
                </c:pt>
                <c:pt idx="167">
                  <c:v>172459.48029374829</c:v>
                </c:pt>
                <c:pt idx="168">
                  <c:v>174436.0700174009</c:v>
                </c:pt>
                <c:pt idx="169">
                  <c:v>176435.297655264</c:v>
                </c:pt>
                <c:pt idx="170">
                  <c:v>178457.4397667443</c:v>
                </c:pt>
                <c:pt idx="171">
                  <c:v>180502.77291124879</c:v>
                </c:pt>
                <c:pt idx="172">
                  <c:v>182571.57364818419</c:v>
                </c:pt>
                <c:pt idx="173">
                  <c:v>184664.11853695731</c:v>
                </c:pt>
                <c:pt idx="174">
                  <c:v>186780.684136975</c:v>
                </c:pt>
                <c:pt idx="175">
                  <c:v>188921.54700764411</c:v>
                </c:pt>
                <c:pt idx="176">
                  <c:v>191086.9837083715</c:v>
                </c:pt>
                <c:pt idx="177">
                  <c:v>193277.2707985639</c:v>
                </c:pt>
                <c:pt idx="178">
                  <c:v>195492.6848376283</c:v>
                </c:pt>
                <c:pt idx="179">
                  <c:v>197733.5023849713</c:v>
                </c:pt>
                <c:pt idx="180">
                  <c:v>200000</c:v>
                </c:pt>
                <c:pt idx="181">
                  <c:v>201188.62048642401</c:v>
                </c:pt>
                <c:pt idx="182">
                  <c:v>202409.3762231142</c:v>
                </c:pt>
                <c:pt idx="183">
                  <c:v>203661.4432292947</c:v>
                </c:pt>
                <c:pt idx="184">
                  <c:v>204943.99752418921</c:v>
                </c:pt>
                <c:pt idx="185">
                  <c:v>206256.2151270218</c:v>
                </c:pt>
                <c:pt idx="186">
                  <c:v>207597.2720570165</c:v>
                </c:pt>
                <c:pt idx="187">
                  <c:v>208966.34433339699</c:v>
                </c:pt>
                <c:pt idx="188">
                  <c:v>210362.60797538751</c:v>
                </c:pt>
                <c:pt idx="189">
                  <c:v>211785.23900221181</c:v>
                </c:pt>
                <c:pt idx="190">
                  <c:v>213233.41343309401</c:v>
                </c:pt>
                <c:pt idx="191">
                  <c:v>214706.30728725769</c:v>
                </c:pt>
                <c:pt idx="192">
                  <c:v>216203.09658392731</c:v>
                </c:pt>
                <c:pt idx="193">
                  <c:v>217722.95734232641</c:v>
                </c:pt>
                <c:pt idx="194">
                  <c:v>219265.06558167899</c:v>
                </c:pt>
                <c:pt idx="195">
                  <c:v>220828.59732120909</c:v>
                </c:pt>
                <c:pt idx="196">
                  <c:v>222412.72858014071</c:v>
                </c:pt>
                <c:pt idx="197">
                  <c:v>224016.6353776977</c:v>
                </c:pt>
                <c:pt idx="198">
                  <c:v>225639.493733104</c:v>
                </c:pt>
                <c:pt idx="199">
                  <c:v>227280.47966558349</c:v>
                </c:pt>
                <c:pt idx="200">
                  <c:v>228938.76919436021</c:v>
                </c:pt>
                <c:pt idx="201">
                  <c:v>230613.53833865811</c:v>
                </c:pt>
                <c:pt idx="202">
                  <c:v>232303.96311770109</c:v>
                </c:pt>
                <c:pt idx="203">
                  <c:v>234009.2195507132</c:v>
                </c:pt>
                <c:pt idx="204">
                  <c:v>235728.48365691819</c:v>
                </c:pt>
                <c:pt idx="205">
                  <c:v>237460.93145554009</c:v>
                </c:pt>
                <c:pt idx="206">
                  <c:v>239205.73896580291</c:v>
                </c:pt>
                <c:pt idx="207">
                  <c:v>240962.08220693041</c:v>
                </c:pt>
                <c:pt idx="208">
                  <c:v>242729.13719814681</c:v>
                </c:pt>
                <c:pt idx="209">
                  <c:v>244506.07995867581</c:v>
                </c:pt>
                <c:pt idx="210">
                  <c:v>246292.08650774151</c:v>
                </c:pt>
                <c:pt idx="211">
                  <c:v>248086.3328645677</c:v>
                </c:pt>
                <c:pt idx="212">
                  <c:v>249887.99504837839</c:v>
                </c:pt>
                <c:pt idx="213">
                  <c:v>251696.24907839761</c:v>
                </c:pt>
                <c:pt idx="214">
                  <c:v>253510.27097384931</c:v>
                </c:pt>
                <c:pt idx="215">
                  <c:v>255329.2367539572</c:v>
                </c:pt>
                <c:pt idx="216">
                  <c:v>257152.3224379454</c:v>
                </c:pt>
                <c:pt idx="217">
                  <c:v>258978.70404503791</c:v>
                </c:pt>
                <c:pt idx="218">
                  <c:v>260807.5575944586</c:v>
                </c:pt>
                <c:pt idx="219">
                  <c:v>262638.05910543131</c:v>
                </c:pt>
                <c:pt idx="220">
                  <c:v>264469.38459718012</c:v>
                </c:pt>
                <c:pt idx="221">
                  <c:v>266300.71008892899</c:v>
                </c:pt>
                <c:pt idx="222">
                  <c:v>268131.21159990173</c:v>
                </c:pt>
                <c:pt idx="223">
                  <c:v>269960.06514932233</c:v>
                </c:pt>
                <c:pt idx="224">
                  <c:v>271786.44675641478</c:v>
                </c:pt>
                <c:pt idx="225">
                  <c:v>273609.53244040313</c:v>
                </c:pt>
                <c:pt idx="226">
                  <c:v>275428.49822051101</c:v>
                </c:pt>
                <c:pt idx="227">
                  <c:v>277242.5201159626</c:v>
                </c:pt>
                <c:pt idx="228">
                  <c:v>279050.77414598182</c:v>
                </c:pt>
                <c:pt idx="229">
                  <c:v>280852.43632979249</c:v>
                </c:pt>
                <c:pt idx="230">
                  <c:v>282646.68268661882</c:v>
                </c:pt>
                <c:pt idx="231">
                  <c:v>284432.68923568452</c:v>
                </c:pt>
                <c:pt idx="232">
                  <c:v>286209.63199621352</c:v>
                </c:pt>
                <c:pt idx="233">
                  <c:v>287976.68698742992</c:v>
                </c:pt>
                <c:pt idx="234">
                  <c:v>289733.03022855741</c:v>
                </c:pt>
                <c:pt idx="235">
                  <c:v>291477.83773882012</c:v>
                </c:pt>
                <c:pt idx="236">
                  <c:v>293210.28553744202</c:v>
                </c:pt>
                <c:pt idx="237">
                  <c:v>294929.54964364698</c:v>
                </c:pt>
                <c:pt idx="238">
                  <c:v>296634.80607665912</c:v>
                </c:pt>
                <c:pt idx="239">
                  <c:v>298325.23085570207</c:v>
                </c:pt>
                <c:pt idx="240">
                  <c:v>300000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93B-4A73-9751-2650A959CE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10001"/>
        <c:axId val="50010002"/>
      </c:scatterChart>
      <c:valAx>
        <c:axId val="50010001"/>
        <c:scaling>
          <c:orientation val="minMax"/>
          <c:max val="46235"/>
          <c:min val="3981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10002"/>
        <c:crosses val="autoZero"/>
        <c:crossBetween val="midCat"/>
        <c:majorUnit val="1826.2125000000001"/>
      </c:valAx>
      <c:valAx>
        <c:axId val="50010002"/>
        <c:scaling>
          <c:orientation val="minMax"/>
          <c:max val="3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10001"/>
        <c:crosses val="autoZero"/>
        <c:crossBetween val="midCat"/>
        <c:majorUnit val="100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Projektit yhteensä</c:v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'Skyrim Special Edition'!$A$2:$A$130</c:f>
              <c:numCache>
                <c:formatCode>mmm\ yyyy</c:formatCode>
                <c:ptCount val="129"/>
                <c:pt idx="0">
                  <c:v>42400</c:v>
                </c:pt>
                <c:pt idx="1">
                  <c:v>42429</c:v>
                </c:pt>
                <c:pt idx="2">
                  <c:v>42460</c:v>
                </c:pt>
                <c:pt idx="3">
                  <c:v>42490</c:v>
                </c:pt>
                <c:pt idx="4">
                  <c:v>42521</c:v>
                </c:pt>
                <c:pt idx="5">
                  <c:v>42551</c:v>
                </c:pt>
                <c:pt idx="6">
                  <c:v>42582</c:v>
                </c:pt>
                <c:pt idx="7">
                  <c:v>42613</c:v>
                </c:pt>
                <c:pt idx="8">
                  <c:v>42643</c:v>
                </c:pt>
                <c:pt idx="9">
                  <c:v>42674</c:v>
                </c:pt>
                <c:pt idx="10">
                  <c:v>42704</c:v>
                </c:pt>
                <c:pt idx="11">
                  <c:v>42735</c:v>
                </c:pt>
                <c:pt idx="12">
                  <c:v>42766</c:v>
                </c:pt>
                <c:pt idx="13">
                  <c:v>42794</c:v>
                </c:pt>
                <c:pt idx="14">
                  <c:v>42825</c:v>
                </c:pt>
                <c:pt idx="15">
                  <c:v>42855</c:v>
                </c:pt>
                <c:pt idx="16">
                  <c:v>42886</c:v>
                </c:pt>
                <c:pt idx="17">
                  <c:v>42916</c:v>
                </c:pt>
                <c:pt idx="18">
                  <c:v>42947</c:v>
                </c:pt>
                <c:pt idx="19">
                  <c:v>42978</c:v>
                </c:pt>
                <c:pt idx="20">
                  <c:v>43008</c:v>
                </c:pt>
                <c:pt idx="21">
                  <c:v>43039</c:v>
                </c:pt>
                <c:pt idx="22">
                  <c:v>43069</c:v>
                </c:pt>
                <c:pt idx="23">
                  <c:v>43100</c:v>
                </c:pt>
                <c:pt idx="24">
                  <c:v>43131</c:v>
                </c:pt>
                <c:pt idx="25">
                  <c:v>43159</c:v>
                </c:pt>
                <c:pt idx="26">
                  <c:v>43190</c:v>
                </c:pt>
                <c:pt idx="27">
                  <c:v>43220</c:v>
                </c:pt>
                <c:pt idx="28">
                  <c:v>43251</c:v>
                </c:pt>
                <c:pt idx="29">
                  <c:v>43281</c:v>
                </c:pt>
                <c:pt idx="30">
                  <c:v>43312</c:v>
                </c:pt>
                <c:pt idx="31">
                  <c:v>43343</c:v>
                </c:pt>
                <c:pt idx="32">
                  <c:v>43373</c:v>
                </c:pt>
                <c:pt idx="33">
                  <c:v>43404</c:v>
                </c:pt>
                <c:pt idx="34">
                  <c:v>43434</c:v>
                </c:pt>
                <c:pt idx="35">
                  <c:v>43465</c:v>
                </c:pt>
                <c:pt idx="36">
                  <c:v>43496</c:v>
                </c:pt>
                <c:pt idx="37">
                  <c:v>43524</c:v>
                </c:pt>
                <c:pt idx="38">
                  <c:v>43555</c:v>
                </c:pt>
                <c:pt idx="39">
                  <c:v>43585</c:v>
                </c:pt>
                <c:pt idx="40">
                  <c:v>43616</c:v>
                </c:pt>
                <c:pt idx="41">
                  <c:v>43646</c:v>
                </c:pt>
                <c:pt idx="42">
                  <c:v>43677</c:v>
                </c:pt>
                <c:pt idx="43">
                  <c:v>43708</c:v>
                </c:pt>
                <c:pt idx="44">
                  <c:v>43738</c:v>
                </c:pt>
                <c:pt idx="45">
                  <c:v>43769</c:v>
                </c:pt>
                <c:pt idx="46">
                  <c:v>43799</c:v>
                </c:pt>
                <c:pt idx="47">
                  <c:v>43830</c:v>
                </c:pt>
                <c:pt idx="48">
                  <c:v>43861</c:v>
                </c:pt>
                <c:pt idx="49">
                  <c:v>43890</c:v>
                </c:pt>
                <c:pt idx="50">
                  <c:v>43921</c:v>
                </c:pt>
                <c:pt idx="51">
                  <c:v>43951</c:v>
                </c:pt>
                <c:pt idx="52">
                  <c:v>43982</c:v>
                </c:pt>
                <c:pt idx="53">
                  <c:v>44012</c:v>
                </c:pt>
                <c:pt idx="54">
                  <c:v>44043</c:v>
                </c:pt>
                <c:pt idx="55">
                  <c:v>44074</c:v>
                </c:pt>
                <c:pt idx="56">
                  <c:v>44104</c:v>
                </c:pt>
                <c:pt idx="57">
                  <c:v>44135</c:v>
                </c:pt>
                <c:pt idx="58">
                  <c:v>44165</c:v>
                </c:pt>
                <c:pt idx="59">
                  <c:v>44196</c:v>
                </c:pt>
                <c:pt idx="60">
                  <c:v>44227</c:v>
                </c:pt>
                <c:pt idx="61">
                  <c:v>44255</c:v>
                </c:pt>
                <c:pt idx="62">
                  <c:v>44286</c:v>
                </c:pt>
                <c:pt idx="63">
                  <c:v>44316</c:v>
                </c:pt>
                <c:pt idx="64">
                  <c:v>44347</c:v>
                </c:pt>
                <c:pt idx="65">
                  <c:v>44377</c:v>
                </c:pt>
                <c:pt idx="66">
                  <c:v>44408</c:v>
                </c:pt>
                <c:pt idx="67">
                  <c:v>44439</c:v>
                </c:pt>
                <c:pt idx="68">
                  <c:v>44469</c:v>
                </c:pt>
                <c:pt idx="69">
                  <c:v>44500</c:v>
                </c:pt>
                <c:pt idx="70">
                  <c:v>44530</c:v>
                </c:pt>
                <c:pt idx="71">
                  <c:v>44561</c:v>
                </c:pt>
                <c:pt idx="72">
                  <c:v>44592</c:v>
                </c:pt>
                <c:pt idx="73">
                  <c:v>44620</c:v>
                </c:pt>
                <c:pt idx="74">
                  <c:v>44651</c:v>
                </c:pt>
                <c:pt idx="75">
                  <c:v>44681</c:v>
                </c:pt>
                <c:pt idx="76">
                  <c:v>44712</c:v>
                </c:pt>
                <c:pt idx="77">
                  <c:v>44742</c:v>
                </c:pt>
                <c:pt idx="78">
                  <c:v>44773</c:v>
                </c:pt>
                <c:pt idx="79">
                  <c:v>44804</c:v>
                </c:pt>
                <c:pt idx="80">
                  <c:v>44834</c:v>
                </c:pt>
                <c:pt idx="81">
                  <c:v>44865</c:v>
                </c:pt>
                <c:pt idx="82">
                  <c:v>44895</c:v>
                </c:pt>
                <c:pt idx="83">
                  <c:v>44926</c:v>
                </c:pt>
                <c:pt idx="84">
                  <c:v>44957</c:v>
                </c:pt>
                <c:pt idx="85">
                  <c:v>44985</c:v>
                </c:pt>
                <c:pt idx="86">
                  <c:v>45016</c:v>
                </c:pt>
                <c:pt idx="87">
                  <c:v>45046</c:v>
                </c:pt>
                <c:pt idx="88">
                  <c:v>45077</c:v>
                </c:pt>
                <c:pt idx="89">
                  <c:v>45107</c:v>
                </c:pt>
                <c:pt idx="90">
                  <c:v>45138</c:v>
                </c:pt>
                <c:pt idx="91">
                  <c:v>45169</c:v>
                </c:pt>
                <c:pt idx="92">
                  <c:v>45199</c:v>
                </c:pt>
                <c:pt idx="93">
                  <c:v>45230</c:v>
                </c:pt>
                <c:pt idx="94">
                  <c:v>45260</c:v>
                </c:pt>
                <c:pt idx="95">
                  <c:v>45291</c:v>
                </c:pt>
                <c:pt idx="96">
                  <c:v>45322</c:v>
                </c:pt>
                <c:pt idx="97">
                  <c:v>45351</c:v>
                </c:pt>
                <c:pt idx="98">
                  <c:v>45382</c:v>
                </c:pt>
                <c:pt idx="99">
                  <c:v>45412</c:v>
                </c:pt>
                <c:pt idx="100">
                  <c:v>45443</c:v>
                </c:pt>
                <c:pt idx="101">
                  <c:v>45473</c:v>
                </c:pt>
                <c:pt idx="102">
                  <c:v>45504</c:v>
                </c:pt>
                <c:pt idx="103">
                  <c:v>45535</c:v>
                </c:pt>
                <c:pt idx="104">
                  <c:v>45565</c:v>
                </c:pt>
                <c:pt idx="105">
                  <c:v>45596</c:v>
                </c:pt>
                <c:pt idx="106">
                  <c:v>45626</c:v>
                </c:pt>
                <c:pt idx="107">
                  <c:v>45657</c:v>
                </c:pt>
                <c:pt idx="108">
                  <c:v>45688</c:v>
                </c:pt>
                <c:pt idx="109">
                  <c:v>45716</c:v>
                </c:pt>
                <c:pt idx="110">
                  <c:v>45747</c:v>
                </c:pt>
                <c:pt idx="111">
                  <c:v>45777</c:v>
                </c:pt>
                <c:pt idx="112">
                  <c:v>45808</c:v>
                </c:pt>
                <c:pt idx="113">
                  <c:v>45838</c:v>
                </c:pt>
                <c:pt idx="114">
                  <c:v>45869</c:v>
                </c:pt>
                <c:pt idx="115">
                  <c:v>45900</c:v>
                </c:pt>
                <c:pt idx="116">
                  <c:v>45930</c:v>
                </c:pt>
                <c:pt idx="117">
                  <c:v>45961</c:v>
                </c:pt>
                <c:pt idx="118">
                  <c:v>45991</c:v>
                </c:pt>
                <c:pt idx="119">
                  <c:v>46022</c:v>
                </c:pt>
                <c:pt idx="120">
                  <c:v>46053</c:v>
                </c:pt>
                <c:pt idx="121">
                  <c:v>46081</c:v>
                </c:pt>
                <c:pt idx="122">
                  <c:v>46112</c:v>
                </c:pt>
                <c:pt idx="123">
                  <c:v>46142</c:v>
                </c:pt>
                <c:pt idx="124">
                  <c:v>46173</c:v>
                </c:pt>
                <c:pt idx="125">
                  <c:v>46203</c:v>
                </c:pt>
                <c:pt idx="126">
                  <c:v>46234</c:v>
                </c:pt>
                <c:pt idx="127">
                  <c:v>46265</c:v>
                </c:pt>
                <c:pt idx="128">
                  <c:v>46295</c:v>
                </c:pt>
              </c:numCache>
            </c:numRef>
          </c:xVal>
          <c:yVal>
            <c:numRef>
              <c:f>'Skyrim Special Edition'!$B$2:$B$130</c:f>
              <c:numCache>
                <c:formatCode>#,##0</c:formatCode>
                <c:ptCount val="1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678</c:v>
                </c:pt>
                <c:pt idx="10">
                  <c:v>2896</c:v>
                </c:pt>
                <c:pt idx="11">
                  <c:v>3823</c:v>
                </c:pt>
                <c:pt idx="12">
                  <c:v>4466</c:v>
                </c:pt>
                <c:pt idx="13">
                  <c:v>4847</c:v>
                </c:pt>
                <c:pt idx="14">
                  <c:v>5233</c:v>
                </c:pt>
                <c:pt idx="15">
                  <c:v>5479</c:v>
                </c:pt>
                <c:pt idx="16">
                  <c:v>5728</c:v>
                </c:pt>
                <c:pt idx="17">
                  <c:v>6010</c:v>
                </c:pt>
                <c:pt idx="18">
                  <c:v>6329</c:v>
                </c:pt>
                <c:pt idx="19">
                  <c:v>6674</c:v>
                </c:pt>
                <c:pt idx="20">
                  <c:v>7047</c:v>
                </c:pt>
                <c:pt idx="21">
                  <c:v>7466</c:v>
                </c:pt>
                <c:pt idx="22">
                  <c:v>7832</c:v>
                </c:pt>
                <c:pt idx="23">
                  <c:v>8166</c:v>
                </c:pt>
                <c:pt idx="24">
                  <c:v>8556</c:v>
                </c:pt>
                <c:pt idx="25">
                  <c:v>8895</c:v>
                </c:pt>
                <c:pt idx="26">
                  <c:v>9288</c:v>
                </c:pt>
                <c:pt idx="27">
                  <c:v>9738</c:v>
                </c:pt>
                <c:pt idx="28">
                  <c:v>10219</c:v>
                </c:pt>
                <c:pt idx="29">
                  <c:v>10608</c:v>
                </c:pt>
                <c:pt idx="30">
                  <c:v>11065</c:v>
                </c:pt>
                <c:pt idx="31">
                  <c:v>11495</c:v>
                </c:pt>
                <c:pt idx="32">
                  <c:v>11871</c:v>
                </c:pt>
                <c:pt idx="33">
                  <c:v>12276</c:v>
                </c:pt>
                <c:pt idx="34">
                  <c:v>12667</c:v>
                </c:pt>
                <c:pt idx="35">
                  <c:v>13118</c:v>
                </c:pt>
                <c:pt idx="36">
                  <c:v>13639</c:v>
                </c:pt>
                <c:pt idx="37">
                  <c:v>14119</c:v>
                </c:pt>
                <c:pt idx="38">
                  <c:v>14638</c:v>
                </c:pt>
                <c:pt idx="39">
                  <c:v>15140</c:v>
                </c:pt>
                <c:pt idx="40">
                  <c:v>15659</c:v>
                </c:pt>
                <c:pt idx="41">
                  <c:v>16227</c:v>
                </c:pt>
                <c:pt idx="42">
                  <c:v>16809</c:v>
                </c:pt>
                <c:pt idx="43">
                  <c:v>17352</c:v>
                </c:pt>
                <c:pt idx="44">
                  <c:v>17803</c:v>
                </c:pt>
                <c:pt idx="45">
                  <c:v>18281</c:v>
                </c:pt>
                <c:pt idx="46">
                  <c:v>18674</c:v>
                </c:pt>
                <c:pt idx="47">
                  <c:v>19133</c:v>
                </c:pt>
                <c:pt idx="48">
                  <c:v>19700</c:v>
                </c:pt>
                <c:pt idx="49">
                  <c:v>20392</c:v>
                </c:pt>
                <c:pt idx="50">
                  <c:v>21160</c:v>
                </c:pt>
                <c:pt idx="51">
                  <c:v>21995</c:v>
                </c:pt>
                <c:pt idx="52">
                  <c:v>22920</c:v>
                </c:pt>
                <c:pt idx="53">
                  <c:v>23723</c:v>
                </c:pt>
                <c:pt idx="54">
                  <c:v>24456</c:v>
                </c:pt>
                <c:pt idx="55">
                  <c:v>25246</c:v>
                </c:pt>
                <c:pt idx="56">
                  <c:v>25916</c:v>
                </c:pt>
                <c:pt idx="57">
                  <c:v>26570</c:v>
                </c:pt>
                <c:pt idx="58">
                  <c:v>27308</c:v>
                </c:pt>
                <c:pt idx="59">
                  <c:v>27992</c:v>
                </c:pt>
                <c:pt idx="60">
                  <c:v>28921</c:v>
                </c:pt>
                <c:pt idx="61">
                  <c:v>29781</c:v>
                </c:pt>
                <c:pt idx="62">
                  <c:v>30822</c:v>
                </c:pt>
                <c:pt idx="63">
                  <c:v>31857</c:v>
                </c:pt>
                <c:pt idx="64">
                  <c:v>32911</c:v>
                </c:pt>
                <c:pt idx="65">
                  <c:v>33761</c:v>
                </c:pt>
                <c:pt idx="66">
                  <c:v>34704</c:v>
                </c:pt>
                <c:pt idx="67">
                  <c:v>35968</c:v>
                </c:pt>
                <c:pt idx="68">
                  <c:v>37082</c:v>
                </c:pt>
                <c:pt idx="69">
                  <c:v>38117</c:v>
                </c:pt>
                <c:pt idx="70">
                  <c:v>39318</c:v>
                </c:pt>
                <c:pt idx="71">
                  <c:v>40569</c:v>
                </c:pt>
                <c:pt idx="72">
                  <c:v>41948</c:v>
                </c:pt>
                <c:pt idx="73">
                  <c:v>43053</c:v>
                </c:pt>
                <c:pt idx="74">
                  <c:v>44092</c:v>
                </c:pt>
                <c:pt idx="75">
                  <c:v>45250</c:v>
                </c:pt>
                <c:pt idx="76">
                  <c:v>46363</c:v>
                </c:pt>
                <c:pt idx="77">
                  <c:v>47500</c:v>
                </c:pt>
                <c:pt idx="78">
                  <c:v>48933</c:v>
                </c:pt>
                <c:pt idx="79">
                  <c:v>50407</c:v>
                </c:pt>
                <c:pt idx="80">
                  <c:v>51839</c:v>
                </c:pt>
                <c:pt idx="81">
                  <c:v>53066</c:v>
                </c:pt>
                <c:pt idx="82">
                  <c:v>54393</c:v>
                </c:pt>
                <c:pt idx="83">
                  <c:v>55887</c:v>
                </c:pt>
                <c:pt idx="84">
                  <c:v>57505</c:v>
                </c:pt>
                <c:pt idx="85">
                  <c:v>59065</c:v>
                </c:pt>
                <c:pt idx="86">
                  <c:v>60596</c:v>
                </c:pt>
                <c:pt idx="87">
                  <c:v>62216</c:v>
                </c:pt>
                <c:pt idx="88">
                  <c:v>63831</c:v>
                </c:pt>
                <c:pt idx="89">
                  <c:v>65458</c:v>
                </c:pt>
                <c:pt idx="90">
                  <c:v>67395</c:v>
                </c:pt>
                <c:pt idx="91">
                  <c:v>69291</c:v>
                </c:pt>
                <c:pt idx="92">
                  <c:v>70718</c:v>
                </c:pt>
                <c:pt idx="93">
                  <c:v>72371</c:v>
                </c:pt>
                <c:pt idx="94">
                  <c:v>73975</c:v>
                </c:pt>
                <c:pt idx="95">
                  <c:v>75579</c:v>
                </c:pt>
                <c:pt idx="96">
                  <c:v>77437</c:v>
                </c:pt>
                <c:pt idx="97">
                  <c:v>79111</c:v>
                </c:pt>
                <c:pt idx="98">
                  <c:v>81105</c:v>
                </c:pt>
                <c:pt idx="99">
                  <c:v>83142</c:v>
                </c:pt>
                <c:pt idx="100">
                  <c:v>85108</c:v>
                </c:pt>
                <c:pt idx="101">
                  <c:v>86779</c:v>
                </c:pt>
                <c:pt idx="102">
                  <c:v>88652</c:v>
                </c:pt>
                <c:pt idx="103">
                  <c:v>90240</c:v>
                </c:pt>
                <c:pt idx="104">
                  <c:v>92028</c:v>
                </c:pt>
                <c:pt idx="105">
                  <c:v>93662</c:v>
                </c:pt>
                <c:pt idx="106">
                  <c:v>95396</c:v>
                </c:pt>
                <c:pt idx="107">
                  <c:v>97422</c:v>
                </c:pt>
                <c:pt idx="108">
                  <c:v>99550</c:v>
                </c:pt>
                <c:pt idx="109">
                  <c:v>101541</c:v>
                </c:pt>
                <c:pt idx="110">
                  <c:v>104135</c:v>
                </c:pt>
                <c:pt idx="111">
                  <c:v>106025</c:v>
                </c:pt>
                <c:pt idx="112">
                  <c:v>108013</c:v>
                </c:pt>
                <c:pt idx="113">
                  <c:v>109988</c:v>
                </c:pt>
                <c:pt idx="114">
                  <c:v>111559</c:v>
                </c:pt>
                <c:pt idx="115">
                  <c:v>113436</c:v>
                </c:pt>
                <c:pt idx="116">
                  <c:v>115156</c:v>
                </c:pt>
                <c:pt idx="117">
                  <c:v>117493</c:v>
                </c:pt>
                <c:pt idx="118">
                  <c:v>119596</c:v>
                </c:pt>
                <c:pt idx="119">
                  <c:v>121720</c:v>
                </c:pt>
                <c:pt idx="120">
                  <c:v>123921</c:v>
                </c:pt>
                <c:pt idx="121">
                  <c:v>125696</c:v>
                </c:pt>
                <c:pt idx="122">
                  <c:v>127625</c:v>
                </c:pt>
                <c:pt idx="123">
                  <c:v>129591</c:v>
                </c:pt>
                <c:pt idx="124">
                  <c:v>131421</c:v>
                </c:pt>
                <c:pt idx="125">
                  <c:v>133394</c:v>
                </c:pt>
                <c:pt idx="126">
                  <c:v>135666</c:v>
                </c:pt>
                <c:pt idx="127">
                  <c:v>138100</c:v>
                </c:pt>
                <c:pt idx="128">
                  <c:v>140676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847-4484-86D2-F8F8F9322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20001"/>
        <c:axId val="50020002"/>
      </c:scatterChart>
      <c:valAx>
        <c:axId val="50020001"/>
        <c:scaling>
          <c:orientation val="minMax"/>
          <c:max val="46295"/>
          <c:min val="423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20002"/>
        <c:crosses val="autoZero"/>
        <c:crossBetween val="midCat"/>
        <c:majorUnit val="730.48500000000001"/>
      </c:valAx>
      <c:valAx>
        <c:axId val="50020002"/>
        <c:scaling>
          <c:orientation val="minMax"/>
          <c:max val="15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20001"/>
        <c:crosses val="autoZero"/>
        <c:crossBetween val="midCat"/>
        <c:majorUnit val="50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Projektit yhteensä</c:v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'Stardew Valley'!$A$2:$A$130</c:f>
              <c:numCache>
                <c:formatCode>mmm\ yyyy</c:formatCode>
                <c:ptCount val="129"/>
                <c:pt idx="0">
                  <c:v>42400</c:v>
                </c:pt>
                <c:pt idx="1">
                  <c:v>42429</c:v>
                </c:pt>
                <c:pt idx="2">
                  <c:v>42460</c:v>
                </c:pt>
                <c:pt idx="3">
                  <c:v>42490</c:v>
                </c:pt>
                <c:pt idx="4">
                  <c:v>42521</c:v>
                </c:pt>
                <c:pt idx="5">
                  <c:v>42551</c:v>
                </c:pt>
                <c:pt idx="6">
                  <c:v>42582</c:v>
                </c:pt>
                <c:pt idx="7">
                  <c:v>42613</c:v>
                </c:pt>
                <c:pt idx="8">
                  <c:v>42643</c:v>
                </c:pt>
                <c:pt idx="9">
                  <c:v>42674</c:v>
                </c:pt>
                <c:pt idx="10">
                  <c:v>42704</c:v>
                </c:pt>
                <c:pt idx="11">
                  <c:v>42735</c:v>
                </c:pt>
                <c:pt idx="12">
                  <c:v>42766</c:v>
                </c:pt>
                <c:pt idx="13">
                  <c:v>42794</c:v>
                </c:pt>
                <c:pt idx="14">
                  <c:v>42825</c:v>
                </c:pt>
                <c:pt idx="15">
                  <c:v>42855</c:v>
                </c:pt>
                <c:pt idx="16">
                  <c:v>42886</c:v>
                </c:pt>
                <c:pt idx="17">
                  <c:v>42916</c:v>
                </c:pt>
                <c:pt idx="18">
                  <c:v>42947</c:v>
                </c:pt>
                <c:pt idx="19">
                  <c:v>42978</c:v>
                </c:pt>
                <c:pt idx="20">
                  <c:v>43008</c:v>
                </c:pt>
                <c:pt idx="21">
                  <c:v>43039</c:v>
                </c:pt>
                <c:pt idx="22">
                  <c:v>43069</c:v>
                </c:pt>
                <c:pt idx="23">
                  <c:v>43100</c:v>
                </c:pt>
                <c:pt idx="24">
                  <c:v>43131</c:v>
                </c:pt>
                <c:pt idx="25">
                  <c:v>43159</c:v>
                </c:pt>
                <c:pt idx="26">
                  <c:v>43190</c:v>
                </c:pt>
                <c:pt idx="27">
                  <c:v>43220</c:v>
                </c:pt>
                <c:pt idx="28">
                  <c:v>43251</c:v>
                </c:pt>
                <c:pt idx="29">
                  <c:v>43281</c:v>
                </c:pt>
                <c:pt idx="30">
                  <c:v>43312</c:v>
                </c:pt>
                <c:pt idx="31">
                  <c:v>43343</c:v>
                </c:pt>
                <c:pt idx="32">
                  <c:v>43373</c:v>
                </c:pt>
                <c:pt idx="33">
                  <c:v>43404</c:v>
                </c:pt>
                <c:pt idx="34">
                  <c:v>43434</c:v>
                </c:pt>
                <c:pt idx="35">
                  <c:v>43465</c:v>
                </c:pt>
                <c:pt idx="36">
                  <c:v>43496</c:v>
                </c:pt>
                <c:pt idx="37">
                  <c:v>43524</c:v>
                </c:pt>
                <c:pt idx="38">
                  <c:v>43555</c:v>
                </c:pt>
                <c:pt idx="39">
                  <c:v>43585</c:v>
                </c:pt>
                <c:pt idx="40">
                  <c:v>43616</c:v>
                </c:pt>
                <c:pt idx="41">
                  <c:v>43646</c:v>
                </c:pt>
                <c:pt idx="42">
                  <c:v>43677</c:v>
                </c:pt>
                <c:pt idx="43">
                  <c:v>43708</c:v>
                </c:pt>
                <c:pt idx="44">
                  <c:v>43738</c:v>
                </c:pt>
                <c:pt idx="45">
                  <c:v>43769</c:v>
                </c:pt>
                <c:pt idx="46">
                  <c:v>43799</c:v>
                </c:pt>
                <c:pt idx="47">
                  <c:v>43830</c:v>
                </c:pt>
                <c:pt idx="48">
                  <c:v>43861</c:v>
                </c:pt>
                <c:pt idx="49">
                  <c:v>43890</c:v>
                </c:pt>
                <c:pt idx="50">
                  <c:v>43921</c:v>
                </c:pt>
                <c:pt idx="51">
                  <c:v>43951</c:v>
                </c:pt>
                <c:pt idx="52">
                  <c:v>43982</c:v>
                </c:pt>
                <c:pt idx="53">
                  <c:v>44012</c:v>
                </c:pt>
                <c:pt idx="54">
                  <c:v>44043</c:v>
                </c:pt>
                <c:pt idx="55">
                  <c:v>44074</c:v>
                </c:pt>
                <c:pt idx="56">
                  <c:v>44104</c:v>
                </c:pt>
                <c:pt idx="57">
                  <c:v>44135</c:v>
                </c:pt>
                <c:pt idx="58">
                  <c:v>44165</c:v>
                </c:pt>
                <c:pt idx="59">
                  <c:v>44196</c:v>
                </c:pt>
                <c:pt idx="60">
                  <c:v>44227</c:v>
                </c:pt>
                <c:pt idx="61">
                  <c:v>44255</c:v>
                </c:pt>
                <c:pt idx="62">
                  <c:v>44286</c:v>
                </c:pt>
                <c:pt idx="63">
                  <c:v>44316</c:v>
                </c:pt>
                <c:pt idx="64">
                  <c:v>44347</c:v>
                </c:pt>
                <c:pt idx="65">
                  <c:v>44377</c:v>
                </c:pt>
                <c:pt idx="66">
                  <c:v>44408</c:v>
                </c:pt>
                <c:pt idx="67">
                  <c:v>44439</c:v>
                </c:pt>
                <c:pt idx="68">
                  <c:v>44469</c:v>
                </c:pt>
                <c:pt idx="69">
                  <c:v>44500</c:v>
                </c:pt>
                <c:pt idx="70">
                  <c:v>44530</c:v>
                </c:pt>
                <c:pt idx="71">
                  <c:v>44561</c:v>
                </c:pt>
                <c:pt idx="72">
                  <c:v>44592</c:v>
                </c:pt>
                <c:pt idx="73">
                  <c:v>44620</c:v>
                </c:pt>
                <c:pt idx="74">
                  <c:v>44651</c:v>
                </c:pt>
                <c:pt idx="75">
                  <c:v>44681</c:v>
                </c:pt>
                <c:pt idx="76">
                  <c:v>44712</c:v>
                </c:pt>
                <c:pt idx="77">
                  <c:v>44742</c:v>
                </c:pt>
                <c:pt idx="78">
                  <c:v>44773</c:v>
                </c:pt>
                <c:pt idx="79">
                  <c:v>44804</c:v>
                </c:pt>
                <c:pt idx="80">
                  <c:v>44834</c:v>
                </c:pt>
                <c:pt idx="81">
                  <c:v>44865</c:v>
                </c:pt>
                <c:pt idx="82">
                  <c:v>44895</c:v>
                </c:pt>
                <c:pt idx="83">
                  <c:v>44926</c:v>
                </c:pt>
                <c:pt idx="84">
                  <c:v>44957</c:v>
                </c:pt>
                <c:pt idx="85">
                  <c:v>44985</c:v>
                </c:pt>
                <c:pt idx="86">
                  <c:v>45016</c:v>
                </c:pt>
                <c:pt idx="87">
                  <c:v>45046</c:v>
                </c:pt>
                <c:pt idx="88">
                  <c:v>45077</c:v>
                </c:pt>
                <c:pt idx="89">
                  <c:v>45107</c:v>
                </c:pt>
                <c:pt idx="90">
                  <c:v>45138</c:v>
                </c:pt>
                <c:pt idx="91">
                  <c:v>45169</c:v>
                </c:pt>
                <c:pt idx="92">
                  <c:v>45199</c:v>
                </c:pt>
                <c:pt idx="93">
                  <c:v>45230</c:v>
                </c:pt>
                <c:pt idx="94">
                  <c:v>45260</c:v>
                </c:pt>
                <c:pt idx="95">
                  <c:v>45291</c:v>
                </c:pt>
                <c:pt idx="96">
                  <c:v>45322</c:v>
                </c:pt>
                <c:pt idx="97">
                  <c:v>45351</c:v>
                </c:pt>
                <c:pt idx="98">
                  <c:v>45382</c:v>
                </c:pt>
                <c:pt idx="99">
                  <c:v>45412</c:v>
                </c:pt>
                <c:pt idx="100">
                  <c:v>45443</c:v>
                </c:pt>
                <c:pt idx="101">
                  <c:v>45473</c:v>
                </c:pt>
                <c:pt idx="102">
                  <c:v>45504</c:v>
                </c:pt>
                <c:pt idx="103">
                  <c:v>45535</c:v>
                </c:pt>
                <c:pt idx="104">
                  <c:v>45565</c:v>
                </c:pt>
                <c:pt idx="105">
                  <c:v>45596</c:v>
                </c:pt>
                <c:pt idx="106">
                  <c:v>45626</c:v>
                </c:pt>
                <c:pt idx="107">
                  <c:v>45657</c:v>
                </c:pt>
                <c:pt idx="108">
                  <c:v>45688</c:v>
                </c:pt>
                <c:pt idx="109">
                  <c:v>45716</c:v>
                </c:pt>
                <c:pt idx="110">
                  <c:v>45747</c:v>
                </c:pt>
                <c:pt idx="111">
                  <c:v>45777</c:v>
                </c:pt>
                <c:pt idx="112">
                  <c:v>45808</c:v>
                </c:pt>
                <c:pt idx="113">
                  <c:v>45838</c:v>
                </c:pt>
                <c:pt idx="114">
                  <c:v>45869</c:v>
                </c:pt>
                <c:pt idx="115">
                  <c:v>45900</c:v>
                </c:pt>
                <c:pt idx="116">
                  <c:v>45930</c:v>
                </c:pt>
                <c:pt idx="117">
                  <c:v>45961</c:v>
                </c:pt>
                <c:pt idx="118">
                  <c:v>45991</c:v>
                </c:pt>
                <c:pt idx="119">
                  <c:v>46022</c:v>
                </c:pt>
                <c:pt idx="120">
                  <c:v>46053</c:v>
                </c:pt>
                <c:pt idx="121">
                  <c:v>46081</c:v>
                </c:pt>
                <c:pt idx="122">
                  <c:v>46112</c:v>
                </c:pt>
                <c:pt idx="123">
                  <c:v>46142</c:v>
                </c:pt>
                <c:pt idx="124">
                  <c:v>46173</c:v>
                </c:pt>
                <c:pt idx="125">
                  <c:v>46203</c:v>
                </c:pt>
                <c:pt idx="126">
                  <c:v>46234</c:v>
                </c:pt>
                <c:pt idx="127">
                  <c:v>46265</c:v>
                </c:pt>
                <c:pt idx="128">
                  <c:v>46295</c:v>
                </c:pt>
              </c:numCache>
            </c:numRef>
          </c:xVal>
          <c:yVal>
            <c:numRef>
              <c:f>'Stardew Valley'!$B$2:$B$130</c:f>
              <c:numCache>
                <c:formatCode>#,##0</c:formatCode>
                <c:ptCount val="129"/>
                <c:pt idx="0">
                  <c:v>0</c:v>
                </c:pt>
                <c:pt idx="1">
                  <c:v>0</c:v>
                </c:pt>
                <c:pt idx="2">
                  <c:v>184</c:v>
                </c:pt>
                <c:pt idx="3">
                  <c:v>281</c:v>
                </c:pt>
                <c:pt idx="4">
                  <c:v>337</c:v>
                </c:pt>
                <c:pt idx="5">
                  <c:v>368</c:v>
                </c:pt>
                <c:pt idx="6">
                  <c:v>395</c:v>
                </c:pt>
                <c:pt idx="7">
                  <c:v>413</c:v>
                </c:pt>
                <c:pt idx="8">
                  <c:v>430</c:v>
                </c:pt>
                <c:pt idx="9">
                  <c:v>521</c:v>
                </c:pt>
                <c:pt idx="10">
                  <c:v>572</c:v>
                </c:pt>
                <c:pt idx="11">
                  <c:v>612</c:v>
                </c:pt>
                <c:pt idx="12">
                  <c:v>663</c:v>
                </c:pt>
                <c:pt idx="13">
                  <c:v>725</c:v>
                </c:pt>
                <c:pt idx="14">
                  <c:v>789</c:v>
                </c:pt>
                <c:pt idx="15">
                  <c:v>841</c:v>
                </c:pt>
                <c:pt idx="16">
                  <c:v>902</c:v>
                </c:pt>
                <c:pt idx="17">
                  <c:v>960</c:v>
                </c:pt>
                <c:pt idx="18">
                  <c:v>1013</c:v>
                </c:pt>
                <c:pt idx="19">
                  <c:v>1057</c:v>
                </c:pt>
                <c:pt idx="20">
                  <c:v>1111</c:v>
                </c:pt>
                <c:pt idx="21">
                  <c:v>1157</c:v>
                </c:pt>
                <c:pt idx="22">
                  <c:v>1208</c:v>
                </c:pt>
                <c:pt idx="23">
                  <c:v>1253</c:v>
                </c:pt>
                <c:pt idx="24">
                  <c:v>1315</c:v>
                </c:pt>
                <c:pt idx="25">
                  <c:v>1398</c:v>
                </c:pt>
                <c:pt idx="26">
                  <c:v>1458</c:v>
                </c:pt>
                <c:pt idx="27">
                  <c:v>1500</c:v>
                </c:pt>
                <c:pt idx="28">
                  <c:v>1648</c:v>
                </c:pt>
                <c:pt idx="29">
                  <c:v>1740</c:v>
                </c:pt>
                <c:pt idx="30">
                  <c:v>1818</c:v>
                </c:pt>
                <c:pt idx="31">
                  <c:v>1929</c:v>
                </c:pt>
                <c:pt idx="32">
                  <c:v>2008</c:v>
                </c:pt>
                <c:pt idx="33">
                  <c:v>2094</c:v>
                </c:pt>
                <c:pt idx="34">
                  <c:v>2166</c:v>
                </c:pt>
                <c:pt idx="35">
                  <c:v>2222</c:v>
                </c:pt>
                <c:pt idx="36">
                  <c:v>2344</c:v>
                </c:pt>
                <c:pt idx="37">
                  <c:v>2443</c:v>
                </c:pt>
                <c:pt idx="38">
                  <c:v>2559</c:v>
                </c:pt>
                <c:pt idx="39">
                  <c:v>2634</c:v>
                </c:pt>
                <c:pt idx="40">
                  <c:v>2725</c:v>
                </c:pt>
                <c:pt idx="41">
                  <c:v>2817</c:v>
                </c:pt>
                <c:pt idx="42">
                  <c:v>2894</c:v>
                </c:pt>
                <c:pt idx="43">
                  <c:v>2986</c:v>
                </c:pt>
                <c:pt idx="44">
                  <c:v>3054</c:v>
                </c:pt>
                <c:pt idx="45">
                  <c:v>3111</c:v>
                </c:pt>
                <c:pt idx="46">
                  <c:v>3193</c:v>
                </c:pt>
                <c:pt idx="47">
                  <c:v>3394</c:v>
                </c:pt>
                <c:pt idx="48">
                  <c:v>3553</c:v>
                </c:pt>
                <c:pt idx="49">
                  <c:v>3671</c:v>
                </c:pt>
                <c:pt idx="50">
                  <c:v>3791</c:v>
                </c:pt>
                <c:pt idx="51">
                  <c:v>3954</c:v>
                </c:pt>
                <c:pt idx="52">
                  <c:v>4111</c:v>
                </c:pt>
                <c:pt idx="53">
                  <c:v>4214</c:v>
                </c:pt>
                <c:pt idx="54">
                  <c:v>4311</c:v>
                </c:pt>
                <c:pt idx="55">
                  <c:v>4440</c:v>
                </c:pt>
                <c:pt idx="56">
                  <c:v>4528</c:v>
                </c:pt>
                <c:pt idx="57">
                  <c:v>4600</c:v>
                </c:pt>
                <c:pt idx="58">
                  <c:v>4676</c:v>
                </c:pt>
                <c:pt idx="59">
                  <c:v>4806</c:v>
                </c:pt>
                <c:pt idx="60">
                  <c:v>5106</c:v>
                </c:pt>
                <c:pt idx="61">
                  <c:v>5288</c:v>
                </c:pt>
                <c:pt idx="62">
                  <c:v>5439</c:v>
                </c:pt>
                <c:pt idx="63">
                  <c:v>5561</c:v>
                </c:pt>
                <c:pt idx="64">
                  <c:v>5705</c:v>
                </c:pt>
                <c:pt idx="65">
                  <c:v>5810</c:v>
                </c:pt>
                <c:pt idx="66">
                  <c:v>5922</c:v>
                </c:pt>
                <c:pt idx="67">
                  <c:v>6106</c:v>
                </c:pt>
                <c:pt idx="68">
                  <c:v>6274</c:v>
                </c:pt>
                <c:pt idx="69">
                  <c:v>6421</c:v>
                </c:pt>
                <c:pt idx="70">
                  <c:v>6549</c:v>
                </c:pt>
                <c:pt idx="71">
                  <c:v>6717</c:v>
                </c:pt>
                <c:pt idx="72">
                  <c:v>6999</c:v>
                </c:pt>
                <c:pt idx="73">
                  <c:v>7156</c:v>
                </c:pt>
                <c:pt idx="74">
                  <c:v>7405</c:v>
                </c:pt>
                <c:pt idx="75">
                  <c:v>7664</c:v>
                </c:pt>
                <c:pt idx="76">
                  <c:v>7883</c:v>
                </c:pt>
                <c:pt idx="77">
                  <c:v>8151</c:v>
                </c:pt>
                <c:pt idx="78">
                  <c:v>8460</c:v>
                </c:pt>
                <c:pt idx="79">
                  <c:v>8707</c:v>
                </c:pt>
                <c:pt idx="80">
                  <c:v>8958</c:v>
                </c:pt>
                <c:pt idx="81">
                  <c:v>9175</c:v>
                </c:pt>
                <c:pt idx="82">
                  <c:v>9401</c:v>
                </c:pt>
                <c:pt idx="83">
                  <c:v>9547</c:v>
                </c:pt>
                <c:pt idx="84">
                  <c:v>9806</c:v>
                </c:pt>
                <c:pt idx="85">
                  <c:v>10025</c:v>
                </c:pt>
                <c:pt idx="86">
                  <c:v>10293</c:v>
                </c:pt>
                <c:pt idx="87">
                  <c:v>10563</c:v>
                </c:pt>
                <c:pt idx="88">
                  <c:v>10806</c:v>
                </c:pt>
                <c:pt idx="89">
                  <c:v>11013</c:v>
                </c:pt>
                <c:pt idx="90">
                  <c:v>11242</c:v>
                </c:pt>
                <c:pt idx="91">
                  <c:v>11515</c:v>
                </c:pt>
                <c:pt idx="92">
                  <c:v>11730</c:v>
                </c:pt>
                <c:pt idx="93">
                  <c:v>12010</c:v>
                </c:pt>
                <c:pt idx="94">
                  <c:v>12285</c:v>
                </c:pt>
                <c:pt idx="95">
                  <c:v>12494</c:v>
                </c:pt>
                <c:pt idx="96">
                  <c:v>12717</c:v>
                </c:pt>
                <c:pt idx="97">
                  <c:v>12917</c:v>
                </c:pt>
                <c:pt idx="98">
                  <c:v>13688</c:v>
                </c:pt>
                <c:pt idx="99">
                  <c:v>15068</c:v>
                </c:pt>
                <c:pt idx="100">
                  <c:v>15955</c:v>
                </c:pt>
                <c:pt idx="101">
                  <c:v>16591</c:v>
                </c:pt>
                <c:pt idx="102">
                  <c:v>17131</c:v>
                </c:pt>
                <c:pt idx="103">
                  <c:v>17659</c:v>
                </c:pt>
                <c:pt idx="104">
                  <c:v>18136</c:v>
                </c:pt>
                <c:pt idx="105">
                  <c:v>18642</c:v>
                </c:pt>
                <c:pt idx="106">
                  <c:v>19138</c:v>
                </c:pt>
                <c:pt idx="107">
                  <c:v>19640</c:v>
                </c:pt>
                <c:pt idx="108">
                  <c:v>20242</c:v>
                </c:pt>
                <c:pt idx="109">
                  <c:v>20662</c:v>
                </c:pt>
                <c:pt idx="110">
                  <c:v>21189</c:v>
                </c:pt>
                <c:pt idx="111">
                  <c:v>21743</c:v>
                </c:pt>
                <c:pt idx="112">
                  <c:v>22225</c:v>
                </c:pt>
                <c:pt idx="113">
                  <c:v>22793</c:v>
                </c:pt>
                <c:pt idx="114">
                  <c:v>23448</c:v>
                </c:pt>
                <c:pt idx="115">
                  <c:v>24166</c:v>
                </c:pt>
                <c:pt idx="116">
                  <c:v>24748</c:v>
                </c:pt>
                <c:pt idx="117">
                  <c:v>25373</c:v>
                </c:pt>
                <c:pt idx="118">
                  <c:v>25930</c:v>
                </c:pt>
                <c:pt idx="119">
                  <c:v>26475</c:v>
                </c:pt>
                <c:pt idx="120">
                  <c:v>27340</c:v>
                </c:pt>
                <c:pt idx="121">
                  <c:v>28131</c:v>
                </c:pt>
                <c:pt idx="122">
                  <c:v>29144</c:v>
                </c:pt>
                <c:pt idx="123">
                  <c:v>29790</c:v>
                </c:pt>
                <c:pt idx="124">
                  <c:v>30603</c:v>
                </c:pt>
                <c:pt idx="125">
                  <c:v>31414</c:v>
                </c:pt>
                <c:pt idx="126">
                  <c:v>32198</c:v>
                </c:pt>
                <c:pt idx="127">
                  <c:v>33190</c:v>
                </c:pt>
                <c:pt idx="128">
                  <c:v>34135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77-4934-9DE6-A7785CAC7D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30001"/>
        <c:axId val="50030002"/>
      </c:scatterChart>
      <c:valAx>
        <c:axId val="50030001"/>
        <c:scaling>
          <c:orientation val="minMax"/>
          <c:max val="46295"/>
          <c:min val="423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30002"/>
        <c:crosses val="autoZero"/>
        <c:crossBetween val="midCat"/>
        <c:majorUnit val="730.48500000000001"/>
      </c:valAx>
      <c:valAx>
        <c:axId val="50030002"/>
        <c:scaling>
          <c:orientation val="minMax"/>
          <c:max val="4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30001"/>
        <c:crosses val="autoZero"/>
        <c:crossBetween val="midCat"/>
        <c:majorUnit val="10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Projektit yhteensä</c:v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'Cyberpunk 2077'!$A$2:$A$72</c:f>
              <c:numCache>
                <c:formatCode>mmm\ yyyy</c:formatCode>
                <c:ptCount val="71"/>
                <c:pt idx="0">
                  <c:v>44165</c:v>
                </c:pt>
                <c:pt idx="1">
                  <c:v>44196</c:v>
                </c:pt>
                <c:pt idx="2">
                  <c:v>44227</c:v>
                </c:pt>
                <c:pt idx="3">
                  <c:v>44255</c:v>
                </c:pt>
                <c:pt idx="4">
                  <c:v>44286</c:v>
                </c:pt>
                <c:pt idx="5">
                  <c:v>44316</c:v>
                </c:pt>
                <c:pt idx="6">
                  <c:v>44347</c:v>
                </c:pt>
                <c:pt idx="7">
                  <c:v>44377</c:v>
                </c:pt>
                <c:pt idx="8">
                  <c:v>44408</c:v>
                </c:pt>
                <c:pt idx="9">
                  <c:v>44439</c:v>
                </c:pt>
                <c:pt idx="10">
                  <c:v>44469</c:v>
                </c:pt>
                <c:pt idx="11">
                  <c:v>44500</c:v>
                </c:pt>
                <c:pt idx="12">
                  <c:v>44530</c:v>
                </c:pt>
                <c:pt idx="13">
                  <c:v>44561</c:v>
                </c:pt>
                <c:pt idx="14">
                  <c:v>44592</c:v>
                </c:pt>
                <c:pt idx="15">
                  <c:v>44620</c:v>
                </c:pt>
                <c:pt idx="16">
                  <c:v>44651</c:v>
                </c:pt>
                <c:pt idx="17">
                  <c:v>44681</c:v>
                </c:pt>
                <c:pt idx="18">
                  <c:v>44712</c:v>
                </c:pt>
                <c:pt idx="19">
                  <c:v>44742</c:v>
                </c:pt>
                <c:pt idx="20">
                  <c:v>44773</c:v>
                </c:pt>
                <c:pt idx="21">
                  <c:v>44804</c:v>
                </c:pt>
                <c:pt idx="22">
                  <c:v>44834</c:v>
                </c:pt>
                <c:pt idx="23">
                  <c:v>44865</c:v>
                </c:pt>
                <c:pt idx="24">
                  <c:v>44895</c:v>
                </c:pt>
                <c:pt idx="25">
                  <c:v>44926</c:v>
                </c:pt>
                <c:pt idx="26">
                  <c:v>44957</c:v>
                </c:pt>
                <c:pt idx="27">
                  <c:v>44985</c:v>
                </c:pt>
                <c:pt idx="28">
                  <c:v>45016</c:v>
                </c:pt>
                <c:pt idx="29">
                  <c:v>45046</c:v>
                </c:pt>
                <c:pt idx="30">
                  <c:v>45077</c:v>
                </c:pt>
                <c:pt idx="31">
                  <c:v>45107</c:v>
                </c:pt>
                <c:pt idx="32">
                  <c:v>45138</c:v>
                </c:pt>
                <c:pt idx="33">
                  <c:v>45169</c:v>
                </c:pt>
                <c:pt idx="34">
                  <c:v>45199</c:v>
                </c:pt>
                <c:pt idx="35">
                  <c:v>45230</c:v>
                </c:pt>
                <c:pt idx="36">
                  <c:v>45260</c:v>
                </c:pt>
                <c:pt idx="37">
                  <c:v>45291</c:v>
                </c:pt>
                <c:pt idx="38">
                  <c:v>45322</c:v>
                </c:pt>
                <c:pt idx="39">
                  <c:v>45351</c:v>
                </c:pt>
                <c:pt idx="40">
                  <c:v>45382</c:v>
                </c:pt>
                <c:pt idx="41">
                  <c:v>45412</c:v>
                </c:pt>
                <c:pt idx="42">
                  <c:v>45443</c:v>
                </c:pt>
                <c:pt idx="43">
                  <c:v>45473</c:v>
                </c:pt>
                <c:pt idx="44">
                  <c:v>45504</c:v>
                </c:pt>
                <c:pt idx="45">
                  <c:v>45535</c:v>
                </c:pt>
                <c:pt idx="46">
                  <c:v>45565</c:v>
                </c:pt>
                <c:pt idx="47">
                  <c:v>45596</c:v>
                </c:pt>
                <c:pt idx="48">
                  <c:v>45626</c:v>
                </c:pt>
                <c:pt idx="49">
                  <c:v>45657</c:v>
                </c:pt>
                <c:pt idx="50">
                  <c:v>45688</c:v>
                </c:pt>
                <c:pt idx="51">
                  <c:v>45716</c:v>
                </c:pt>
                <c:pt idx="52">
                  <c:v>45747</c:v>
                </c:pt>
                <c:pt idx="53">
                  <c:v>45777</c:v>
                </c:pt>
                <c:pt idx="54">
                  <c:v>45808</c:v>
                </c:pt>
                <c:pt idx="55">
                  <c:v>45838</c:v>
                </c:pt>
                <c:pt idx="56">
                  <c:v>45869</c:v>
                </c:pt>
                <c:pt idx="57">
                  <c:v>45900</c:v>
                </c:pt>
                <c:pt idx="58">
                  <c:v>45930</c:v>
                </c:pt>
                <c:pt idx="59">
                  <c:v>45961</c:v>
                </c:pt>
                <c:pt idx="60">
                  <c:v>45991</c:v>
                </c:pt>
                <c:pt idx="61">
                  <c:v>46022</c:v>
                </c:pt>
                <c:pt idx="62">
                  <c:v>46053</c:v>
                </c:pt>
                <c:pt idx="63">
                  <c:v>46081</c:v>
                </c:pt>
                <c:pt idx="64">
                  <c:v>46112</c:v>
                </c:pt>
                <c:pt idx="65">
                  <c:v>46142</c:v>
                </c:pt>
                <c:pt idx="66">
                  <c:v>46173</c:v>
                </c:pt>
                <c:pt idx="67">
                  <c:v>46203</c:v>
                </c:pt>
                <c:pt idx="68">
                  <c:v>46234</c:v>
                </c:pt>
                <c:pt idx="69">
                  <c:v>46265</c:v>
                </c:pt>
                <c:pt idx="70">
                  <c:v>46295</c:v>
                </c:pt>
              </c:numCache>
            </c:numRef>
          </c:cat>
          <c:val>
            <c:numRef>
              <c:f>'Cyberpunk 2077'!$B$2:$B$72</c:f>
              <c:numCache>
                <c:formatCode>#,##0</c:formatCode>
                <c:ptCount val="71"/>
                <c:pt idx="0">
                  <c:v>0</c:v>
                </c:pt>
                <c:pt idx="1">
                  <c:v>309</c:v>
                </c:pt>
                <c:pt idx="2">
                  <c:v>775</c:v>
                </c:pt>
                <c:pt idx="3">
                  <c:v>1044</c:v>
                </c:pt>
                <c:pt idx="4">
                  <c:v>1235</c:v>
                </c:pt>
                <c:pt idx="5">
                  <c:v>1479</c:v>
                </c:pt>
                <c:pt idx="6">
                  <c:v>1627</c:v>
                </c:pt>
                <c:pt idx="7">
                  <c:v>1720</c:v>
                </c:pt>
                <c:pt idx="8">
                  <c:v>1771</c:v>
                </c:pt>
                <c:pt idx="9">
                  <c:v>1871</c:v>
                </c:pt>
                <c:pt idx="10">
                  <c:v>1935</c:v>
                </c:pt>
                <c:pt idx="11">
                  <c:v>2006</c:v>
                </c:pt>
                <c:pt idx="12">
                  <c:v>2089</c:v>
                </c:pt>
                <c:pt idx="13">
                  <c:v>2165</c:v>
                </c:pt>
                <c:pt idx="14">
                  <c:v>2246</c:v>
                </c:pt>
                <c:pt idx="15">
                  <c:v>2392</c:v>
                </c:pt>
                <c:pt idx="16">
                  <c:v>2569</c:v>
                </c:pt>
                <c:pt idx="17">
                  <c:v>2699</c:v>
                </c:pt>
                <c:pt idx="18">
                  <c:v>2809</c:v>
                </c:pt>
                <c:pt idx="19">
                  <c:v>2931</c:v>
                </c:pt>
                <c:pt idx="20">
                  <c:v>3072</c:v>
                </c:pt>
                <c:pt idx="21">
                  <c:v>3216</c:v>
                </c:pt>
                <c:pt idx="22">
                  <c:v>3474</c:v>
                </c:pt>
                <c:pt idx="23">
                  <c:v>3911</c:v>
                </c:pt>
                <c:pt idx="24">
                  <c:v>4168</c:v>
                </c:pt>
                <c:pt idx="25">
                  <c:v>4393</c:v>
                </c:pt>
                <c:pt idx="26">
                  <c:v>4626</c:v>
                </c:pt>
                <c:pt idx="27">
                  <c:v>4806</c:v>
                </c:pt>
                <c:pt idx="28">
                  <c:v>5051</c:v>
                </c:pt>
                <c:pt idx="29">
                  <c:v>5230</c:v>
                </c:pt>
                <c:pt idx="30">
                  <c:v>5370</c:v>
                </c:pt>
                <c:pt idx="31">
                  <c:v>5546</c:v>
                </c:pt>
                <c:pt idx="32">
                  <c:v>5705</c:v>
                </c:pt>
                <c:pt idx="33">
                  <c:v>5828</c:v>
                </c:pt>
                <c:pt idx="34">
                  <c:v>6081</c:v>
                </c:pt>
                <c:pt idx="35">
                  <c:v>6868</c:v>
                </c:pt>
                <c:pt idx="36">
                  <c:v>7409</c:v>
                </c:pt>
                <c:pt idx="37">
                  <c:v>7868</c:v>
                </c:pt>
                <c:pt idx="38">
                  <c:v>8356</c:v>
                </c:pt>
                <c:pt idx="39">
                  <c:v>8815</c:v>
                </c:pt>
                <c:pt idx="40">
                  <c:v>9279</c:v>
                </c:pt>
                <c:pt idx="41">
                  <c:v>9636</c:v>
                </c:pt>
                <c:pt idx="42">
                  <c:v>10065</c:v>
                </c:pt>
                <c:pt idx="43">
                  <c:v>10431</c:v>
                </c:pt>
                <c:pt idx="44">
                  <c:v>10761</c:v>
                </c:pt>
                <c:pt idx="45">
                  <c:v>11093</c:v>
                </c:pt>
                <c:pt idx="46">
                  <c:v>11386</c:v>
                </c:pt>
                <c:pt idx="47">
                  <c:v>11866</c:v>
                </c:pt>
                <c:pt idx="48">
                  <c:v>12325</c:v>
                </c:pt>
                <c:pt idx="49">
                  <c:v>12780</c:v>
                </c:pt>
                <c:pt idx="50">
                  <c:v>13294</c:v>
                </c:pt>
                <c:pt idx="51">
                  <c:v>13729</c:v>
                </c:pt>
                <c:pt idx="52">
                  <c:v>14191</c:v>
                </c:pt>
                <c:pt idx="53">
                  <c:v>14665</c:v>
                </c:pt>
                <c:pt idx="54">
                  <c:v>15101</c:v>
                </c:pt>
                <c:pt idx="55">
                  <c:v>15578</c:v>
                </c:pt>
                <c:pt idx="56">
                  <c:v>16067</c:v>
                </c:pt>
                <c:pt idx="57">
                  <c:v>16714</c:v>
                </c:pt>
                <c:pt idx="58">
                  <c:v>17323</c:v>
                </c:pt>
                <c:pt idx="59">
                  <c:v>17852</c:v>
                </c:pt>
                <c:pt idx="60">
                  <c:v>18318</c:v>
                </c:pt>
                <c:pt idx="61">
                  <c:v>18793</c:v>
                </c:pt>
                <c:pt idx="62">
                  <c:v>19311</c:v>
                </c:pt>
                <c:pt idx="63">
                  <c:v>19887</c:v>
                </c:pt>
                <c:pt idx="64">
                  <c:v>20374</c:v>
                </c:pt>
                <c:pt idx="65">
                  <c:v>20878</c:v>
                </c:pt>
                <c:pt idx="66">
                  <c:v>21448</c:v>
                </c:pt>
                <c:pt idx="67">
                  <c:v>22022</c:v>
                </c:pt>
                <c:pt idx="68">
                  <c:v>22720</c:v>
                </c:pt>
                <c:pt idx="69">
                  <c:v>23568</c:v>
                </c:pt>
                <c:pt idx="70">
                  <c:v>24371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51-43C6-9A7E-097AEC70D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040001"/>
        <c:axId val="50040002"/>
      </c:lineChart>
      <c:dateAx>
        <c:axId val="50040001"/>
        <c:scaling>
          <c:orientation val="minMax"/>
          <c:max val="46295"/>
          <c:min val="4416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40002"/>
        <c:crosses val="autoZero"/>
        <c:auto val="1"/>
        <c:lblOffset val="100"/>
        <c:baseTimeUnit val="months"/>
        <c:majorUnit val="1"/>
        <c:majorTimeUnit val="years"/>
      </c:dateAx>
      <c:valAx>
        <c:axId val="50040002"/>
        <c:scaling>
          <c:orientation val="minMax"/>
          <c:max val="3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40001"/>
        <c:crosses val="autoZero"/>
        <c:crossBetween val="midCat"/>
        <c:majorUnit val="10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72DFD-B770-498D-91B3-77C9895564C7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2DF2B-EFE3-47E8-85C4-EF029136E13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29777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7E27E-7643-BB8E-5BFA-E96826FF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09034-EE6D-1A7F-1A07-B2958F794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B150F-5F49-BC63-7106-BE1A3D501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A67EC-A00E-295B-DC1C-7AAC9007C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2446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585C-8E71-01DD-1276-720767B9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C02EC-6B74-D563-135C-62F5E64E1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AACD8-BCB4-0CDE-737C-14E56173D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D2348-BEBB-0387-6BE2-C61894FAC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676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E972-C11B-CEE1-7717-81D59265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F6F36-5008-70A1-47DE-21892BDB4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B9C0B-B25C-7CCC-17DB-4577D3C4A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2C5BE-C11E-441B-E882-2931CD769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37836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F035-C6C8-CA93-A130-EA78D5FB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2B614-1AC6-4620-BD1E-A9BF3BE57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6C588-0BD5-74A6-709C-1BCFE134C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68E39-3188-5E80-6D75-740B1EC7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6326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EBE83-7A0C-423F-D4A6-74C0F6C4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BA690-A198-0241-53BF-DDD968A0B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186A-1D80-ADD2-C45A-994A250CC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FEFCC-7FEC-444A-DD30-F0A2C1A1F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79221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1363-A689-E73E-77B1-D68B3BA7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1FD5E-2315-3688-1C85-F46E5EADB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520F5-24D0-B5FD-C308-D9F4852F9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FBE6D-3DAE-23B2-77CA-1DE789E8DA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54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F0BA0-16F4-590B-CF8B-DF6959E8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81BDB-4EA0-B926-40AD-C57634158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EEE19-4792-74EB-BEC9-C18A6D02D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2D792-7F6A-896C-19E9-3CA64B30E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00764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A1BBE0-B9DA-4A71-B5F8-8BA638ED6AE7}" type="slidenum">
              <a:rPr lang="fi-FI" smtClean="0"/>
              <a:t>14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4031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0EFE-4768-D680-ABA6-2AD3119C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71F25-90D6-F030-26DD-2A33B5B8D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E2824-75C9-DA64-FF2C-F41D86673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01FC2-187D-FBF7-55F9-80D1359F7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48652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650C-8194-5427-43F0-850F9EF2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638F7-74B6-2827-4ECC-D9B3015BA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525C9-9AD3-2089-67F5-42916E14D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455DE-3C62-C076-D38E-C62693107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1035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8C61-120B-D611-AA92-E2F4CB2B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D32E1-1ACD-D6D6-2E84-0900D8C43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0111A-2552-1BF9-F4FD-E50DDF42D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8B085-1E7A-CCC4-8051-A7B37D1BA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26412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E158A-5C79-C715-542E-BD104392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63DBF-785D-0851-411C-0FD944FFE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D3611-9880-E6C2-F4A3-C522E6598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300E7-5DBC-A4BF-73C6-5D4375851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07190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00092-FC32-385A-B2B0-BC90EE46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76491-BA7E-8971-5B96-E73036347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AECB9-1995-350F-8B91-AD27F3BF8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F4FA8-36D6-0A3A-1D70-C273C31B7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19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42021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8BBD-FB78-02FC-8490-89C936096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69873-8A7A-4A9E-AD06-638F3B9D1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06A26-A865-D791-522B-6E39AFA94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ED414-07B3-D956-E7A5-A1639BD15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44976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8D7A-1D9C-02F6-74E5-AEC65BB6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EFF01-DC83-F347-1FC6-D8E0B85E2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5B27E-472D-09D7-63CE-037B0B584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FE14E-4A31-7DB5-18C8-5311F553A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07026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E985-606A-E55F-8013-0E469712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6E7F8-9869-51D5-E7EA-FB1DDE2E1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2B862-7017-6FBA-2400-F6D680775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B1586-F3A6-D36A-81F6-EC0CD5DA0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04524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274F-9D94-E6C7-2CB9-1B4C0303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37317-05DB-9407-A63E-BE13E3975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97E4F-7D65-569B-8597-4EB078135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81FDC-159D-385F-AC3A-14404B406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33038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8765-D43B-26AC-A791-70611BE3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9BAF6-461C-828A-5A96-CF68FA8A6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0C6C7-C985-121A-A51E-1FDDB02D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67BC2-4175-D8FB-6E0D-3CFDD17F8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761263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939FB-E0A2-5C0E-308F-66F59220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0FE29-05D9-4B1F-FD2A-9983113EA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51332-A812-2A2E-B69C-ABA2E15E4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D7A10-2AB9-6439-E062-77C115D24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38751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1A24-51B8-E091-6CF0-E166A36B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CBFC2-EB8A-3446-9F2C-842751E58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21956-D9AC-4F8D-A94E-AE784FEB3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51266-A89D-7D98-5EF1-9BAF49E4A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027722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8D0F-DBA4-0E5F-4F64-ED484501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B7B5A-8788-69E4-156E-0568AD97D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C7F1B-E63B-1EBA-EE6F-6539BD276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73213-3019-2A0F-84FC-305C5639D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20918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DE60-0AC4-FB57-9562-45ADFB52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8F488-193B-064F-95B7-6CC27AD8F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91619-3A23-73E0-0432-C0EF0F4B2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10A4F-4EA3-B4BD-C195-9F5058AFE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47589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8063-E1D7-1C36-EDF8-C52F0C50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3464A-E3ED-4E26-7D74-5BC72E58C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12E2E-3634-4258-70CA-04F693751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A024E-1CDC-9DF7-03E8-5C6FB65ED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29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443858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B7262-B5EE-BCF0-7667-16C55B57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7DC06-B185-6993-7C66-F3B20C10D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46990-BB0A-D56E-7018-B0C8FF465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3C538-3F71-EC61-9B9C-9A6B9FFCC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645931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BDA3-EFA4-BF3D-F871-83A515089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2774E-6D5E-5880-79BE-532A01429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1D38C-430F-49D4-2A51-132B254A7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D3D11-FD5F-92CA-343F-38D1BFC22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66498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DF29-0B67-FE4E-B8BC-1E7F44DB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57524-AE81-A2EE-BADC-E9616C156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DE9D2-2585-3ADD-8234-CCC0FA4D7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4B3DD-7951-724C-3B0A-A6450D9E3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609140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357C9-A281-E1A8-D88E-5A8A7CAE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676BC-DDC0-50A2-F16D-DE80C594A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C50C4-FFE4-E467-0337-32C1EA714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FC4B0-EC87-8FDA-A3D9-11E82AD44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662598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F3C78-222E-7225-EFC2-545F9E14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D200D-D240-88F9-7FCD-102DFCF32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19F3F-CD60-959B-9B9F-1E093F4E3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761DA-E052-EFBC-30FE-512CE30C2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001737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D6FB-F07A-2E8F-A650-F0478FA0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6F4EC-47BD-81D3-1553-C79E9859E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D70A3-81EF-53E6-BB41-B47E59ADE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66AFB-19D6-35C2-2F00-F9C7ABCDE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629593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7FA5-07FA-41C0-1792-C8DCD377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CB4D6-217C-E714-8EF6-416C1A983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3D097-EE08-3AE5-63D4-8F2066ABF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81D3C-BB75-BF66-03E0-1BBB5B1B6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508177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B1EDA-2BB6-E945-22AA-258677D5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7888D-B87C-A262-419C-A6C1079EB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3DEC0-58F3-EB08-CB95-F3B34B0A6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13F70-6DA2-B2B9-CB0E-39ABFF68B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807987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E0C0-6970-1F07-10B4-7D55C0B5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CCA1C-E59A-D981-403D-6E0AE1015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FCED5-9D3D-0557-8EA5-156D99CB2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73EAD-3D55-7F82-7351-C53A2B620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864152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6D367-4C1A-99C0-8C49-51DBA1F1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4A06B-15A5-093D-9176-673AE7FCC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C0B51-53B8-C237-98A8-F3AB7B85D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50E8-5EA9-5050-A2FC-621852A85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39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324571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DAB4-EDA7-1389-8FDB-71A65A41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1C2DA-9371-673F-9738-27C7E5DC7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9B0A1-374C-7045-1B00-2EA76C39E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BD14C-6241-7C75-1079-324E2BDDB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063432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91FE-8AE6-6F4C-8D96-6A47BD53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315DD-A365-2CB6-C3BA-2544F8929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3BAA6-3970-F884-AF20-18A2AC9D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51B04-C81C-53BD-E17E-6241C2699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417291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4A2EA-14E6-948F-D336-1D6E86C2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D89F7-A728-D8FC-EBAD-3ED8D2824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8EC9B-C85D-7F6B-4F4B-2457CA07B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D931E-B027-FF9F-04A5-C988E5370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690989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71BA9-E118-F2F3-C662-DC242FC5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8C52B-13A8-938A-BA32-E69FFF849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A040E-D030-2F12-1E64-B1412A55E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752C9-0841-82CB-2052-B036A027A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235551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2FCA-0524-2374-430B-21468F60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F7163-4446-5F88-D4FD-D8CCD6B6F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CE820-7B00-A477-15FA-CE47850F1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AF6CC-41BF-327A-6479-DD5707C3C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925033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653E-5E87-5E0C-463B-ABBF8DD4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1308C-DB18-6B36-2962-D0B727B4B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2F52D-5805-C1FC-46E6-607E4B73D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A7BD5-C8FD-3022-FA4C-C70B2567C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385669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2621E-4E6E-AE4E-CCFC-EC4141FB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7C64F-BD58-0D83-95B0-21B4070B8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5E8B7-56A2-F7B4-F81D-113C2DC46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B6ABB-EEED-3D03-B161-96418D3B9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293088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006D-5EE5-C1C1-1C13-F4652868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5051B-45BD-29DE-6074-5EAABC14B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B14E1-108B-6C83-41FA-CE50D7F81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947FC-4664-ACCC-31BB-47C3B7930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938480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6197F-9D33-570E-23FF-F56BFCFA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1E71A-FEB1-09A5-5498-D56EDB1CA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D1B75-7764-5512-BA5B-410B416FB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84D49-B77F-1636-AD02-29FAB4CAA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045547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6724-5A40-EEBA-A9DB-BC3C1671E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4D17D-EE6A-5742-3C4B-5C0F1414A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3FB98-DA10-E102-F602-73DBE6057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D0F4C-4430-08B9-1F3A-FAC06BB20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49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356387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B2F3-15D2-6C0C-FF61-A33B9275D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F8EAF-B9B5-304F-257B-C7943131C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302BB-24CF-6076-BEEA-606767B44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9BDFB-39A4-65DC-7AE1-433F3672C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956095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0109-2E34-9D5D-3924-330B29BE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C22CD-3D97-114E-68D3-A060CD42F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117D1-EBB9-1F64-DB76-11F40F506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0A2D6-D17E-6786-A2AC-99C7294FE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377818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B29F0-C055-3EA8-E521-6B3193AC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9A0D9-76BC-6678-8040-32B3D51BD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C6B44-DC66-DBB4-A04A-880CB4B48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F2D10-3F3C-B765-3EAF-C248130AD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257151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6814-1871-0CD8-F956-E71EDC14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200C2-5DD6-76D7-3907-695B9003D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218BC-1B4E-7325-1DE8-9D7AB2337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8B09A-477C-FDAA-5A63-229A5B4D5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091095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DFB4-1EA1-755D-97D6-0069A2E8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F6E50-7F90-A54C-0CFA-5886AD6DC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61115-23D8-9868-799F-EFA7D738B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2A9CD-FE9B-940D-20D4-6F2A3745C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747929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B1111-E786-3EA7-B37D-5A3365DD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D8F43-A529-109E-BEE5-1EE462EBE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216A0-E049-AD32-D2D3-FDA6D8D7C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BE2A9-E972-DF49-7189-070CE7CC9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194275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E3E17-551B-8270-2B4F-B55559E3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85D04-682B-40D9-C312-CC62A368B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C2339-73D1-6B89-8298-F9AE81A0C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7937E-797A-D02E-6B56-C08EE4E67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692660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547FB-7956-876B-2DDE-FCDEF292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F185D-3831-0FB9-7A49-9940B359E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4E0CB-969C-EB9C-42DA-AE312EE03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15C6E-4C61-3B69-66C8-ABA832B57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6961648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D488-755B-1A48-8918-F68A4B328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0C6C7-94E9-12BA-806E-A739A3262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7EBB0-6DC9-0BB7-9DC7-E0A2EB3ED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BC59-B7F3-9F6A-AD3F-E5E477C9A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702773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C32A-7252-8671-253E-8CCCA062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DB377-E973-9A0F-5DAC-73203C89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8BD18-E2A9-82DA-B09E-3F42F93AA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AE463-F1DF-443C-4513-13B89D912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59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146201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1DE7-55B7-5E09-79C0-AA76E23A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B2056-77F7-1682-BB05-795442EDE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03510-CE01-138A-AC72-A069C7AFD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FCAF9-AD2D-6E1D-768C-379FB1B32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5230706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61D8-A59A-F77F-C86A-E15F0EE5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EDDB2-E79D-63EE-2BF5-876D95A5F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1DF2B-41E4-0FC5-13DF-DA838F766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4D82E-0B3A-0310-E02C-3859A5BFA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451324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20D82-8EDC-3CF1-F732-AE2FB8F1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96ACD-D599-4120-7F83-F8071A3C8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D5B6B-FCDF-50FB-0EEE-40325DB79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32CFE-EBCB-7333-A053-E905A8068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7127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593D-1F5E-6DA6-08EF-815C365D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8CD7E-44DD-C530-C8FF-FD0C89F5D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4F9CA-2FCD-D7E8-EADA-C77FC1262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3067F-E9D6-B410-9098-3EB0D61C8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4739778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5CBA-7DA8-FCEE-CA3A-9895EFA9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8BDD7-7F21-FCEC-BA69-5F2EDE971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4B91D-74B4-7A46-DCD4-C9D4322C2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ACEB5-B463-B8BE-9C47-6981AA94C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263102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BAF07-93E7-BC8C-CEFE-0416C18C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5DFD7-BFE9-7485-ABE6-9104E50BB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B5E7A-FC52-9BC5-7FD8-C3D6A16E5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AC678-3FDD-0D28-919F-79789AC4A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689303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7200-502A-CAAB-4CEB-CDA6CD0F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E7035-2932-43CC-2CAF-F5B7AA2EE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BCA04-35A6-57CF-10C9-F80DB46D1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0B337-BAC2-9ABF-1ADE-79CAFA292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0619806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50DD2-C75D-2A86-1A6F-0D9EA2E9B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7A044-42CC-1761-8F3D-68FC90806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8E0E0-61C1-8F82-7F62-81D4C7F59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7B582-85CD-7B56-AFC4-56770B877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1946559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C3E62-4A8C-551F-E8CF-7FDCFEC9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7252E-BAB4-AA7A-F2ED-A657C9E06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A2B93-D441-F9EA-4F15-275B876B4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46D5-B346-5D04-8157-08167C56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7743823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A6589-22B0-FA11-D12D-8ABD1AFB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25E39-FD89-D3A8-D1DF-1376C5286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13B7A-1522-A015-20DA-1B9B06F67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824C1-5877-3785-8261-610292CCB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69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1771226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4D84-B904-0233-71D1-1B05B059F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17451-E6FA-7C0E-E843-4EDE508CB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C0EB0-B11A-175F-3854-742DE55E1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4783C-8224-637B-E110-3736767FF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70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3037914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A4D1-9820-9C35-B3FE-9D65904E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228EB-6768-60E6-92EF-9425AF68D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73300-63E9-B0C3-9B7B-1A08844A2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894B2-256A-BC67-D7C4-7013EF021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71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030376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9EF4E-BDC5-7E5E-B340-629ED8C4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262AA-A5D3-28F1-A02B-68AE03528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34D43-269F-FFB3-83BB-EC784185A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DC23C-9A7E-A1D7-C609-2D964F90C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72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2732904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71141-0280-533A-68C8-BDEFDB2B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2C84F-A66E-9BDD-0658-AAD18B781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C5320-D9E8-CED9-8056-C4BDB5B0A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95FE3-478A-B43E-6603-CDBF00946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73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346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2616B-77B7-440A-36AE-FC9E408E8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F52F8-4460-2E2F-43DA-3CC410B42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E01F1-913C-F49D-2C28-4506EFD69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926AE-06A4-552E-04C7-2560BDDEE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74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2015153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2DF2B-EFE3-47E8-85C4-EF029136E135}" type="slidenum">
              <a:rPr lang="en-FI" smtClean="0"/>
              <a:t>75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97288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465D-28D9-F4CF-5E9E-B4FA8C85E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FC6F9-130A-4355-B1DA-92D62602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312C0-0871-F049-4AC2-23C32EF2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97DCA-67D5-CC94-A7C8-31499C99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0F6C6-EC51-7365-5A9C-2D457FEC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5081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D5DB-22E1-3E60-2B2A-EF7AA075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D7D7C-5F03-6A66-6BF2-E3D27AE38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1EA99-0F92-A574-0CD7-E7758326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41E49-B460-4A80-46BE-8405BC74E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82BA8-C77E-0602-176F-F53FC693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80479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D0DC-237D-F348-C54E-833DAF9EE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4C01A-01D6-AF06-84C4-DD33F0598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69DB3-A1D7-8EBD-B70D-C29D8EB3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E91CC-7AA5-FE6B-4A2B-1435ADC4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12BB3-95DF-A28C-8037-B5B9EB7D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9781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552A-852B-38BA-23E9-D2CDC6B9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D5A-E5C2-73EE-554C-BC9312963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167CC-FB1A-F316-A897-6C3E04CA2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AC2C4-C502-7F21-9286-81FABDE8D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59D6C-3B37-8E18-A216-85F303AD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3E525-70B5-686F-BA1A-7476863E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1367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254F-682B-E8F3-8494-333B101B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73593-B4E0-FC43-1969-E49471CF8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53B1E-0A63-F7D4-4487-011B143A0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8DE04-685D-495B-CF98-90FF0AB8B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83F25-46FD-DD1B-0926-B57C53CAD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85968-B0A3-F482-7139-83BFF1DE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AB0ED-E69A-69D6-7B5D-C02AF35C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52C1F-9AA0-9F0F-17CA-E2485FF0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4449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D64F-B2D5-0B7B-E93D-46385BB1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DC922-BB48-0056-12A1-6DA57B07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851C6-1BE7-7853-0B30-8F920717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2CE0-0D44-0C53-676B-73D1441C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58846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7313C2-C56F-8AF4-DA6C-59F72F18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E3DAF-D0F7-BC32-B1AF-9217422F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F46F4-D7BF-FBB1-0930-3C7E5822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0148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4FE3-74D4-5C10-27A0-021B5059F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3BF8-CF05-9BD6-63D6-3DDD3FE68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93663-9747-2155-7DF8-A1651082D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9079C-23C2-AFA9-4363-47E489C4D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FE49-38D0-B4EA-CFC9-703C4E5D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F80CB-0A92-51E9-879C-F25EEF40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6795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C5D2-AC11-4047-3A5D-A13D95D3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9E8385-4CAB-3143-D19C-069B544C1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940DC-89B7-EFD2-0CB7-B5584D3EC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A8E68-4321-BEE6-B040-BD682109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93001-5BC0-9B42-7449-BD9E1651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2DF91-A43F-70B8-B650-77E18D70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525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D0BE-E535-DDB2-38C6-3113CB95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0713A-084F-65C5-028B-06CD91608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7194D-FC6A-98C5-ED06-C6BB71D1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3CB81-1C18-AF33-A935-9478374B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8CA8-83C4-9AE3-385B-AA967D8BA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027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23324-F493-14BF-DCFA-DABFD4469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013CF-AA67-C938-F32C-A3D7EDB5D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79E47-3C5C-FA65-8664-D4462E6BD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058EC-51F7-4AA5-4F99-06B511C5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CF02E-C72E-405E-37F4-E5DEE868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99509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17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CFB63-C61F-E582-12D5-747014F5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9EDB9-D200-A7C2-DB92-BC7DAFEFE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F8725-B5E0-303F-2E18-AEE17342B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1EFE6-65B8-4E1B-B094-0194D9D846C4}" type="datetimeFigureOut">
              <a:rPr lang="en-FI" smtClean="0"/>
              <a:t>10.10.2026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EE3D-4DA6-3DD3-9392-0AAFD24C2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C6700-0F40-9872-F008-5F02EEFC7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DC556-CE41-4C3A-BE6C-8A8C1871FE37}" type="slidenum">
              <a:rPr lang="en-FI" smtClean="0"/>
              <a:t>‹#›</a:t>
            </a:fld>
            <a:endParaRPr lang="en-FI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EE5E40-2890-B7C8-42EA-36D4F72F939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5" r="9381"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5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jpg"/><Relationship Id="rId18" Type="http://schemas.openxmlformats.org/officeDocument/2006/relationships/image" Target="../media/image19.png"/><Relationship Id="rId3" Type="http://schemas.openxmlformats.org/officeDocument/2006/relationships/image" Target="../media/image20.png"/><Relationship Id="rId21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3.jpeg"/><Relationship Id="rId17" Type="http://schemas.openxmlformats.org/officeDocument/2006/relationships/image" Target="../media/image18.png"/><Relationship Id="rId2" Type="http://schemas.openxmlformats.org/officeDocument/2006/relationships/image" Target="../media/image22.png"/><Relationship Id="rId16" Type="http://schemas.openxmlformats.org/officeDocument/2006/relationships/image" Target="../media/image27.jp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5" Type="http://schemas.openxmlformats.org/officeDocument/2006/relationships/image" Target="../media/image26.jpeg"/><Relationship Id="rId10" Type="http://schemas.openxmlformats.org/officeDocument/2006/relationships/image" Target="../media/image3.png"/><Relationship Id="rId19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Relationship Id="rId14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3.jpe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g"/><Relationship Id="rId4" Type="http://schemas.openxmlformats.org/officeDocument/2006/relationships/image" Target="../media/image24.jp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gif"/><Relationship Id="rId7" Type="http://schemas.openxmlformats.org/officeDocument/2006/relationships/image" Target="../media/image3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investgame.net/wp-content/uploads/2026/01/2026-01-29-dec052f4_d88e_48ce_9f83_a18ce2f2a6e5_541400_GDC26_PDF_SOTI_Report.pdf#page=22" TargetMode="External"/><Relationship Id="rId3" Type="http://schemas.openxmlformats.org/officeDocument/2006/relationships/chart" Target="../charts/chart1.xml"/><Relationship Id="rId7" Type="http://schemas.openxmlformats.org/officeDocument/2006/relationships/hyperlink" Target="https://spainaudiovisualhub.digital.gob.es/content/dam/seteleco-hub-audiovisual/resources/pdf/State_of_the_Game_Industry_2025.pdf#page=17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engr.oregonstate.edu/~mjb/cs519/2024StateOfTheGameIndustry.pdf#page=14" TargetMode="Externa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investgame.net/wp-content/uploads/2026/01/2026-01-29-dec052f4_d88e_48ce_9f83_a18ce2f2a6e5_541400_GDC26_PDF_SOTI_Report.pdf#page=22" TargetMode="External"/><Relationship Id="rId3" Type="http://schemas.openxmlformats.org/officeDocument/2006/relationships/chart" Target="../charts/chart4.xml"/><Relationship Id="rId7" Type="http://schemas.openxmlformats.org/officeDocument/2006/relationships/hyperlink" Target="https://spainaudiovisualhub.digital.gob.es/content/dam/seteleco-hub-audiovisual/resources/pdf/State_of_the_Game_Industry_2025.pdf#page=17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engr.oregonstate.edu/~mjb/cs519/2024StateOfTheGameIndustry.pdf#page=14" TargetMode="Externa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investgame.net/wp-content/uploads/2026/01/2026-01-29-dec052f4_d88e_48ce_9f83_a18ce2f2a6e5_541400_GDC26_PDF_SOTI_Report.pdf#page=22" TargetMode="External"/><Relationship Id="rId3" Type="http://schemas.openxmlformats.org/officeDocument/2006/relationships/chart" Target="../charts/chart7.xml"/><Relationship Id="rId7" Type="http://schemas.openxmlformats.org/officeDocument/2006/relationships/hyperlink" Target="https://spainaudiovisualhub.digital.gob.es/content/dam/seteleco-hub-audiovisual/resources/pdf/State_of_the_Game_Industry_2025.pdf#page=1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engr.oregonstate.edu/~mjb/cs519/2024StateOfTheGameIndustry.pdf#page=14" TargetMode="Externa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investgame.net/wp-content/uploads/2026/01/2026-01-29-dec052f4_d88e_48ce_9f83_a18ce2f2a6e5_541400_GDC26_PDF_SOTI_Report.pdf#page=22" TargetMode="External"/><Relationship Id="rId3" Type="http://schemas.openxmlformats.org/officeDocument/2006/relationships/chart" Target="../charts/chart10.xml"/><Relationship Id="rId7" Type="http://schemas.openxmlformats.org/officeDocument/2006/relationships/hyperlink" Target="https://spainaudiovisualhub.digital.gob.es/content/dam/seteleco-hub-audiovisual/resources/pdf/State_of_the_Game_Industry_2025.pdf#page=1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engr.oregonstate.edu/~mjb/cs519/2024StateOfTheGameIndustry.pdf#page=14" TargetMode="Externa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nvestgame.net/wp-content/uploads/2026/01/2026-01-29-dec052f4_d88e_48ce_9f83_a18ce2f2a6e5_541400_GDC26_PDF_SOTI_Report.pdf#page=19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quanticfoundry.com/2025/12/18/gen-ai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quanticfoundry.com/2025/12/18/gen-ai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psos.com/sites/default/files/ct/news/documents/2026-06/Ipsos-AI-Monitor-2026.pdf#page=13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psos.com/sites/default/files/ct/news/documents/2026-06/Ipsos-AI-Monitor-2026.pdf#page=13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sos.com/sites/default/files/ct/news/documents/2026-06/Ipsos-AI-Monitor-2026.pdf#page=27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pmg.com/kpmg-us/content/dam/kpmg/pdf/2025/trust-attitudes-artificial-intelligence-global-report.pdf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medeveloper.com/business/valve-says-legal-uncertainty-surrounding-ai-models-behind-steam-pushback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rtner.steamgames.com/doc/gettingstarted/contentsurvey?language=english" TargetMode="External"/><Relationship Id="rId4" Type="http://schemas.openxmlformats.org/officeDocument/2006/relationships/hyperlink" Target="https://steamcommunity.com/groups/steamworks/announcements/detail/3862463747997849619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mesradar.com/games/action/after-ai-backlash-assassins-creed-creator-says-1666-amsterdam-wont-be-using-any-ai-anymore-and-only-used-it-in-conception-and-pre-production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mesradar.com/games/action/1666-amsterdam-dev-apologizes-for-ai-in-prologue-demo-says-full-game-will-not-include-any-assets-generated-by-ai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mesradar.com/games/action/after-ai-backlash-assassins-creed-creator-says-1666-amsterdam-wont-be-using-any-ai-anymore-and-only-used-it-in-conception-and-pre-production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ultura/2025-06-28/la-revolucion-creativa-low-cost-cuando-la-tecnologia-pone-el-arte-al-alcance-de-todos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cgamer.com/games/rpg/indie-game-awards-pulls-two-awards-from-clair-obscur-over-generative-ai-use-we-have-a-hard-stance-against-gen-ai-in-videogames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gamers-now.com/news/blood-of-dawnwalker-rebel-wolves-ai-actors" TargetMode="External"/><Relationship Id="rId3" Type="http://schemas.openxmlformats.org/officeDocument/2006/relationships/image" Target="../media/image46.png"/><Relationship Id="rId7" Type="http://schemas.openxmlformats.org/officeDocument/2006/relationships/hyperlink" Target="https://kotaku.com/insomniac-confirms-wolverine-doesnt-contain-ai-generated-assets-after-a-weird-looking-sign-goes-viral-2000735775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10" Type="http://schemas.openxmlformats.org/officeDocument/2006/relationships/hyperlink" Target="https://insider-gaming.com/take-two-ceo-says-genai-has-zero-part-in-gta-6/" TargetMode="External"/><Relationship Id="rId4" Type="http://schemas.openxmlformats.org/officeDocument/2006/relationships/image" Target="../media/image47.jpeg"/><Relationship Id="rId9" Type="http://schemas.openxmlformats.org/officeDocument/2006/relationships/hyperlink" Target="https://www.gamerbraves.com/tgs-2026-exclusive-control-resonant-art-director-elmeri-raitanen-on-dylans-story-no-ai-content-and-life-outside-the-oldest-house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amesradar.com/games/grand-theft-auto/their-worlds-are-handcrafted-gta-6-owner-says-generative-ai-has-zero-part-in-what-rockstar-games-is-building-despite-take-two-boss-being-enthusiastic-about-ai-in-game-development/" TargetMode="External"/><Relationship Id="rId4" Type="http://schemas.openxmlformats.org/officeDocument/2006/relationships/hyperlink" Target="https://insider-gaming.com/take-two-ceo-says-genai-has-zero-part-in-gta-6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ddit.com/r/feedthebeast/comments/ts2bvy/" TargetMode="External"/><Relationship Id="rId13" Type="http://schemas.openxmlformats.org/officeDocument/2006/relationships/hyperlink" Target="https://www.nexusmods.com/cyberpunk2077/about/stats" TargetMode="External"/><Relationship Id="rId3" Type="http://schemas.openxmlformats.org/officeDocument/2006/relationships/chart" Target="../charts/chart18.xml"/><Relationship Id="rId7" Type="http://schemas.openxmlformats.org/officeDocument/2006/relationships/hyperlink" Target="https://www.reddit.com/r/feedthebeast/comments/d0c08i/" TargetMode="External"/><Relationship Id="rId12" Type="http://schemas.openxmlformats.org/officeDocument/2006/relationships/hyperlink" Target="https://www.nexusmods.com/stardewvalley/about/stats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1.xml"/><Relationship Id="rId11" Type="http://schemas.openxmlformats.org/officeDocument/2006/relationships/hyperlink" Target="https://www.nexusmods.com/skyrimspecialedition/about/stats" TargetMode="External"/><Relationship Id="rId5" Type="http://schemas.openxmlformats.org/officeDocument/2006/relationships/chart" Target="../charts/chart20.xml"/><Relationship Id="rId10" Type="http://schemas.openxmlformats.org/officeDocument/2006/relationships/hyperlink" Target="https://www.reddit.com/r/CurseForge/comments/1vnc4an/" TargetMode="External"/><Relationship Id="rId4" Type="http://schemas.openxmlformats.org/officeDocument/2006/relationships/chart" Target="../charts/chart19.xml"/><Relationship Id="rId9" Type="http://schemas.openxmlformats.org/officeDocument/2006/relationships/hyperlink" Target="https://blog.curseforge.com/200k-mods-on-minecraft/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gif"/><Relationship Id="rId5" Type="http://schemas.openxmlformats.org/officeDocument/2006/relationships/image" Target="../media/image55.gif"/><Relationship Id="rId4" Type="http://schemas.openxmlformats.org/officeDocument/2006/relationships/image" Target="../media/image54.gi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gif"/><Relationship Id="rId5" Type="http://schemas.openxmlformats.org/officeDocument/2006/relationships/image" Target="../media/image59.gif"/><Relationship Id="rId4" Type="http://schemas.openxmlformats.org/officeDocument/2006/relationships/image" Target="../media/image58.gi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gif"/><Relationship Id="rId4" Type="http://schemas.openxmlformats.org/officeDocument/2006/relationships/image" Target="../media/image62.gi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82.png"/><Relationship Id="rId3" Type="http://schemas.openxmlformats.org/officeDocument/2006/relationships/image" Target="../media/image3.png"/><Relationship Id="rId21" Type="http://schemas.openxmlformats.org/officeDocument/2006/relationships/image" Target="../media/image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69.xml"/><Relationship Id="rId16" Type="http://schemas.openxmlformats.org/officeDocument/2006/relationships/image" Target="../media/image80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79.png"/><Relationship Id="rId23" Type="http://schemas.openxmlformats.org/officeDocument/2006/relationships/image" Target="../media/image9.png"/><Relationship Id="rId10" Type="http://schemas.openxmlformats.org/officeDocument/2006/relationships/image" Target="../media/image16.png"/><Relationship Id="rId19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3AD4-2660-0522-13DB-370C99F9A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6B73987-A9CC-32CF-69FB-4A1D612592BF}"/>
              </a:ext>
            </a:extLst>
          </p:cNvPr>
          <p:cNvSpPr/>
          <p:nvPr/>
        </p:nvSpPr>
        <p:spPr>
          <a:xfrm>
            <a:off x="9847685" y="3984181"/>
            <a:ext cx="2442975" cy="1639485"/>
          </a:xfrm>
          <a:custGeom>
            <a:avLst/>
            <a:gdLst>
              <a:gd name="csX0" fmla="*/ 0 w 2442975"/>
              <a:gd name="csY0" fmla="*/ 0 h 1639485"/>
              <a:gd name="csX1" fmla="*/ 561884 w 2442975"/>
              <a:gd name="csY1" fmla="*/ 0 h 1639485"/>
              <a:gd name="csX2" fmla="*/ 1221488 w 2442975"/>
              <a:gd name="csY2" fmla="*/ 0 h 1639485"/>
              <a:gd name="csX3" fmla="*/ 1807802 w 2442975"/>
              <a:gd name="csY3" fmla="*/ 0 h 1639485"/>
              <a:gd name="csX4" fmla="*/ 2442975 w 2442975"/>
              <a:gd name="csY4" fmla="*/ 0 h 1639485"/>
              <a:gd name="csX5" fmla="*/ 2442975 w 2442975"/>
              <a:gd name="csY5" fmla="*/ 530100 h 1639485"/>
              <a:gd name="csX6" fmla="*/ 2442975 w 2442975"/>
              <a:gd name="csY6" fmla="*/ 1109385 h 1639485"/>
              <a:gd name="csX7" fmla="*/ 2442975 w 2442975"/>
              <a:gd name="csY7" fmla="*/ 1639485 h 1639485"/>
              <a:gd name="csX8" fmla="*/ 1832231 w 2442975"/>
              <a:gd name="csY8" fmla="*/ 1639485 h 1639485"/>
              <a:gd name="csX9" fmla="*/ 1172628 w 2442975"/>
              <a:gd name="csY9" fmla="*/ 1639485 h 1639485"/>
              <a:gd name="csX10" fmla="*/ 0 w 2442975"/>
              <a:gd name="csY10" fmla="*/ 1639485 h 1639485"/>
              <a:gd name="csX11" fmla="*/ 0 w 2442975"/>
              <a:gd name="csY11" fmla="*/ 1109385 h 1639485"/>
              <a:gd name="csX12" fmla="*/ 0 w 2442975"/>
              <a:gd name="csY12" fmla="*/ 612074 h 1639485"/>
              <a:gd name="csX13" fmla="*/ 0 w 2442975"/>
              <a:gd name="csY13" fmla="*/ 0 h 1639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442975" h="1639485" fill="none" extrusionOk="0">
                <a:moveTo>
                  <a:pt x="0" y="0"/>
                </a:moveTo>
                <a:cubicBezTo>
                  <a:pt x="137199" y="-24098"/>
                  <a:pt x="332168" y="-9621"/>
                  <a:pt x="561884" y="0"/>
                </a:cubicBezTo>
                <a:cubicBezTo>
                  <a:pt x="791600" y="9621"/>
                  <a:pt x="901144" y="-25086"/>
                  <a:pt x="1221488" y="0"/>
                </a:cubicBezTo>
                <a:cubicBezTo>
                  <a:pt x="1541832" y="25086"/>
                  <a:pt x="1524387" y="22552"/>
                  <a:pt x="1807802" y="0"/>
                </a:cubicBezTo>
                <a:cubicBezTo>
                  <a:pt x="2091217" y="-22552"/>
                  <a:pt x="2165662" y="-15314"/>
                  <a:pt x="2442975" y="0"/>
                </a:cubicBezTo>
                <a:cubicBezTo>
                  <a:pt x="2452051" y="137179"/>
                  <a:pt x="2442575" y="385537"/>
                  <a:pt x="2442975" y="530100"/>
                </a:cubicBezTo>
                <a:cubicBezTo>
                  <a:pt x="2443375" y="674663"/>
                  <a:pt x="2424654" y="911781"/>
                  <a:pt x="2442975" y="1109385"/>
                </a:cubicBezTo>
                <a:cubicBezTo>
                  <a:pt x="2461296" y="1306989"/>
                  <a:pt x="2460095" y="1494012"/>
                  <a:pt x="2442975" y="1639485"/>
                </a:cubicBezTo>
                <a:cubicBezTo>
                  <a:pt x="2193254" y="1651219"/>
                  <a:pt x="1960418" y="1665762"/>
                  <a:pt x="1832231" y="1639485"/>
                </a:cubicBezTo>
                <a:cubicBezTo>
                  <a:pt x="1704044" y="1613208"/>
                  <a:pt x="1426621" y="1663340"/>
                  <a:pt x="1172628" y="1639485"/>
                </a:cubicBezTo>
                <a:cubicBezTo>
                  <a:pt x="918635" y="1615630"/>
                  <a:pt x="470156" y="1629113"/>
                  <a:pt x="0" y="1639485"/>
                </a:cubicBezTo>
                <a:cubicBezTo>
                  <a:pt x="11221" y="1457010"/>
                  <a:pt x="25847" y="1309562"/>
                  <a:pt x="0" y="1109385"/>
                </a:cubicBezTo>
                <a:cubicBezTo>
                  <a:pt x="-25847" y="909208"/>
                  <a:pt x="13021" y="831801"/>
                  <a:pt x="0" y="612074"/>
                </a:cubicBezTo>
                <a:cubicBezTo>
                  <a:pt x="-13021" y="392347"/>
                  <a:pt x="16631" y="195418"/>
                  <a:pt x="0" y="0"/>
                </a:cubicBezTo>
                <a:close/>
              </a:path>
              <a:path w="2442975" h="1639485" stroke="0" extrusionOk="0">
                <a:moveTo>
                  <a:pt x="0" y="0"/>
                </a:moveTo>
                <a:cubicBezTo>
                  <a:pt x="165220" y="-15726"/>
                  <a:pt x="366689" y="6679"/>
                  <a:pt x="659603" y="0"/>
                </a:cubicBezTo>
                <a:cubicBezTo>
                  <a:pt x="952517" y="-6679"/>
                  <a:pt x="1123791" y="-22798"/>
                  <a:pt x="1270347" y="0"/>
                </a:cubicBezTo>
                <a:cubicBezTo>
                  <a:pt x="1416903" y="22798"/>
                  <a:pt x="1653232" y="3924"/>
                  <a:pt x="1832231" y="0"/>
                </a:cubicBezTo>
                <a:cubicBezTo>
                  <a:pt x="2011230" y="-3924"/>
                  <a:pt x="2239265" y="26614"/>
                  <a:pt x="2442975" y="0"/>
                </a:cubicBezTo>
                <a:cubicBezTo>
                  <a:pt x="2423003" y="118939"/>
                  <a:pt x="2449531" y="343927"/>
                  <a:pt x="2442975" y="579285"/>
                </a:cubicBezTo>
                <a:cubicBezTo>
                  <a:pt x="2436419" y="814643"/>
                  <a:pt x="2428204" y="909558"/>
                  <a:pt x="2442975" y="1125780"/>
                </a:cubicBezTo>
                <a:cubicBezTo>
                  <a:pt x="2457746" y="1342002"/>
                  <a:pt x="2457133" y="1502666"/>
                  <a:pt x="2442975" y="1639485"/>
                </a:cubicBezTo>
                <a:cubicBezTo>
                  <a:pt x="2333066" y="1626818"/>
                  <a:pt x="2145171" y="1625761"/>
                  <a:pt x="1905521" y="1639485"/>
                </a:cubicBezTo>
                <a:cubicBezTo>
                  <a:pt x="1665871" y="1653209"/>
                  <a:pt x="1559988" y="1660220"/>
                  <a:pt x="1368066" y="1639485"/>
                </a:cubicBezTo>
                <a:cubicBezTo>
                  <a:pt x="1176144" y="1618750"/>
                  <a:pt x="1068775" y="1620066"/>
                  <a:pt x="781752" y="1639485"/>
                </a:cubicBezTo>
                <a:cubicBezTo>
                  <a:pt x="494729" y="1658904"/>
                  <a:pt x="202060" y="1621538"/>
                  <a:pt x="0" y="1639485"/>
                </a:cubicBezTo>
                <a:cubicBezTo>
                  <a:pt x="22987" y="1430533"/>
                  <a:pt x="-2448" y="1203559"/>
                  <a:pt x="0" y="1076595"/>
                </a:cubicBezTo>
                <a:cubicBezTo>
                  <a:pt x="2448" y="949631"/>
                  <a:pt x="9521" y="733651"/>
                  <a:pt x="0" y="562890"/>
                </a:cubicBezTo>
                <a:cubicBezTo>
                  <a:pt x="-9521" y="392129"/>
                  <a:pt x="-22769" y="274947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D15BFF2-4EE6-F393-B818-2EA3E850D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" t="-181" r="-327" b="181"/>
          <a:stretch>
            <a:fillRect/>
          </a:stretch>
        </p:blipFill>
        <p:spPr>
          <a:xfrm>
            <a:off x="-1943100" y="2505566"/>
            <a:ext cx="5837613" cy="35045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5F7D63-835B-1301-9EF2-6292032D6A3E}"/>
              </a:ext>
            </a:extLst>
          </p:cNvPr>
          <p:cNvSpPr/>
          <p:nvPr/>
        </p:nvSpPr>
        <p:spPr>
          <a:xfrm>
            <a:off x="407325" y="428106"/>
            <a:ext cx="4788130" cy="714894"/>
          </a:xfrm>
          <a:custGeom>
            <a:avLst/>
            <a:gdLst>
              <a:gd name="csX0" fmla="*/ 0 w 4788130"/>
              <a:gd name="csY0" fmla="*/ 0 h 714894"/>
              <a:gd name="csX1" fmla="*/ 4788130 w 4788130"/>
              <a:gd name="csY1" fmla="*/ 0 h 714894"/>
              <a:gd name="csX2" fmla="*/ 4788130 w 4788130"/>
              <a:gd name="csY2" fmla="*/ 714894 h 714894"/>
              <a:gd name="csX3" fmla="*/ 0 w 4788130"/>
              <a:gd name="csY3" fmla="*/ 714894 h 714894"/>
              <a:gd name="csX4" fmla="*/ 0 w 4788130"/>
              <a:gd name="csY4" fmla="*/ 0 h 714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88130" h="714894" fill="none" extrusionOk="0">
                <a:moveTo>
                  <a:pt x="0" y="0"/>
                </a:moveTo>
                <a:cubicBezTo>
                  <a:pt x="1369688" y="57912"/>
                  <a:pt x="3958759" y="-77563"/>
                  <a:pt x="4788130" y="0"/>
                </a:cubicBezTo>
                <a:cubicBezTo>
                  <a:pt x="4809974" y="146882"/>
                  <a:pt x="4813385" y="588672"/>
                  <a:pt x="4788130" y="714894"/>
                </a:cubicBezTo>
                <a:cubicBezTo>
                  <a:pt x="3295388" y="848821"/>
                  <a:pt x="1850869" y="816071"/>
                  <a:pt x="0" y="714894"/>
                </a:cubicBezTo>
                <a:cubicBezTo>
                  <a:pt x="43383" y="550477"/>
                  <a:pt x="30628" y="321488"/>
                  <a:pt x="0" y="0"/>
                </a:cubicBezTo>
                <a:close/>
              </a:path>
              <a:path w="4788130" h="714894" stroke="0" extrusionOk="0">
                <a:moveTo>
                  <a:pt x="0" y="0"/>
                </a:moveTo>
                <a:cubicBezTo>
                  <a:pt x="480722" y="8342"/>
                  <a:pt x="3452854" y="6445"/>
                  <a:pt x="4788130" y="0"/>
                </a:cubicBezTo>
                <a:cubicBezTo>
                  <a:pt x="4748578" y="211633"/>
                  <a:pt x="4751086" y="362961"/>
                  <a:pt x="4788130" y="714894"/>
                </a:cubicBezTo>
                <a:cubicBezTo>
                  <a:pt x="2434521" y="718656"/>
                  <a:pt x="1582317" y="626828"/>
                  <a:pt x="0" y="714894"/>
                </a:cubicBezTo>
                <a:cubicBezTo>
                  <a:pt x="-35050" y="385940"/>
                  <a:pt x="-24139" y="172577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2ACAE-21EB-309C-C187-635A308BDBA5}"/>
              </a:ext>
            </a:extLst>
          </p:cNvPr>
          <p:cNvSpPr txBox="1">
            <a:spLocks/>
          </p:cNvSpPr>
          <p:nvPr/>
        </p:nvSpPr>
        <p:spPr>
          <a:xfrm>
            <a:off x="5587756" y="0"/>
            <a:ext cx="6604244" cy="169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FI" sz="4000" dirty="0">
                <a:latin typeface="Bungee" pitchFamily="2" charset="0"/>
                <a:ea typeface="Bungee" pitchFamily="2" charset="0"/>
              </a:rPr>
              <a:t>Juha Ala-Rantala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A096F-62C5-F1BF-8A72-3183BD223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902" y="3927161"/>
            <a:ext cx="4307378" cy="21605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A912FE4-D733-A873-EBB7-7918A5840A0D}"/>
              </a:ext>
            </a:extLst>
          </p:cNvPr>
          <p:cNvSpPr/>
          <p:nvPr/>
        </p:nvSpPr>
        <p:spPr>
          <a:xfrm>
            <a:off x="4663904" y="1457933"/>
            <a:ext cx="4413594" cy="1197983"/>
          </a:xfrm>
          <a:custGeom>
            <a:avLst/>
            <a:gdLst>
              <a:gd name="csX0" fmla="*/ 0 w 4413594"/>
              <a:gd name="csY0" fmla="*/ 0 h 1197983"/>
              <a:gd name="csX1" fmla="*/ 4413594 w 4413594"/>
              <a:gd name="csY1" fmla="*/ 0 h 1197983"/>
              <a:gd name="csX2" fmla="*/ 4413594 w 4413594"/>
              <a:gd name="csY2" fmla="*/ 1197983 h 1197983"/>
              <a:gd name="csX3" fmla="*/ 0 w 4413594"/>
              <a:gd name="csY3" fmla="*/ 1197983 h 1197983"/>
              <a:gd name="csX4" fmla="*/ 0 w 4413594"/>
              <a:gd name="csY4" fmla="*/ 0 h 1197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13594" h="1197983" fill="none" extrusionOk="0">
                <a:moveTo>
                  <a:pt x="0" y="0"/>
                </a:moveTo>
                <a:cubicBezTo>
                  <a:pt x="1361355" y="57912"/>
                  <a:pt x="2751911" y="-77563"/>
                  <a:pt x="4413594" y="0"/>
                </a:cubicBezTo>
                <a:cubicBezTo>
                  <a:pt x="4366646" y="243520"/>
                  <a:pt x="4373108" y="1047775"/>
                  <a:pt x="4413594" y="1197983"/>
                </a:cubicBezTo>
                <a:cubicBezTo>
                  <a:pt x="2557353" y="1331910"/>
                  <a:pt x="684954" y="1299160"/>
                  <a:pt x="0" y="1197983"/>
                </a:cubicBezTo>
                <a:cubicBezTo>
                  <a:pt x="82308" y="890979"/>
                  <a:pt x="84181" y="274297"/>
                  <a:pt x="0" y="0"/>
                </a:cubicBezTo>
                <a:close/>
              </a:path>
              <a:path w="4413594" h="1197983" stroke="0" extrusionOk="0">
                <a:moveTo>
                  <a:pt x="0" y="0"/>
                </a:moveTo>
                <a:cubicBezTo>
                  <a:pt x="1983475" y="8342"/>
                  <a:pt x="3439114" y="6445"/>
                  <a:pt x="4413594" y="0"/>
                </a:cubicBezTo>
                <a:cubicBezTo>
                  <a:pt x="4369770" y="267398"/>
                  <a:pt x="4458943" y="930750"/>
                  <a:pt x="4413594" y="1197983"/>
                </a:cubicBezTo>
                <a:cubicBezTo>
                  <a:pt x="3439275" y="1201745"/>
                  <a:pt x="589908" y="1109917"/>
                  <a:pt x="0" y="1197983"/>
                </a:cubicBezTo>
                <a:cubicBezTo>
                  <a:pt x="-98889" y="1059840"/>
                  <a:pt x="14193" y="478709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Teknologiajohtaja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  <a:p>
            <a:pPr algn="ctr"/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Clevoy Oy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CDC53E-C309-FA0B-C316-8DCBBC871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5070" y="5400067"/>
            <a:ext cx="1057275" cy="1066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FFAA68-0963-EEC7-2C4F-0272B3D5D512}"/>
              </a:ext>
            </a:extLst>
          </p:cNvPr>
          <p:cNvSpPr/>
          <p:nvPr/>
        </p:nvSpPr>
        <p:spPr>
          <a:xfrm>
            <a:off x="9859824" y="3084717"/>
            <a:ext cx="2442975" cy="1639485"/>
          </a:xfrm>
          <a:custGeom>
            <a:avLst/>
            <a:gdLst>
              <a:gd name="csX0" fmla="*/ 0 w 2442975"/>
              <a:gd name="csY0" fmla="*/ 0 h 1639485"/>
              <a:gd name="csX1" fmla="*/ 561884 w 2442975"/>
              <a:gd name="csY1" fmla="*/ 0 h 1639485"/>
              <a:gd name="csX2" fmla="*/ 1221488 w 2442975"/>
              <a:gd name="csY2" fmla="*/ 0 h 1639485"/>
              <a:gd name="csX3" fmla="*/ 1807802 w 2442975"/>
              <a:gd name="csY3" fmla="*/ 0 h 1639485"/>
              <a:gd name="csX4" fmla="*/ 2442975 w 2442975"/>
              <a:gd name="csY4" fmla="*/ 0 h 1639485"/>
              <a:gd name="csX5" fmla="*/ 2442975 w 2442975"/>
              <a:gd name="csY5" fmla="*/ 530100 h 1639485"/>
              <a:gd name="csX6" fmla="*/ 2442975 w 2442975"/>
              <a:gd name="csY6" fmla="*/ 1109385 h 1639485"/>
              <a:gd name="csX7" fmla="*/ 2442975 w 2442975"/>
              <a:gd name="csY7" fmla="*/ 1639485 h 1639485"/>
              <a:gd name="csX8" fmla="*/ 1832231 w 2442975"/>
              <a:gd name="csY8" fmla="*/ 1639485 h 1639485"/>
              <a:gd name="csX9" fmla="*/ 1172628 w 2442975"/>
              <a:gd name="csY9" fmla="*/ 1639485 h 1639485"/>
              <a:gd name="csX10" fmla="*/ 0 w 2442975"/>
              <a:gd name="csY10" fmla="*/ 1639485 h 1639485"/>
              <a:gd name="csX11" fmla="*/ 0 w 2442975"/>
              <a:gd name="csY11" fmla="*/ 1109385 h 1639485"/>
              <a:gd name="csX12" fmla="*/ 0 w 2442975"/>
              <a:gd name="csY12" fmla="*/ 612074 h 1639485"/>
              <a:gd name="csX13" fmla="*/ 0 w 2442975"/>
              <a:gd name="csY13" fmla="*/ 0 h 1639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442975" h="1639485" fill="none" extrusionOk="0">
                <a:moveTo>
                  <a:pt x="0" y="0"/>
                </a:moveTo>
                <a:cubicBezTo>
                  <a:pt x="137199" y="-24098"/>
                  <a:pt x="332168" y="-9621"/>
                  <a:pt x="561884" y="0"/>
                </a:cubicBezTo>
                <a:cubicBezTo>
                  <a:pt x="791600" y="9621"/>
                  <a:pt x="901144" y="-25086"/>
                  <a:pt x="1221488" y="0"/>
                </a:cubicBezTo>
                <a:cubicBezTo>
                  <a:pt x="1541832" y="25086"/>
                  <a:pt x="1524387" y="22552"/>
                  <a:pt x="1807802" y="0"/>
                </a:cubicBezTo>
                <a:cubicBezTo>
                  <a:pt x="2091217" y="-22552"/>
                  <a:pt x="2165662" y="-15314"/>
                  <a:pt x="2442975" y="0"/>
                </a:cubicBezTo>
                <a:cubicBezTo>
                  <a:pt x="2452051" y="137179"/>
                  <a:pt x="2442575" y="385537"/>
                  <a:pt x="2442975" y="530100"/>
                </a:cubicBezTo>
                <a:cubicBezTo>
                  <a:pt x="2443375" y="674663"/>
                  <a:pt x="2424654" y="911781"/>
                  <a:pt x="2442975" y="1109385"/>
                </a:cubicBezTo>
                <a:cubicBezTo>
                  <a:pt x="2461296" y="1306989"/>
                  <a:pt x="2460095" y="1494012"/>
                  <a:pt x="2442975" y="1639485"/>
                </a:cubicBezTo>
                <a:cubicBezTo>
                  <a:pt x="2193254" y="1651219"/>
                  <a:pt x="1960418" y="1665762"/>
                  <a:pt x="1832231" y="1639485"/>
                </a:cubicBezTo>
                <a:cubicBezTo>
                  <a:pt x="1704044" y="1613208"/>
                  <a:pt x="1426621" y="1663340"/>
                  <a:pt x="1172628" y="1639485"/>
                </a:cubicBezTo>
                <a:cubicBezTo>
                  <a:pt x="918635" y="1615630"/>
                  <a:pt x="470156" y="1629113"/>
                  <a:pt x="0" y="1639485"/>
                </a:cubicBezTo>
                <a:cubicBezTo>
                  <a:pt x="11221" y="1457010"/>
                  <a:pt x="25847" y="1309562"/>
                  <a:pt x="0" y="1109385"/>
                </a:cubicBezTo>
                <a:cubicBezTo>
                  <a:pt x="-25847" y="909208"/>
                  <a:pt x="13021" y="831801"/>
                  <a:pt x="0" y="612074"/>
                </a:cubicBezTo>
                <a:cubicBezTo>
                  <a:pt x="-13021" y="392347"/>
                  <a:pt x="16631" y="195418"/>
                  <a:pt x="0" y="0"/>
                </a:cubicBezTo>
                <a:close/>
              </a:path>
              <a:path w="2442975" h="1639485" stroke="0" extrusionOk="0">
                <a:moveTo>
                  <a:pt x="0" y="0"/>
                </a:moveTo>
                <a:cubicBezTo>
                  <a:pt x="165220" y="-15726"/>
                  <a:pt x="366689" y="6679"/>
                  <a:pt x="659603" y="0"/>
                </a:cubicBezTo>
                <a:cubicBezTo>
                  <a:pt x="952517" y="-6679"/>
                  <a:pt x="1123791" y="-22798"/>
                  <a:pt x="1270347" y="0"/>
                </a:cubicBezTo>
                <a:cubicBezTo>
                  <a:pt x="1416903" y="22798"/>
                  <a:pt x="1653232" y="3924"/>
                  <a:pt x="1832231" y="0"/>
                </a:cubicBezTo>
                <a:cubicBezTo>
                  <a:pt x="2011230" y="-3924"/>
                  <a:pt x="2239265" y="26614"/>
                  <a:pt x="2442975" y="0"/>
                </a:cubicBezTo>
                <a:cubicBezTo>
                  <a:pt x="2423003" y="118939"/>
                  <a:pt x="2449531" y="343927"/>
                  <a:pt x="2442975" y="579285"/>
                </a:cubicBezTo>
                <a:cubicBezTo>
                  <a:pt x="2436419" y="814643"/>
                  <a:pt x="2428204" y="909558"/>
                  <a:pt x="2442975" y="1125780"/>
                </a:cubicBezTo>
                <a:cubicBezTo>
                  <a:pt x="2457746" y="1342002"/>
                  <a:pt x="2457133" y="1502666"/>
                  <a:pt x="2442975" y="1639485"/>
                </a:cubicBezTo>
                <a:cubicBezTo>
                  <a:pt x="2333066" y="1626818"/>
                  <a:pt x="2145171" y="1625761"/>
                  <a:pt x="1905521" y="1639485"/>
                </a:cubicBezTo>
                <a:cubicBezTo>
                  <a:pt x="1665871" y="1653209"/>
                  <a:pt x="1559988" y="1660220"/>
                  <a:pt x="1368066" y="1639485"/>
                </a:cubicBezTo>
                <a:cubicBezTo>
                  <a:pt x="1176144" y="1618750"/>
                  <a:pt x="1068775" y="1620066"/>
                  <a:pt x="781752" y="1639485"/>
                </a:cubicBezTo>
                <a:cubicBezTo>
                  <a:pt x="494729" y="1658904"/>
                  <a:pt x="202060" y="1621538"/>
                  <a:pt x="0" y="1639485"/>
                </a:cubicBezTo>
                <a:cubicBezTo>
                  <a:pt x="22987" y="1430533"/>
                  <a:pt x="-2448" y="1203559"/>
                  <a:pt x="0" y="1076595"/>
                </a:cubicBezTo>
                <a:cubicBezTo>
                  <a:pt x="2448" y="949631"/>
                  <a:pt x="9521" y="733651"/>
                  <a:pt x="0" y="562890"/>
                </a:cubicBezTo>
                <a:cubicBezTo>
                  <a:pt x="-9521" y="392129"/>
                  <a:pt x="-22769" y="274947"/>
                  <a:pt x="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493D7D-1857-8E54-91B1-AB31725D32FA}"/>
              </a:ext>
            </a:extLst>
          </p:cNvPr>
          <p:cNvSpPr/>
          <p:nvPr/>
        </p:nvSpPr>
        <p:spPr>
          <a:xfrm>
            <a:off x="9413261" y="2242272"/>
            <a:ext cx="2442975" cy="1639485"/>
          </a:xfrm>
          <a:custGeom>
            <a:avLst/>
            <a:gdLst>
              <a:gd name="csX0" fmla="*/ 0 w 2442975"/>
              <a:gd name="csY0" fmla="*/ 0 h 1639485"/>
              <a:gd name="csX1" fmla="*/ 561884 w 2442975"/>
              <a:gd name="csY1" fmla="*/ 0 h 1639485"/>
              <a:gd name="csX2" fmla="*/ 1221488 w 2442975"/>
              <a:gd name="csY2" fmla="*/ 0 h 1639485"/>
              <a:gd name="csX3" fmla="*/ 1807802 w 2442975"/>
              <a:gd name="csY3" fmla="*/ 0 h 1639485"/>
              <a:gd name="csX4" fmla="*/ 2442975 w 2442975"/>
              <a:gd name="csY4" fmla="*/ 0 h 1639485"/>
              <a:gd name="csX5" fmla="*/ 2442975 w 2442975"/>
              <a:gd name="csY5" fmla="*/ 530100 h 1639485"/>
              <a:gd name="csX6" fmla="*/ 2442975 w 2442975"/>
              <a:gd name="csY6" fmla="*/ 1109385 h 1639485"/>
              <a:gd name="csX7" fmla="*/ 2442975 w 2442975"/>
              <a:gd name="csY7" fmla="*/ 1639485 h 1639485"/>
              <a:gd name="csX8" fmla="*/ 1832231 w 2442975"/>
              <a:gd name="csY8" fmla="*/ 1639485 h 1639485"/>
              <a:gd name="csX9" fmla="*/ 1172628 w 2442975"/>
              <a:gd name="csY9" fmla="*/ 1639485 h 1639485"/>
              <a:gd name="csX10" fmla="*/ 0 w 2442975"/>
              <a:gd name="csY10" fmla="*/ 1639485 h 1639485"/>
              <a:gd name="csX11" fmla="*/ 0 w 2442975"/>
              <a:gd name="csY11" fmla="*/ 1109385 h 1639485"/>
              <a:gd name="csX12" fmla="*/ 0 w 2442975"/>
              <a:gd name="csY12" fmla="*/ 612074 h 1639485"/>
              <a:gd name="csX13" fmla="*/ 0 w 2442975"/>
              <a:gd name="csY13" fmla="*/ 0 h 1639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442975" h="1639485" fill="none" extrusionOk="0">
                <a:moveTo>
                  <a:pt x="0" y="0"/>
                </a:moveTo>
                <a:cubicBezTo>
                  <a:pt x="137199" y="-24098"/>
                  <a:pt x="332168" y="-9621"/>
                  <a:pt x="561884" y="0"/>
                </a:cubicBezTo>
                <a:cubicBezTo>
                  <a:pt x="791600" y="9621"/>
                  <a:pt x="901144" y="-25086"/>
                  <a:pt x="1221488" y="0"/>
                </a:cubicBezTo>
                <a:cubicBezTo>
                  <a:pt x="1541832" y="25086"/>
                  <a:pt x="1524387" y="22552"/>
                  <a:pt x="1807802" y="0"/>
                </a:cubicBezTo>
                <a:cubicBezTo>
                  <a:pt x="2091217" y="-22552"/>
                  <a:pt x="2165662" y="-15314"/>
                  <a:pt x="2442975" y="0"/>
                </a:cubicBezTo>
                <a:cubicBezTo>
                  <a:pt x="2452051" y="137179"/>
                  <a:pt x="2442575" y="385537"/>
                  <a:pt x="2442975" y="530100"/>
                </a:cubicBezTo>
                <a:cubicBezTo>
                  <a:pt x="2443375" y="674663"/>
                  <a:pt x="2424654" y="911781"/>
                  <a:pt x="2442975" y="1109385"/>
                </a:cubicBezTo>
                <a:cubicBezTo>
                  <a:pt x="2461296" y="1306989"/>
                  <a:pt x="2460095" y="1494012"/>
                  <a:pt x="2442975" y="1639485"/>
                </a:cubicBezTo>
                <a:cubicBezTo>
                  <a:pt x="2193254" y="1651219"/>
                  <a:pt x="1960418" y="1665762"/>
                  <a:pt x="1832231" y="1639485"/>
                </a:cubicBezTo>
                <a:cubicBezTo>
                  <a:pt x="1704044" y="1613208"/>
                  <a:pt x="1426621" y="1663340"/>
                  <a:pt x="1172628" y="1639485"/>
                </a:cubicBezTo>
                <a:cubicBezTo>
                  <a:pt x="918635" y="1615630"/>
                  <a:pt x="470156" y="1629113"/>
                  <a:pt x="0" y="1639485"/>
                </a:cubicBezTo>
                <a:cubicBezTo>
                  <a:pt x="11221" y="1457010"/>
                  <a:pt x="25847" y="1309562"/>
                  <a:pt x="0" y="1109385"/>
                </a:cubicBezTo>
                <a:cubicBezTo>
                  <a:pt x="-25847" y="909208"/>
                  <a:pt x="13021" y="831801"/>
                  <a:pt x="0" y="612074"/>
                </a:cubicBezTo>
                <a:cubicBezTo>
                  <a:pt x="-13021" y="392347"/>
                  <a:pt x="16631" y="195418"/>
                  <a:pt x="0" y="0"/>
                </a:cubicBezTo>
                <a:close/>
              </a:path>
              <a:path w="2442975" h="1639485" stroke="0" extrusionOk="0">
                <a:moveTo>
                  <a:pt x="0" y="0"/>
                </a:moveTo>
                <a:cubicBezTo>
                  <a:pt x="165220" y="-15726"/>
                  <a:pt x="366689" y="6679"/>
                  <a:pt x="659603" y="0"/>
                </a:cubicBezTo>
                <a:cubicBezTo>
                  <a:pt x="952517" y="-6679"/>
                  <a:pt x="1123791" y="-22798"/>
                  <a:pt x="1270347" y="0"/>
                </a:cubicBezTo>
                <a:cubicBezTo>
                  <a:pt x="1416903" y="22798"/>
                  <a:pt x="1653232" y="3924"/>
                  <a:pt x="1832231" y="0"/>
                </a:cubicBezTo>
                <a:cubicBezTo>
                  <a:pt x="2011230" y="-3924"/>
                  <a:pt x="2239265" y="26614"/>
                  <a:pt x="2442975" y="0"/>
                </a:cubicBezTo>
                <a:cubicBezTo>
                  <a:pt x="2423003" y="118939"/>
                  <a:pt x="2449531" y="343927"/>
                  <a:pt x="2442975" y="579285"/>
                </a:cubicBezTo>
                <a:cubicBezTo>
                  <a:pt x="2436419" y="814643"/>
                  <a:pt x="2428204" y="909558"/>
                  <a:pt x="2442975" y="1125780"/>
                </a:cubicBezTo>
                <a:cubicBezTo>
                  <a:pt x="2457746" y="1342002"/>
                  <a:pt x="2457133" y="1502666"/>
                  <a:pt x="2442975" y="1639485"/>
                </a:cubicBezTo>
                <a:cubicBezTo>
                  <a:pt x="2333066" y="1626818"/>
                  <a:pt x="2145171" y="1625761"/>
                  <a:pt x="1905521" y="1639485"/>
                </a:cubicBezTo>
                <a:cubicBezTo>
                  <a:pt x="1665871" y="1653209"/>
                  <a:pt x="1559988" y="1660220"/>
                  <a:pt x="1368066" y="1639485"/>
                </a:cubicBezTo>
                <a:cubicBezTo>
                  <a:pt x="1176144" y="1618750"/>
                  <a:pt x="1068775" y="1620066"/>
                  <a:pt x="781752" y="1639485"/>
                </a:cubicBezTo>
                <a:cubicBezTo>
                  <a:pt x="494729" y="1658904"/>
                  <a:pt x="202060" y="1621538"/>
                  <a:pt x="0" y="1639485"/>
                </a:cubicBezTo>
                <a:cubicBezTo>
                  <a:pt x="22987" y="1430533"/>
                  <a:pt x="-2448" y="1203559"/>
                  <a:pt x="0" y="1076595"/>
                </a:cubicBezTo>
                <a:cubicBezTo>
                  <a:pt x="2448" y="949631"/>
                  <a:pt x="9521" y="733651"/>
                  <a:pt x="0" y="562890"/>
                </a:cubicBezTo>
                <a:cubicBezTo>
                  <a:pt x="-9521" y="392129"/>
                  <a:pt x="-22769" y="274947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1A223-DC32-21A3-44A2-66DDA42E79ED}"/>
              </a:ext>
            </a:extLst>
          </p:cNvPr>
          <p:cNvSpPr/>
          <p:nvPr/>
        </p:nvSpPr>
        <p:spPr>
          <a:xfrm>
            <a:off x="9371292" y="1467933"/>
            <a:ext cx="2442975" cy="1639485"/>
          </a:xfrm>
          <a:custGeom>
            <a:avLst/>
            <a:gdLst>
              <a:gd name="csX0" fmla="*/ 0 w 2442975"/>
              <a:gd name="csY0" fmla="*/ 0 h 1639485"/>
              <a:gd name="csX1" fmla="*/ 561884 w 2442975"/>
              <a:gd name="csY1" fmla="*/ 0 h 1639485"/>
              <a:gd name="csX2" fmla="*/ 1221488 w 2442975"/>
              <a:gd name="csY2" fmla="*/ 0 h 1639485"/>
              <a:gd name="csX3" fmla="*/ 1807802 w 2442975"/>
              <a:gd name="csY3" fmla="*/ 0 h 1639485"/>
              <a:gd name="csX4" fmla="*/ 2442975 w 2442975"/>
              <a:gd name="csY4" fmla="*/ 0 h 1639485"/>
              <a:gd name="csX5" fmla="*/ 2442975 w 2442975"/>
              <a:gd name="csY5" fmla="*/ 530100 h 1639485"/>
              <a:gd name="csX6" fmla="*/ 2442975 w 2442975"/>
              <a:gd name="csY6" fmla="*/ 1109385 h 1639485"/>
              <a:gd name="csX7" fmla="*/ 2442975 w 2442975"/>
              <a:gd name="csY7" fmla="*/ 1639485 h 1639485"/>
              <a:gd name="csX8" fmla="*/ 1832231 w 2442975"/>
              <a:gd name="csY8" fmla="*/ 1639485 h 1639485"/>
              <a:gd name="csX9" fmla="*/ 1172628 w 2442975"/>
              <a:gd name="csY9" fmla="*/ 1639485 h 1639485"/>
              <a:gd name="csX10" fmla="*/ 0 w 2442975"/>
              <a:gd name="csY10" fmla="*/ 1639485 h 1639485"/>
              <a:gd name="csX11" fmla="*/ 0 w 2442975"/>
              <a:gd name="csY11" fmla="*/ 1109385 h 1639485"/>
              <a:gd name="csX12" fmla="*/ 0 w 2442975"/>
              <a:gd name="csY12" fmla="*/ 612074 h 1639485"/>
              <a:gd name="csX13" fmla="*/ 0 w 2442975"/>
              <a:gd name="csY13" fmla="*/ 0 h 1639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442975" h="1639485" fill="none" extrusionOk="0">
                <a:moveTo>
                  <a:pt x="0" y="0"/>
                </a:moveTo>
                <a:cubicBezTo>
                  <a:pt x="137199" y="-24098"/>
                  <a:pt x="332168" y="-9621"/>
                  <a:pt x="561884" y="0"/>
                </a:cubicBezTo>
                <a:cubicBezTo>
                  <a:pt x="791600" y="9621"/>
                  <a:pt x="901144" y="-25086"/>
                  <a:pt x="1221488" y="0"/>
                </a:cubicBezTo>
                <a:cubicBezTo>
                  <a:pt x="1541832" y="25086"/>
                  <a:pt x="1524387" y="22552"/>
                  <a:pt x="1807802" y="0"/>
                </a:cubicBezTo>
                <a:cubicBezTo>
                  <a:pt x="2091217" y="-22552"/>
                  <a:pt x="2165662" y="-15314"/>
                  <a:pt x="2442975" y="0"/>
                </a:cubicBezTo>
                <a:cubicBezTo>
                  <a:pt x="2452051" y="137179"/>
                  <a:pt x="2442575" y="385537"/>
                  <a:pt x="2442975" y="530100"/>
                </a:cubicBezTo>
                <a:cubicBezTo>
                  <a:pt x="2443375" y="674663"/>
                  <a:pt x="2424654" y="911781"/>
                  <a:pt x="2442975" y="1109385"/>
                </a:cubicBezTo>
                <a:cubicBezTo>
                  <a:pt x="2461296" y="1306989"/>
                  <a:pt x="2460095" y="1494012"/>
                  <a:pt x="2442975" y="1639485"/>
                </a:cubicBezTo>
                <a:cubicBezTo>
                  <a:pt x="2193254" y="1651219"/>
                  <a:pt x="1960418" y="1665762"/>
                  <a:pt x="1832231" y="1639485"/>
                </a:cubicBezTo>
                <a:cubicBezTo>
                  <a:pt x="1704044" y="1613208"/>
                  <a:pt x="1426621" y="1663340"/>
                  <a:pt x="1172628" y="1639485"/>
                </a:cubicBezTo>
                <a:cubicBezTo>
                  <a:pt x="918635" y="1615630"/>
                  <a:pt x="470156" y="1629113"/>
                  <a:pt x="0" y="1639485"/>
                </a:cubicBezTo>
                <a:cubicBezTo>
                  <a:pt x="11221" y="1457010"/>
                  <a:pt x="25847" y="1309562"/>
                  <a:pt x="0" y="1109385"/>
                </a:cubicBezTo>
                <a:cubicBezTo>
                  <a:pt x="-25847" y="909208"/>
                  <a:pt x="13021" y="831801"/>
                  <a:pt x="0" y="612074"/>
                </a:cubicBezTo>
                <a:cubicBezTo>
                  <a:pt x="-13021" y="392347"/>
                  <a:pt x="16631" y="195418"/>
                  <a:pt x="0" y="0"/>
                </a:cubicBezTo>
                <a:close/>
              </a:path>
              <a:path w="2442975" h="1639485" stroke="0" extrusionOk="0">
                <a:moveTo>
                  <a:pt x="0" y="0"/>
                </a:moveTo>
                <a:cubicBezTo>
                  <a:pt x="165220" y="-15726"/>
                  <a:pt x="366689" y="6679"/>
                  <a:pt x="659603" y="0"/>
                </a:cubicBezTo>
                <a:cubicBezTo>
                  <a:pt x="952517" y="-6679"/>
                  <a:pt x="1123791" y="-22798"/>
                  <a:pt x="1270347" y="0"/>
                </a:cubicBezTo>
                <a:cubicBezTo>
                  <a:pt x="1416903" y="22798"/>
                  <a:pt x="1653232" y="3924"/>
                  <a:pt x="1832231" y="0"/>
                </a:cubicBezTo>
                <a:cubicBezTo>
                  <a:pt x="2011230" y="-3924"/>
                  <a:pt x="2239265" y="26614"/>
                  <a:pt x="2442975" y="0"/>
                </a:cubicBezTo>
                <a:cubicBezTo>
                  <a:pt x="2423003" y="118939"/>
                  <a:pt x="2449531" y="343927"/>
                  <a:pt x="2442975" y="579285"/>
                </a:cubicBezTo>
                <a:cubicBezTo>
                  <a:pt x="2436419" y="814643"/>
                  <a:pt x="2428204" y="909558"/>
                  <a:pt x="2442975" y="1125780"/>
                </a:cubicBezTo>
                <a:cubicBezTo>
                  <a:pt x="2457746" y="1342002"/>
                  <a:pt x="2457133" y="1502666"/>
                  <a:pt x="2442975" y="1639485"/>
                </a:cubicBezTo>
                <a:cubicBezTo>
                  <a:pt x="2333066" y="1626818"/>
                  <a:pt x="2145171" y="1625761"/>
                  <a:pt x="1905521" y="1639485"/>
                </a:cubicBezTo>
                <a:cubicBezTo>
                  <a:pt x="1665871" y="1653209"/>
                  <a:pt x="1559988" y="1660220"/>
                  <a:pt x="1368066" y="1639485"/>
                </a:cubicBezTo>
                <a:cubicBezTo>
                  <a:pt x="1176144" y="1618750"/>
                  <a:pt x="1068775" y="1620066"/>
                  <a:pt x="781752" y="1639485"/>
                </a:cubicBezTo>
                <a:cubicBezTo>
                  <a:pt x="494729" y="1658904"/>
                  <a:pt x="202060" y="1621538"/>
                  <a:pt x="0" y="1639485"/>
                </a:cubicBezTo>
                <a:cubicBezTo>
                  <a:pt x="22987" y="1430533"/>
                  <a:pt x="-2448" y="1203559"/>
                  <a:pt x="0" y="1076595"/>
                </a:cubicBezTo>
                <a:cubicBezTo>
                  <a:pt x="2448" y="949631"/>
                  <a:pt x="9521" y="733651"/>
                  <a:pt x="0" y="562890"/>
                </a:cubicBezTo>
                <a:cubicBezTo>
                  <a:pt x="-9521" y="392129"/>
                  <a:pt x="-22769" y="274947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5C643A-05D2-CE9E-74A5-11034C523F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950" y="6330950"/>
            <a:ext cx="527050" cy="5270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508127-F345-6A9B-DD51-CE19B92374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550" y="6178550"/>
            <a:ext cx="679450" cy="6794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8E4AED-7A7B-F209-AE1C-693967A052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206" y="6090743"/>
            <a:ext cx="622300" cy="6223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027662-437A-84D8-FEDA-59CAD41EC4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62" y="6235700"/>
            <a:ext cx="577850" cy="5778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AE8923-193D-E703-E04D-2260508F37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107" y="6010101"/>
            <a:ext cx="577850" cy="57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5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3BFAA42-D16A-9BCA-B169-AB93590BC8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916" y="0"/>
            <a:ext cx="13691831" cy="6867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F1A52C-4F1A-9308-1721-ACCCB72E6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321" y="155175"/>
            <a:ext cx="4037088" cy="5300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D905C4-1D83-83A4-4B6B-174AE1151F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84613">
            <a:off x="2605579" y="2314751"/>
            <a:ext cx="754046" cy="542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C85F9-E692-2585-4AF2-5DB6D3B1F2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9351">
            <a:off x="5116984" y="2170386"/>
            <a:ext cx="3094579" cy="1508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88E3BF-F705-CCA9-657E-2708DD9EE9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01" y="2080150"/>
            <a:ext cx="4137364" cy="46398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226860-B094-A103-2038-3E795783D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936">
            <a:off x="3418776" y="1954179"/>
            <a:ext cx="1513576" cy="965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731416-E28C-BF82-C300-01F133D066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2151">
            <a:off x="5626764" y="3499674"/>
            <a:ext cx="1914205" cy="9965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AE2047-AA8D-7945-0DCC-CFB5E1CE6D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460" y="3207595"/>
            <a:ext cx="1075676" cy="8800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5C917C-69AE-CAD9-F561-343E96DB05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9884">
            <a:off x="6884770" y="5140389"/>
            <a:ext cx="2648113" cy="13950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71ADB2-86C1-C030-3D43-B8B3828647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7275">
            <a:off x="235629" y="274257"/>
            <a:ext cx="4814900" cy="1771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4391214-C387-A016-39D8-F51A55D21A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3948">
            <a:off x="5164975" y="495220"/>
            <a:ext cx="2735148" cy="12583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80A851F-E903-123E-AFDF-1BCF9515B6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0731">
            <a:off x="4576782" y="5108211"/>
            <a:ext cx="2124456" cy="126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2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91DE0-E535-7C33-4651-BC5DD2E0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9430113-2E1D-8449-2F7A-C143EE3A53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916" y="0"/>
            <a:ext cx="13691831" cy="6867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6B3C83-B326-DAE0-BF6D-E93A93862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35275">
            <a:off x="9791884" y="4240388"/>
            <a:ext cx="1765709" cy="2318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D9C060-9DA3-DB76-FCD4-F5B2520F7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84613">
            <a:off x="4727716" y="884173"/>
            <a:ext cx="754046" cy="542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D73D53-E347-42D0-DA22-C28E1B688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9351">
            <a:off x="6634045" y="177165"/>
            <a:ext cx="1939872" cy="945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DEB844-D330-3D7D-52F3-0B2291E9DD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1462">
            <a:off x="430212" y="4252956"/>
            <a:ext cx="2040918" cy="22888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6942F-71B6-83CE-88E6-E4AD806F4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936">
            <a:off x="5430184" y="127060"/>
            <a:ext cx="954678" cy="6087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894F6E-4663-1C66-F52B-BB8AE2BCD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2151">
            <a:off x="6793363" y="983305"/>
            <a:ext cx="1335270" cy="6951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8848EF-8EAC-9C5E-4CC0-DB013A6922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675" y="888059"/>
            <a:ext cx="711936" cy="5824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301374-C007-A9EE-3543-BBE2EEDADD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9884">
            <a:off x="9746406" y="1125634"/>
            <a:ext cx="1930070" cy="10167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D8DB2E-9751-2C94-CDBA-6A0A4524C1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3751">
            <a:off x="344188" y="364401"/>
            <a:ext cx="2408679" cy="8862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D1AC37-85B1-F03C-B827-16C68E342C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3948">
            <a:off x="2964959" y="584907"/>
            <a:ext cx="1565084" cy="7200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029981-76BC-F4E2-932F-CBEC8F8F8C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0731">
            <a:off x="9225917" y="279098"/>
            <a:ext cx="1243525" cy="7420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FD667BD-3ADD-5D7C-9106-5AF9EE7698F5}"/>
              </a:ext>
            </a:extLst>
          </p:cNvPr>
          <p:cNvSpPr/>
          <p:nvPr/>
        </p:nvSpPr>
        <p:spPr>
          <a:xfrm>
            <a:off x="-5315023" y="428106"/>
            <a:ext cx="4788130" cy="714894"/>
          </a:xfrm>
          <a:custGeom>
            <a:avLst/>
            <a:gdLst>
              <a:gd name="csX0" fmla="*/ 0 w 4788130"/>
              <a:gd name="csY0" fmla="*/ 0 h 714894"/>
              <a:gd name="csX1" fmla="*/ 4788130 w 4788130"/>
              <a:gd name="csY1" fmla="*/ 0 h 714894"/>
              <a:gd name="csX2" fmla="*/ 4788130 w 4788130"/>
              <a:gd name="csY2" fmla="*/ 714894 h 714894"/>
              <a:gd name="csX3" fmla="*/ 0 w 4788130"/>
              <a:gd name="csY3" fmla="*/ 714894 h 714894"/>
              <a:gd name="csX4" fmla="*/ 0 w 4788130"/>
              <a:gd name="csY4" fmla="*/ 0 h 714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88130" h="714894" fill="none" extrusionOk="0">
                <a:moveTo>
                  <a:pt x="0" y="0"/>
                </a:moveTo>
                <a:cubicBezTo>
                  <a:pt x="1369688" y="57912"/>
                  <a:pt x="3958759" y="-77563"/>
                  <a:pt x="4788130" y="0"/>
                </a:cubicBezTo>
                <a:cubicBezTo>
                  <a:pt x="4809974" y="146882"/>
                  <a:pt x="4813385" y="588672"/>
                  <a:pt x="4788130" y="714894"/>
                </a:cubicBezTo>
                <a:cubicBezTo>
                  <a:pt x="3295388" y="848821"/>
                  <a:pt x="1850869" y="816071"/>
                  <a:pt x="0" y="714894"/>
                </a:cubicBezTo>
                <a:cubicBezTo>
                  <a:pt x="43383" y="550477"/>
                  <a:pt x="30628" y="321488"/>
                  <a:pt x="0" y="0"/>
                </a:cubicBezTo>
                <a:close/>
              </a:path>
              <a:path w="4788130" h="714894" stroke="0" extrusionOk="0">
                <a:moveTo>
                  <a:pt x="0" y="0"/>
                </a:moveTo>
                <a:cubicBezTo>
                  <a:pt x="480722" y="8342"/>
                  <a:pt x="3452854" y="6445"/>
                  <a:pt x="4788130" y="0"/>
                </a:cubicBezTo>
                <a:cubicBezTo>
                  <a:pt x="4748578" y="211633"/>
                  <a:pt x="4751086" y="362961"/>
                  <a:pt x="4788130" y="714894"/>
                </a:cubicBezTo>
                <a:cubicBezTo>
                  <a:pt x="2434521" y="718656"/>
                  <a:pt x="1582317" y="626828"/>
                  <a:pt x="0" y="714894"/>
                </a:cubicBezTo>
                <a:cubicBezTo>
                  <a:pt x="-35050" y="385940"/>
                  <a:pt x="-24139" y="172577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uka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minä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olen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FA7DA-BF67-0444-81BB-A95B3B34DD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91999" y="11736"/>
            <a:ext cx="12192000" cy="6856087"/>
          </a:xfrm>
          <a:prstGeom prst="rect">
            <a:avLst/>
          </a:prstGeom>
        </p:spPr>
      </p:pic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8D98EA1E-10C1-2170-D996-5736A79DB1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"/>
          <a:stretch>
            <a:fillRect/>
          </a:stretch>
        </p:blipFill>
        <p:spPr>
          <a:xfrm>
            <a:off x="12192000" y="0"/>
            <a:ext cx="11398006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1D1F1B-D399-7FD1-6B98-0BABE02F5234}"/>
              </a:ext>
            </a:extLst>
          </p:cNvPr>
          <p:cNvSpPr/>
          <p:nvPr/>
        </p:nvSpPr>
        <p:spPr>
          <a:xfrm rot="21185773">
            <a:off x="274832" y="1918290"/>
            <a:ext cx="3988483" cy="947097"/>
          </a:xfrm>
          <a:custGeom>
            <a:avLst/>
            <a:gdLst>
              <a:gd name="csX0" fmla="*/ 0 w 3988483"/>
              <a:gd name="csY0" fmla="*/ 0 h 947097"/>
              <a:gd name="csX1" fmla="*/ 704632 w 3988483"/>
              <a:gd name="csY1" fmla="*/ 0 h 947097"/>
              <a:gd name="csX2" fmla="*/ 1289610 w 3988483"/>
              <a:gd name="csY2" fmla="*/ 0 h 947097"/>
              <a:gd name="csX3" fmla="*/ 1914472 w 3988483"/>
              <a:gd name="csY3" fmla="*/ 0 h 947097"/>
              <a:gd name="csX4" fmla="*/ 2579219 w 3988483"/>
              <a:gd name="csY4" fmla="*/ 0 h 947097"/>
              <a:gd name="csX5" fmla="*/ 3283851 w 3988483"/>
              <a:gd name="csY5" fmla="*/ 0 h 947097"/>
              <a:gd name="csX6" fmla="*/ 3988483 w 3988483"/>
              <a:gd name="csY6" fmla="*/ 0 h 947097"/>
              <a:gd name="csX7" fmla="*/ 3988483 w 3988483"/>
              <a:gd name="csY7" fmla="*/ 473549 h 947097"/>
              <a:gd name="csX8" fmla="*/ 3988483 w 3988483"/>
              <a:gd name="csY8" fmla="*/ 947097 h 947097"/>
              <a:gd name="csX9" fmla="*/ 3443390 w 3988483"/>
              <a:gd name="csY9" fmla="*/ 947097 h 947097"/>
              <a:gd name="csX10" fmla="*/ 2858413 w 3988483"/>
              <a:gd name="csY10" fmla="*/ 947097 h 947097"/>
              <a:gd name="csX11" fmla="*/ 2193666 w 3988483"/>
              <a:gd name="csY11" fmla="*/ 947097 h 947097"/>
              <a:gd name="csX12" fmla="*/ 1648573 w 3988483"/>
              <a:gd name="csY12" fmla="*/ 947097 h 947097"/>
              <a:gd name="csX13" fmla="*/ 904056 w 3988483"/>
              <a:gd name="csY13" fmla="*/ 947097 h 947097"/>
              <a:gd name="csX14" fmla="*/ 0 w 3988483"/>
              <a:gd name="csY14" fmla="*/ 947097 h 947097"/>
              <a:gd name="csX15" fmla="*/ 0 w 3988483"/>
              <a:gd name="csY15" fmla="*/ 483019 h 947097"/>
              <a:gd name="csX16" fmla="*/ 0 w 3988483"/>
              <a:gd name="csY16" fmla="*/ 0 h 947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988483" h="947097" fill="none" extrusionOk="0">
                <a:moveTo>
                  <a:pt x="0" y="0"/>
                </a:moveTo>
                <a:cubicBezTo>
                  <a:pt x="305004" y="-30614"/>
                  <a:pt x="460240" y="-2994"/>
                  <a:pt x="704632" y="0"/>
                </a:cubicBezTo>
                <a:cubicBezTo>
                  <a:pt x="949024" y="2994"/>
                  <a:pt x="1065338" y="13657"/>
                  <a:pt x="1289610" y="0"/>
                </a:cubicBezTo>
                <a:cubicBezTo>
                  <a:pt x="1513882" y="-13657"/>
                  <a:pt x="1719003" y="-5343"/>
                  <a:pt x="1914472" y="0"/>
                </a:cubicBezTo>
                <a:cubicBezTo>
                  <a:pt x="2109941" y="5343"/>
                  <a:pt x="2433722" y="22344"/>
                  <a:pt x="2579219" y="0"/>
                </a:cubicBezTo>
                <a:cubicBezTo>
                  <a:pt x="2724716" y="-22344"/>
                  <a:pt x="3069041" y="-24043"/>
                  <a:pt x="3283851" y="0"/>
                </a:cubicBezTo>
                <a:cubicBezTo>
                  <a:pt x="3498661" y="24043"/>
                  <a:pt x="3753179" y="25986"/>
                  <a:pt x="3988483" y="0"/>
                </a:cubicBezTo>
                <a:cubicBezTo>
                  <a:pt x="4008134" y="155998"/>
                  <a:pt x="3981509" y="290784"/>
                  <a:pt x="3988483" y="473549"/>
                </a:cubicBezTo>
                <a:cubicBezTo>
                  <a:pt x="3995457" y="656314"/>
                  <a:pt x="3976279" y="776514"/>
                  <a:pt x="3988483" y="947097"/>
                </a:cubicBezTo>
                <a:cubicBezTo>
                  <a:pt x="3792325" y="935953"/>
                  <a:pt x="3659321" y="934740"/>
                  <a:pt x="3443390" y="947097"/>
                </a:cubicBezTo>
                <a:cubicBezTo>
                  <a:pt x="3227459" y="959454"/>
                  <a:pt x="3092855" y="933208"/>
                  <a:pt x="2858413" y="947097"/>
                </a:cubicBezTo>
                <a:cubicBezTo>
                  <a:pt x="2623971" y="960986"/>
                  <a:pt x="2499094" y="920569"/>
                  <a:pt x="2193666" y="947097"/>
                </a:cubicBezTo>
                <a:cubicBezTo>
                  <a:pt x="1888238" y="973625"/>
                  <a:pt x="1900463" y="956388"/>
                  <a:pt x="1648573" y="947097"/>
                </a:cubicBezTo>
                <a:cubicBezTo>
                  <a:pt x="1396683" y="937806"/>
                  <a:pt x="1184728" y="961132"/>
                  <a:pt x="904056" y="947097"/>
                </a:cubicBezTo>
                <a:cubicBezTo>
                  <a:pt x="623384" y="933062"/>
                  <a:pt x="424008" y="964539"/>
                  <a:pt x="0" y="947097"/>
                </a:cubicBezTo>
                <a:cubicBezTo>
                  <a:pt x="12044" y="785715"/>
                  <a:pt x="21762" y="638916"/>
                  <a:pt x="0" y="483019"/>
                </a:cubicBezTo>
                <a:cubicBezTo>
                  <a:pt x="-21762" y="327122"/>
                  <a:pt x="9335" y="232531"/>
                  <a:pt x="0" y="0"/>
                </a:cubicBezTo>
                <a:close/>
              </a:path>
              <a:path w="3988483" h="947097" stroke="0" extrusionOk="0">
                <a:moveTo>
                  <a:pt x="0" y="0"/>
                </a:moveTo>
                <a:cubicBezTo>
                  <a:pt x="295222" y="16023"/>
                  <a:pt x="574799" y="-4110"/>
                  <a:pt x="744517" y="0"/>
                </a:cubicBezTo>
                <a:cubicBezTo>
                  <a:pt x="914235" y="4110"/>
                  <a:pt x="1231190" y="-2015"/>
                  <a:pt x="1409264" y="0"/>
                </a:cubicBezTo>
                <a:cubicBezTo>
                  <a:pt x="1587338" y="2015"/>
                  <a:pt x="1848669" y="28831"/>
                  <a:pt x="1994241" y="0"/>
                </a:cubicBezTo>
                <a:cubicBezTo>
                  <a:pt x="2139813" y="-28831"/>
                  <a:pt x="2456655" y="22105"/>
                  <a:pt x="2658989" y="0"/>
                </a:cubicBezTo>
                <a:cubicBezTo>
                  <a:pt x="2861323" y="-22105"/>
                  <a:pt x="3056002" y="1934"/>
                  <a:pt x="3403505" y="0"/>
                </a:cubicBezTo>
                <a:cubicBezTo>
                  <a:pt x="3751008" y="-1934"/>
                  <a:pt x="3774895" y="-8883"/>
                  <a:pt x="3988483" y="0"/>
                </a:cubicBezTo>
                <a:cubicBezTo>
                  <a:pt x="3976982" y="153771"/>
                  <a:pt x="3986955" y="268818"/>
                  <a:pt x="3988483" y="445136"/>
                </a:cubicBezTo>
                <a:cubicBezTo>
                  <a:pt x="3990011" y="621454"/>
                  <a:pt x="3987199" y="832146"/>
                  <a:pt x="3988483" y="947097"/>
                </a:cubicBezTo>
                <a:cubicBezTo>
                  <a:pt x="3818449" y="952569"/>
                  <a:pt x="3606020" y="976701"/>
                  <a:pt x="3363621" y="947097"/>
                </a:cubicBezTo>
                <a:cubicBezTo>
                  <a:pt x="3121222" y="917493"/>
                  <a:pt x="2989365" y="920810"/>
                  <a:pt x="2738758" y="947097"/>
                </a:cubicBezTo>
                <a:cubicBezTo>
                  <a:pt x="2488151" y="973384"/>
                  <a:pt x="2267154" y="963631"/>
                  <a:pt x="2113896" y="947097"/>
                </a:cubicBezTo>
                <a:cubicBezTo>
                  <a:pt x="1960638" y="930563"/>
                  <a:pt x="1638091" y="921241"/>
                  <a:pt x="1409264" y="947097"/>
                </a:cubicBezTo>
                <a:cubicBezTo>
                  <a:pt x="1180437" y="972953"/>
                  <a:pt x="954091" y="938505"/>
                  <a:pt x="824286" y="947097"/>
                </a:cubicBezTo>
                <a:cubicBezTo>
                  <a:pt x="694481" y="955689"/>
                  <a:pt x="368091" y="987883"/>
                  <a:pt x="0" y="947097"/>
                </a:cubicBezTo>
                <a:cubicBezTo>
                  <a:pt x="12676" y="808560"/>
                  <a:pt x="373" y="572964"/>
                  <a:pt x="0" y="464078"/>
                </a:cubicBezTo>
                <a:cubicBezTo>
                  <a:pt x="-373" y="355192"/>
                  <a:pt x="14736" y="147188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Mihin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tekoäly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jo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pystyy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pelinkehityksessä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38F905-FAFC-2367-B640-03F0DC26A8C6}"/>
              </a:ext>
            </a:extLst>
          </p:cNvPr>
          <p:cNvSpPr/>
          <p:nvPr/>
        </p:nvSpPr>
        <p:spPr>
          <a:xfrm>
            <a:off x="2490390" y="5197603"/>
            <a:ext cx="7618575" cy="979844"/>
          </a:xfrm>
          <a:custGeom>
            <a:avLst/>
            <a:gdLst>
              <a:gd name="csX0" fmla="*/ 0 w 7618575"/>
              <a:gd name="csY0" fmla="*/ 0 h 979844"/>
              <a:gd name="csX1" fmla="*/ 844969 w 7618575"/>
              <a:gd name="csY1" fmla="*/ 0 h 979844"/>
              <a:gd name="csX2" fmla="*/ 1613753 w 7618575"/>
              <a:gd name="csY2" fmla="*/ 0 h 979844"/>
              <a:gd name="csX3" fmla="*/ 2077793 w 7618575"/>
              <a:gd name="csY3" fmla="*/ 0 h 979844"/>
              <a:gd name="csX4" fmla="*/ 2922762 w 7618575"/>
              <a:gd name="csY4" fmla="*/ 0 h 979844"/>
              <a:gd name="csX5" fmla="*/ 3615360 w 7618575"/>
              <a:gd name="csY5" fmla="*/ 0 h 979844"/>
              <a:gd name="csX6" fmla="*/ 4231772 w 7618575"/>
              <a:gd name="csY6" fmla="*/ 0 h 979844"/>
              <a:gd name="csX7" fmla="*/ 5076741 w 7618575"/>
              <a:gd name="csY7" fmla="*/ 0 h 979844"/>
              <a:gd name="csX8" fmla="*/ 5540782 w 7618575"/>
              <a:gd name="csY8" fmla="*/ 0 h 979844"/>
              <a:gd name="csX9" fmla="*/ 6081008 w 7618575"/>
              <a:gd name="csY9" fmla="*/ 0 h 979844"/>
              <a:gd name="csX10" fmla="*/ 6773606 w 7618575"/>
              <a:gd name="csY10" fmla="*/ 0 h 979844"/>
              <a:gd name="csX11" fmla="*/ 7618575 w 7618575"/>
              <a:gd name="csY11" fmla="*/ 0 h 979844"/>
              <a:gd name="csX12" fmla="*/ 7618575 w 7618575"/>
              <a:gd name="csY12" fmla="*/ 509519 h 979844"/>
              <a:gd name="csX13" fmla="*/ 7618575 w 7618575"/>
              <a:gd name="csY13" fmla="*/ 979844 h 979844"/>
              <a:gd name="csX14" fmla="*/ 6849792 w 7618575"/>
              <a:gd name="csY14" fmla="*/ 979844 h 979844"/>
              <a:gd name="csX15" fmla="*/ 6081008 w 7618575"/>
              <a:gd name="csY15" fmla="*/ 979844 h 979844"/>
              <a:gd name="csX16" fmla="*/ 5616968 w 7618575"/>
              <a:gd name="csY16" fmla="*/ 979844 h 979844"/>
              <a:gd name="csX17" fmla="*/ 5152927 w 7618575"/>
              <a:gd name="csY17" fmla="*/ 979844 h 979844"/>
              <a:gd name="csX18" fmla="*/ 4688887 w 7618575"/>
              <a:gd name="csY18" fmla="*/ 979844 h 979844"/>
              <a:gd name="csX19" fmla="*/ 4072475 w 7618575"/>
              <a:gd name="csY19" fmla="*/ 979844 h 979844"/>
              <a:gd name="csX20" fmla="*/ 3379877 w 7618575"/>
              <a:gd name="csY20" fmla="*/ 979844 h 979844"/>
              <a:gd name="csX21" fmla="*/ 2687279 w 7618575"/>
              <a:gd name="csY21" fmla="*/ 979844 h 979844"/>
              <a:gd name="csX22" fmla="*/ 1994681 w 7618575"/>
              <a:gd name="csY22" fmla="*/ 979844 h 979844"/>
              <a:gd name="csX23" fmla="*/ 1302084 w 7618575"/>
              <a:gd name="csY23" fmla="*/ 979844 h 979844"/>
              <a:gd name="csX24" fmla="*/ 0 w 7618575"/>
              <a:gd name="csY24" fmla="*/ 979844 h 979844"/>
              <a:gd name="csX25" fmla="*/ 0 w 7618575"/>
              <a:gd name="csY25" fmla="*/ 470325 h 979844"/>
              <a:gd name="csX26" fmla="*/ 0 w 7618575"/>
              <a:gd name="csY26" fmla="*/ 0 h 979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618575" h="979844" fill="none" extrusionOk="0">
                <a:moveTo>
                  <a:pt x="0" y="0"/>
                </a:moveTo>
                <a:cubicBezTo>
                  <a:pt x="234998" y="-40894"/>
                  <a:pt x="582230" y="-1232"/>
                  <a:pt x="844969" y="0"/>
                </a:cubicBezTo>
                <a:cubicBezTo>
                  <a:pt x="1107708" y="1232"/>
                  <a:pt x="1452416" y="-29998"/>
                  <a:pt x="1613753" y="0"/>
                </a:cubicBezTo>
                <a:cubicBezTo>
                  <a:pt x="1775090" y="29998"/>
                  <a:pt x="1920191" y="-19629"/>
                  <a:pt x="2077793" y="0"/>
                </a:cubicBezTo>
                <a:cubicBezTo>
                  <a:pt x="2235395" y="19629"/>
                  <a:pt x="2681245" y="-12853"/>
                  <a:pt x="2922762" y="0"/>
                </a:cubicBezTo>
                <a:cubicBezTo>
                  <a:pt x="3164279" y="12853"/>
                  <a:pt x="3406844" y="2863"/>
                  <a:pt x="3615360" y="0"/>
                </a:cubicBezTo>
                <a:cubicBezTo>
                  <a:pt x="3823876" y="-2863"/>
                  <a:pt x="4078494" y="-7709"/>
                  <a:pt x="4231772" y="0"/>
                </a:cubicBezTo>
                <a:cubicBezTo>
                  <a:pt x="4385050" y="7709"/>
                  <a:pt x="4760351" y="5333"/>
                  <a:pt x="5076741" y="0"/>
                </a:cubicBezTo>
                <a:cubicBezTo>
                  <a:pt x="5393131" y="-5333"/>
                  <a:pt x="5427722" y="-17678"/>
                  <a:pt x="5540782" y="0"/>
                </a:cubicBezTo>
                <a:cubicBezTo>
                  <a:pt x="5653842" y="17678"/>
                  <a:pt x="5934097" y="-19140"/>
                  <a:pt x="6081008" y="0"/>
                </a:cubicBezTo>
                <a:cubicBezTo>
                  <a:pt x="6227919" y="19140"/>
                  <a:pt x="6466075" y="-799"/>
                  <a:pt x="6773606" y="0"/>
                </a:cubicBezTo>
                <a:cubicBezTo>
                  <a:pt x="7081137" y="799"/>
                  <a:pt x="7418668" y="15766"/>
                  <a:pt x="7618575" y="0"/>
                </a:cubicBezTo>
                <a:cubicBezTo>
                  <a:pt x="7611150" y="188424"/>
                  <a:pt x="7622281" y="398818"/>
                  <a:pt x="7618575" y="509519"/>
                </a:cubicBezTo>
                <a:cubicBezTo>
                  <a:pt x="7614869" y="620220"/>
                  <a:pt x="7627288" y="805031"/>
                  <a:pt x="7618575" y="979844"/>
                </a:cubicBezTo>
                <a:cubicBezTo>
                  <a:pt x="7374238" y="1000427"/>
                  <a:pt x="7099751" y="986841"/>
                  <a:pt x="6849792" y="979844"/>
                </a:cubicBezTo>
                <a:cubicBezTo>
                  <a:pt x="6599833" y="972847"/>
                  <a:pt x="6307449" y="947647"/>
                  <a:pt x="6081008" y="979844"/>
                </a:cubicBezTo>
                <a:cubicBezTo>
                  <a:pt x="5854567" y="1012041"/>
                  <a:pt x="5741312" y="990568"/>
                  <a:pt x="5616968" y="979844"/>
                </a:cubicBezTo>
                <a:cubicBezTo>
                  <a:pt x="5492624" y="969120"/>
                  <a:pt x="5246759" y="987821"/>
                  <a:pt x="5152927" y="979844"/>
                </a:cubicBezTo>
                <a:cubicBezTo>
                  <a:pt x="5059095" y="971867"/>
                  <a:pt x="4831597" y="997021"/>
                  <a:pt x="4688887" y="979844"/>
                </a:cubicBezTo>
                <a:cubicBezTo>
                  <a:pt x="4546177" y="962667"/>
                  <a:pt x="4287045" y="992583"/>
                  <a:pt x="4072475" y="979844"/>
                </a:cubicBezTo>
                <a:cubicBezTo>
                  <a:pt x="3857905" y="967105"/>
                  <a:pt x="3684242" y="985021"/>
                  <a:pt x="3379877" y="979844"/>
                </a:cubicBezTo>
                <a:cubicBezTo>
                  <a:pt x="3075512" y="974667"/>
                  <a:pt x="2957974" y="949910"/>
                  <a:pt x="2687279" y="979844"/>
                </a:cubicBezTo>
                <a:cubicBezTo>
                  <a:pt x="2416584" y="1009778"/>
                  <a:pt x="2315554" y="959813"/>
                  <a:pt x="1994681" y="979844"/>
                </a:cubicBezTo>
                <a:cubicBezTo>
                  <a:pt x="1673808" y="999875"/>
                  <a:pt x="1603720" y="1008870"/>
                  <a:pt x="1302084" y="979844"/>
                </a:cubicBezTo>
                <a:cubicBezTo>
                  <a:pt x="1000448" y="950818"/>
                  <a:pt x="366344" y="1030588"/>
                  <a:pt x="0" y="979844"/>
                </a:cubicBezTo>
                <a:cubicBezTo>
                  <a:pt x="-6653" y="812494"/>
                  <a:pt x="10793" y="690454"/>
                  <a:pt x="0" y="470325"/>
                </a:cubicBezTo>
                <a:cubicBezTo>
                  <a:pt x="-10793" y="250196"/>
                  <a:pt x="-15608" y="146899"/>
                  <a:pt x="0" y="0"/>
                </a:cubicBezTo>
                <a:close/>
              </a:path>
              <a:path w="7618575" h="979844" stroke="0" extrusionOk="0">
                <a:moveTo>
                  <a:pt x="0" y="0"/>
                </a:moveTo>
                <a:cubicBezTo>
                  <a:pt x="183306" y="-27149"/>
                  <a:pt x="673792" y="22415"/>
                  <a:pt x="844969" y="0"/>
                </a:cubicBezTo>
                <a:cubicBezTo>
                  <a:pt x="1016146" y="-22415"/>
                  <a:pt x="1387386" y="-24578"/>
                  <a:pt x="1537567" y="0"/>
                </a:cubicBezTo>
                <a:cubicBezTo>
                  <a:pt x="1687748" y="24578"/>
                  <a:pt x="1862133" y="25448"/>
                  <a:pt x="2077793" y="0"/>
                </a:cubicBezTo>
                <a:cubicBezTo>
                  <a:pt x="2293453" y="-25448"/>
                  <a:pt x="2468767" y="13964"/>
                  <a:pt x="2770391" y="0"/>
                </a:cubicBezTo>
                <a:cubicBezTo>
                  <a:pt x="3072015" y="-13964"/>
                  <a:pt x="3376467" y="-21462"/>
                  <a:pt x="3615360" y="0"/>
                </a:cubicBezTo>
                <a:cubicBezTo>
                  <a:pt x="3854253" y="21462"/>
                  <a:pt x="3895641" y="22588"/>
                  <a:pt x="4155586" y="0"/>
                </a:cubicBezTo>
                <a:cubicBezTo>
                  <a:pt x="4415531" y="-22588"/>
                  <a:pt x="4525860" y="10374"/>
                  <a:pt x="4619627" y="0"/>
                </a:cubicBezTo>
                <a:cubicBezTo>
                  <a:pt x="4713394" y="-10374"/>
                  <a:pt x="5054668" y="1084"/>
                  <a:pt x="5312225" y="0"/>
                </a:cubicBezTo>
                <a:cubicBezTo>
                  <a:pt x="5569782" y="-1084"/>
                  <a:pt x="5694207" y="32511"/>
                  <a:pt x="6004822" y="0"/>
                </a:cubicBezTo>
                <a:cubicBezTo>
                  <a:pt x="6315437" y="-32511"/>
                  <a:pt x="6414092" y="-2301"/>
                  <a:pt x="6773606" y="0"/>
                </a:cubicBezTo>
                <a:cubicBezTo>
                  <a:pt x="7133120" y="2301"/>
                  <a:pt x="7287141" y="25984"/>
                  <a:pt x="7618575" y="0"/>
                </a:cubicBezTo>
                <a:cubicBezTo>
                  <a:pt x="7636323" y="112377"/>
                  <a:pt x="7612609" y="257700"/>
                  <a:pt x="7618575" y="460527"/>
                </a:cubicBezTo>
                <a:cubicBezTo>
                  <a:pt x="7624541" y="663354"/>
                  <a:pt x="7593896" y="722553"/>
                  <a:pt x="7618575" y="979844"/>
                </a:cubicBezTo>
                <a:cubicBezTo>
                  <a:pt x="7336695" y="967750"/>
                  <a:pt x="7145337" y="954235"/>
                  <a:pt x="7002163" y="979844"/>
                </a:cubicBezTo>
                <a:cubicBezTo>
                  <a:pt x="6858989" y="1005453"/>
                  <a:pt x="6449277" y="1016387"/>
                  <a:pt x="6233380" y="979844"/>
                </a:cubicBezTo>
                <a:cubicBezTo>
                  <a:pt x="6017483" y="943301"/>
                  <a:pt x="5621315" y="962374"/>
                  <a:pt x="5388410" y="979844"/>
                </a:cubicBezTo>
                <a:cubicBezTo>
                  <a:pt x="5155505" y="997315"/>
                  <a:pt x="4985659" y="955727"/>
                  <a:pt x="4619627" y="979844"/>
                </a:cubicBezTo>
                <a:cubicBezTo>
                  <a:pt x="4253595" y="1003961"/>
                  <a:pt x="4083609" y="958608"/>
                  <a:pt x="3927029" y="979844"/>
                </a:cubicBezTo>
                <a:cubicBezTo>
                  <a:pt x="3770449" y="1001080"/>
                  <a:pt x="3589958" y="987619"/>
                  <a:pt x="3462989" y="979844"/>
                </a:cubicBezTo>
                <a:cubicBezTo>
                  <a:pt x="3336020" y="972069"/>
                  <a:pt x="3015671" y="960842"/>
                  <a:pt x="2770391" y="979844"/>
                </a:cubicBezTo>
                <a:cubicBezTo>
                  <a:pt x="2525111" y="998846"/>
                  <a:pt x="2319832" y="996637"/>
                  <a:pt x="1925422" y="979844"/>
                </a:cubicBezTo>
                <a:cubicBezTo>
                  <a:pt x="1531012" y="963051"/>
                  <a:pt x="1493067" y="942601"/>
                  <a:pt x="1080452" y="979844"/>
                </a:cubicBezTo>
                <a:cubicBezTo>
                  <a:pt x="667837" y="1017088"/>
                  <a:pt x="537106" y="967964"/>
                  <a:pt x="0" y="979844"/>
                </a:cubicBezTo>
                <a:cubicBezTo>
                  <a:pt x="-5777" y="803662"/>
                  <a:pt x="21682" y="588238"/>
                  <a:pt x="0" y="489922"/>
                </a:cubicBezTo>
                <a:cubicBezTo>
                  <a:pt x="-21682" y="391606"/>
                  <a:pt x="1204" y="144229"/>
                  <a:pt x="0" y="0"/>
                </a:cubicBezTo>
                <a:close/>
              </a:path>
            </a:pathLst>
          </a:custGeom>
          <a:solidFill>
            <a:srgbClr val="FF8B8B"/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</a:t>
            </a:r>
            <a:r>
              <a:rPr lang="en-FI" sz="4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nko</a:t>
            </a:r>
            <a:r>
              <a:rPr lang="en-FI" sz="4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4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kaikki</a:t>
            </a:r>
            <a:r>
              <a:rPr lang="en-FI" sz="4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4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nyt</a:t>
            </a:r>
            <a:r>
              <a:rPr lang="en-FI" sz="4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4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ohi</a:t>
            </a:r>
            <a:r>
              <a:rPr lang="en-FI" sz="4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352288-052F-F7AB-687B-B24B2BA1D532}"/>
              </a:ext>
            </a:extLst>
          </p:cNvPr>
          <p:cNvSpPr/>
          <p:nvPr/>
        </p:nvSpPr>
        <p:spPr>
          <a:xfrm rot="550201">
            <a:off x="4382996" y="2014457"/>
            <a:ext cx="3519978" cy="981549"/>
          </a:xfrm>
          <a:custGeom>
            <a:avLst/>
            <a:gdLst>
              <a:gd name="csX0" fmla="*/ 0 w 3519978"/>
              <a:gd name="csY0" fmla="*/ 0 h 981549"/>
              <a:gd name="csX1" fmla="*/ 621863 w 3519978"/>
              <a:gd name="csY1" fmla="*/ 0 h 981549"/>
              <a:gd name="csX2" fmla="*/ 1138126 w 3519978"/>
              <a:gd name="csY2" fmla="*/ 0 h 981549"/>
              <a:gd name="csX3" fmla="*/ 1689589 w 3519978"/>
              <a:gd name="csY3" fmla="*/ 0 h 981549"/>
              <a:gd name="csX4" fmla="*/ 2276252 w 3519978"/>
              <a:gd name="csY4" fmla="*/ 0 h 981549"/>
              <a:gd name="csX5" fmla="*/ 2898115 w 3519978"/>
              <a:gd name="csY5" fmla="*/ 0 h 981549"/>
              <a:gd name="csX6" fmla="*/ 3519978 w 3519978"/>
              <a:gd name="csY6" fmla="*/ 0 h 981549"/>
              <a:gd name="csX7" fmla="*/ 3519978 w 3519978"/>
              <a:gd name="csY7" fmla="*/ 490775 h 981549"/>
              <a:gd name="csX8" fmla="*/ 3519978 w 3519978"/>
              <a:gd name="csY8" fmla="*/ 981549 h 981549"/>
              <a:gd name="csX9" fmla="*/ 3038914 w 3519978"/>
              <a:gd name="csY9" fmla="*/ 981549 h 981549"/>
              <a:gd name="csX10" fmla="*/ 2522651 w 3519978"/>
              <a:gd name="csY10" fmla="*/ 981549 h 981549"/>
              <a:gd name="csX11" fmla="*/ 1935988 w 3519978"/>
              <a:gd name="csY11" fmla="*/ 981549 h 981549"/>
              <a:gd name="csX12" fmla="*/ 1454924 w 3519978"/>
              <a:gd name="csY12" fmla="*/ 981549 h 981549"/>
              <a:gd name="csX13" fmla="*/ 797862 w 3519978"/>
              <a:gd name="csY13" fmla="*/ 981549 h 981549"/>
              <a:gd name="csX14" fmla="*/ 0 w 3519978"/>
              <a:gd name="csY14" fmla="*/ 981549 h 981549"/>
              <a:gd name="csX15" fmla="*/ 0 w 3519978"/>
              <a:gd name="csY15" fmla="*/ 500590 h 981549"/>
              <a:gd name="csX16" fmla="*/ 0 w 3519978"/>
              <a:gd name="csY16" fmla="*/ 0 h 981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519978" h="981549" fill="none" extrusionOk="0">
                <a:moveTo>
                  <a:pt x="0" y="0"/>
                </a:moveTo>
                <a:cubicBezTo>
                  <a:pt x="242946" y="-1710"/>
                  <a:pt x="479459" y="726"/>
                  <a:pt x="621863" y="0"/>
                </a:cubicBezTo>
                <a:cubicBezTo>
                  <a:pt x="764267" y="-726"/>
                  <a:pt x="969221" y="13553"/>
                  <a:pt x="1138126" y="0"/>
                </a:cubicBezTo>
                <a:cubicBezTo>
                  <a:pt x="1307031" y="-13553"/>
                  <a:pt x="1439836" y="-27233"/>
                  <a:pt x="1689589" y="0"/>
                </a:cubicBezTo>
                <a:cubicBezTo>
                  <a:pt x="1939342" y="27233"/>
                  <a:pt x="2125926" y="-3038"/>
                  <a:pt x="2276252" y="0"/>
                </a:cubicBezTo>
                <a:cubicBezTo>
                  <a:pt x="2426578" y="3038"/>
                  <a:pt x="2676076" y="13958"/>
                  <a:pt x="2898115" y="0"/>
                </a:cubicBezTo>
                <a:cubicBezTo>
                  <a:pt x="3120154" y="-13958"/>
                  <a:pt x="3391695" y="-25712"/>
                  <a:pt x="3519978" y="0"/>
                </a:cubicBezTo>
                <a:cubicBezTo>
                  <a:pt x="3544481" y="234688"/>
                  <a:pt x="3527567" y="342577"/>
                  <a:pt x="3519978" y="490775"/>
                </a:cubicBezTo>
                <a:cubicBezTo>
                  <a:pt x="3512389" y="638974"/>
                  <a:pt x="3543301" y="865803"/>
                  <a:pt x="3519978" y="981549"/>
                </a:cubicBezTo>
                <a:cubicBezTo>
                  <a:pt x="3326064" y="998055"/>
                  <a:pt x="3187741" y="978703"/>
                  <a:pt x="3038914" y="981549"/>
                </a:cubicBezTo>
                <a:cubicBezTo>
                  <a:pt x="2890087" y="984395"/>
                  <a:pt x="2753712" y="990179"/>
                  <a:pt x="2522651" y="981549"/>
                </a:cubicBezTo>
                <a:cubicBezTo>
                  <a:pt x="2291590" y="972919"/>
                  <a:pt x="2089287" y="962492"/>
                  <a:pt x="1935988" y="981549"/>
                </a:cubicBezTo>
                <a:cubicBezTo>
                  <a:pt x="1782689" y="1000606"/>
                  <a:pt x="1609965" y="984082"/>
                  <a:pt x="1454924" y="981549"/>
                </a:cubicBezTo>
                <a:cubicBezTo>
                  <a:pt x="1299883" y="979016"/>
                  <a:pt x="946846" y="953414"/>
                  <a:pt x="797862" y="981549"/>
                </a:cubicBezTo>
                <a:cubicBezTo>
                  <a:pt x="648878" y="1009684"/>
                  <a:pt x="315223" y="1013849"/>
                  <a:pt x="0" y="981549"/>
                </a:cubicBezTo>
                <a:cubicBezTo>
                  <a:pt x="11003" y="809822"/>
                  <a:pt x="19944" y="633515"/>
                  <a:pt x="0" y="500590"/>
                </a:cubicBezTo>
                <a:cubicBezTo>
                  <a:pt x="-19944" y="367665"/>
                  <a:pt x="5007" y="110241"/>
                  <a:pt x="0" y="0"/>
                </a:cubicBezTo>
                <a:close/>
              </a:path>
              <a:path w="3519978" h="981549" stroke="0" extrusionOk="0">
                <a:moveTo>
                  <a:pt x="0" y="0"/>
                </a:moveTo>
                <a:cubicBezTo>
                  <a:pt x="143327" y="-3072"/>
                  <a:pt x="363371" y="-1868"/>
                  <a:pt x="657063" y="0"/>
                </a:cubicBezTo>
                <a:cubicBezTo>
                  <a:pt x="950755" y="1868"/>
                  <a:pt x="1101461" y="-27075"/>
                  <a:pt x="1243726" y="0"/>
                </a:cubicBezTo>
                <a:cubicBezTo>
                  <a:pt x="1385991" y="27075"/>
                  <a:pt x="1648359" y="14513"/>
                  <a:pt x="1759989" y="0"/>
                </a:cubicBezTo>
                <a:cubicBezTo>
                  <a:pt x="1871619" y="-14513"/>
                  <a:pt x="2095810" y="-27695"/>
                  <a:pt x="2346652" y="0"/>
                </a:cubicBezTo>
                <a:cubicBezTo>
                  <a:pt x="2597494" y="27695"/>
                  <a:pt x="2764713" y="-12638"/>
                  <a:pt x="3003715" y="0"/>
                </a:cubicBezTo>
                <a:cubicBezTo>
                  <a:pt x="3242717" y="12638"/>
                  <a:pt x="3309268" y="11780"/>
                  <a:pt x="3519978" y="0"/>
                </a:cubicBezTo>
                <a:cubicBezTo>
                  <a:pt x="3518717" y="221208"/>
                  <a:pt x="3499789" y="238086"/>
                  <a:pt x="3519978" y="461328"/>
                </a:cubicBezTo>
                <a:cubicBezTo>
                  <a:pt x="3540167" y="684570"/>
                  <a:pt x="3495886" y="867829"/>
                  <a:pt x="3519978" y="981549"/>
                </a:cubicBezTo>
                <a:cubicBezTo>
                  <a:pt x="3386411" y="959491"/>
                  <a:pt x="3177706" y="960010"/>
                  <a:pt x="2968515" y="981549"/>
                </a:cubicBezTo>
                <a:cubicBezTo>
                  <a:pt x="2759324" y="1003088"/>
                  <a:pt x="2627074" y="996797"/>
                  <a:pt x="2417052" y="981549"/>
                </a:cubicBezTo>
                <a:cubicBezTo>
                  <a:pt x="2207030" y="966301"/>
                  <a:pt x="1990413" y="997770"/>
                  <a:pt x="1865588" y="981549"/>
                </a:cubicBezTo>
                <a:cubicBezTo>
                  <a:pt x="1740763" y="965328"/>
                  <a:pt x="1385377" y="993585"/>
                  <a:pt x="1243726" y="981549"/>
                </a:cubicBezTo>
                <a:cubicBezTo>
                  <a:pt x="1102075" y="969513"/>
                  <a:pt x="895262" y="992731"/>
                  <a:pt x="727462" y="981549"/>
                </a:cubicBezTo>
                <a:cubicBezTo>
                  <a:pt x="559662" y="970367"/>
                  <a:pt x="203270" y="983775"/>
                  <a:pt x="0" y="981549"/>
                </a:cubicBezTo>
                <a:cubicBezTo>
                  <a:pt x="16689" y="825472"/>
                  <a:pt x="17221" y="600653"/>
                  <a:pt x="0" y="480959"/>
                </a:cubicBezTo>
                <a:cubicBezTo>
                  <a:pt x="-17221" y="361265"/>
                  <a:pt x="-12783" y="117704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Miten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pelintekijän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rooli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muuttuu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5E6860-FC1C-4F1B-BD85-503AA972E5FD}"/>
              </a:ext>
            </a:extLst>
          </p:cNvPr>
          <p:cNvSpPr/>
          <p:nvPr/>
        </p:nvSpPr>
        <p:spPr>
          <a:xfrm rot="197483">
            <a:off x="8021070" y="2433157"/>
            <a:ext cx="3671782" cy="1283036"/>
          </a:xfrm>
          <a:custGeom>
            <a:avLst/>
            <a:gdLst>
              <a:gd name="csX0" fmla="*/ 0 w 3671782"/>
              <a:gd name="csY0" fmla="*/ 0 h 1283036"/>
              <a:gd name="csX1" fmla="*/ 648681 w 3671782"/>
              <a:gd name="csY1" fmla="*/ 0 h 1283036"/>
              <a:gd name="csX2" fmla="*/ 1187210 w 3671782"/>
              <a:gd name="csY2" fmla="*/ 0 h 1283036"/>
              <a:gd name="csX3" fmla="*/ 1762455 w 3671782"/>
              <a:gd name="csY3" fmla="*/ 0 h 1283036"/>
              <a:gd name="csX4" fmla="*/ 2374419 w 3671782"/>
              <a:gd name="csY4" fmla="*/ 0 h 1283036"/>
              <a:gd name="csX5" fmla="*/ 3023101 w 3671782"/>
              <a:gd name="csY5" fmla="*/ 0 h 1283036"/>
              <a:gd name="csX6" fmla="*/ 3671782 w 3671782"/>
              <a:gd name="csY6" fmla="*/ 0 h 1283036"/>
              <a:gd name="csX7" fmla="*/ 3671782 w 3671782"/>
              <a:gd name="csY7" fmla="*/ 641518 h 1283036"/>
              <a:gd name="csX8" fmla="*/ 3671782 w 3671782"/>
              <a:gd name="csY8" fmla="*/ 1283036 h 1283036"/>
              <a:gd name="csX9" fmla="*/ 3169972 w 3671782"/>
              <a:gd name="csY9" fmla="*/ 1283036 h 1283036"/>
              <a:gd name="csX10" fmla="*/ 2631444 w 3671782"/>
              <a:gd name="csY10" fmla="*/ 1283036 h 1283036"/>
              <a:gd name="csX11" fmla="*/ 2019480 w 3671782"/>
              <a:gd name="csY11" fmla="*/ 1283036 h 1283036"/>
              <a:gd name="csX12" fmla="*/ 1517670 w 3671782"/>
              <a:gd name="csY12" fmla="*/ 1283036 h 1283036"/>
              <a:gd name="csX13" fmla="*/ 832271 w 3671782"/>
              <a:gd name="csY13" fmla="*/ 1283036 h 1283036"/>
              <a:gd name="csX14" fmla="*/ 0 w 3671782"/>
              <a:gd name="csY14" fmla="*/ 1283036 h 1283036"/>
              <a:gd name="csX15" fmla="*/ 0 w 3671782"/>
              <a:gd name="csY15" fmla="*/ 654348 h 1283036"/>
              <a:gd name="csX16" fmla="*/ 0 w 3671782"/>
              <a:gd name="csY16" fmla="*/ 0 h 12830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71782" h="1283036" fill="none" extrusionOk="0">
                <a:moveTo>
                  <a:pt x="0" y="0"/>
                </a:moveTo>
                <a:cubicBezTo>
                  <a:pt x="285721" y="6643"/>
                  <a:pt x="377159" y="-10670"/>
                  <a:pt x="648681" y="0"/>
                </a:cubicBezTo>
                <a:cubicBezTo>
                  <a:pt x="920203" y="10670"/>
                  <a:pt x="1035175" y="10359"/>
                  <a:pt x="1187210" y="0"/>
                </a:cubicBezTo>
                <a:cubicBezTo>
                  <a:pt x="1339245" y="-10359"/>
                  <a:pt x="1480127" y="10492"/>
                  <a:pt x="1762455" y="0"/>
                </a:cubicBezTo>
                <a:cubicBezTo>
                  <a:pt x="2044784" y="-10492"/>
                  <a:pt x="2133551" y="-15480"/>
                  <a:pt x="2374419" y="0"/>
                </a:cubicBezTo>
                <a:cubicBezTo>
                  <a:pt x="2615287" y="15480"/>
                  <a:pt x="2834525" y="-14097"/>
                  <a:pt x="3023101" y="0"/>
                </a:cubicBezTo>
                <a:cubicBezTo>
                  <a:pt x="3211677" y="14097"/>
                  <a:pt x="3373437" y="30178"/>
                  <a:pt x="3671782" y="0"/>
                </a:cubicBezTo>
                <a:cubicBezTo>
                  <a:pt x="3677775" y="129320"/>
                  <a:pt x="3650847" y="398108"/>
                  <a:pt x="3671782" y="641518"/>
                </a:cubicBezTo>
                <a:cubicBezTo>
                  <a:pt x="3692717" y="884928"/>
                  <a:pt x="3694979" y="1082054"/>
                  <a:pt x="3671782" y="1283036"/>
                </a:cubicBezTo>
                <a:cubicBezTo>
                  <a:pt x="3566394" y="1307699"/>
                  <a:pt x="3280309" y="1261104"/>
                  <a:pt x="3169972" y="1283036"/>
                </a:cubicBezTo>
                <a:cubicBezTo>
                  <a:pt x="3059635" y="1304969"/>
                  <a:pt x="2887467" y="1300362"/>
                  <a:pt x="2631444" y="1283036"/>
                </a:cubicBezTo>
                <a:cubicBezTo>
                  <a:pt x="2375421" y="1265710"/>
                  <a:pt x="2237739" y="1286962"/>
                  <a:pt x="2019480" y="1283036"/>
                </a:cubicBezTo>
                <a:cubicBezTo>
                  <a:pt x="1801221" y="1279110"/>
                  <a:pt x="1673283" y="1296862"/>
                  <a:pt x="1517670" y="1283036"/>
                </a:cubicBezTo>
                <a:cubicBezTo>
                  <a:pt x="1362057" y="1269211"/>
                  <a:pt x="1001188" y="1271937"/>
                  <a:pt x="832271" y="1283036"/>
                </a:cubicBezTo>
                <a:cubicBezTo>
                  <a:pt x="663354" y="1294135"/>
                  <a:pt x="337126" y="1295519"/>
                  <a:pt x="0" y="1283036"/>
                </a:cubicBezTo>
                <a:cubicBezTo>
                  <a:pt x="-26278" y="1027758"/>
                  <a:pt x="-28182" y="819076"/>
                  <a:pt x="0" y="654348"/>
                </a:cubicBezTo>
                <a:cubicBezTo>
                  <a:pt x="28182" y="489620"/>
                  <a:pt x="15229" y="273437"/>
                  <a:pt x="0" y="0"/>
                </a:cubicBezTo>
                <a:close/>
              </a:path>
              <a:path w="3671782" h="1283036" stroke="0" extrusionOk="0">
                <a:moveTo>
                  <a:pt x="0" y="0"/>
                </a:moveTo>
                <a:cubicBezTo>
                  <a:pt x="276945" y="5741"/>
                  <a:pt x="500597" y="-7727"/>
                  <a:pt x="685399" y="0"/>
                </a:cubicBezTo>
                <a:cubicBezTo>
                  <a:pt x="870201" y="7727"/>
                  <a:pt x="1085896" y="-5434"/>
                  <a:pt x="1297363" y="0"/>
                </a:cubicBezTo>
                <a:cubicBezTo>
                  <a:pt x="1508830" y="5434"/>
                  <a:pt x="1658123" y="26173"/>
                  <a:pt x="1835891" y="0"/>
                </a:cubicBezTo>
                <a:cubicBezTo>
                  <a:pt x="2013659" y="-26173"/>
                  <a:pt x="2167664" y="17942"/>
                  <a:pt x="2447855" y="0"/>
                </a:cubicBezTo>
                <a:cubicBezTo>
                  <a:pt x="2728046" y="-17942"/>
                  <a:pt x="2926445" y="24196"/>
                  <a:pt x="3133254" y="0"/>
                </a:cubicBezTo>
                <a:cubicBezTo>
                  <a:pt x="3340063" y="-24196"/>
                  <a:pt x="3453979" y="-24773"/>
                  <a:pt x="3671782" y="0"/>
                </a:cubicBezTo>
                <a:cubicBezTo>
                  <a:pt x="3645545" y="262387"/>
                  <a:pt x="3645071" y="334614"/>
                  <a:pt x="3671782" y="603027"/>
                </a:cubicBezTo>
                <a:cubicBezTo>
                  <a:pt x="3698493" y="871440"/>
                  <a:pt x="3679079" y="1132080"/>
                  <a:pt x="3671782" y="1283036"/>
                </a:cubicBezTo>
                <a:cubicBezTo>
                  <a:pt x="3494993" y="1254512"/>
                  <a:pt x="3229456" y="1292513"/>
                  <a:pt x="3096536" y="1283036"/>
                </a:cubicBezTo>
                <a:cubicBezTo>
                  <a:pt x="2963616" y="1273559"/>
                  <a:pt x="2669398" y="1254335"/>
                  <a:pt x="2521290" y="1283036"/>
                </a:cubicBezTo>
                <a:cubicBezTo>
                  <a:pt x="2373182" y="1311737"/>
                  <a:pt x="2168241" y="1305544"/>
                  <a:pt x="1946044" y="1283036"/>
                </a:cubicBezTo>
                <a:cubicBezTo>
                  <a:pt x="1723847" y="1260528"/>
                  <a:pt x="1517331" y="1252787"/>
                  <a:pt x="1297363" y="1283036"/>
                </a:cubicBezTo>
                <a:cubicBezTo>
                  <a:pt x="1077395" y="1313285"/>
                  <a:pt x="867748" y="1274993"/>
                  <a:pt x="758835" y="1283036"/>
                </a:cubicBezTo>
                <a:cubicBezTo>
                  <a:pt x="649922" y="1291079"/>
                  <a:pt x="239870" y="1268753"/>
                  <a:pt x="0" y="1283036"/>
                </a:cubicBezTo>
                <a:cubicBezTo>
                  <a:pt x="21216" y="1066168"/>
                  <a:pt x="31152" y="769921"/>
                  <a:pt x="0" y="628688"/>
                </a:cubicBezTo>
                <a:cubicBezTo>
                  <a:pt x="-31152" y="487455"/>
                  <a:pt x="23010" y="204288"/>
                  <a:pt x="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Tuleeko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peleistä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parempia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,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kun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niiden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tekeminen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helpottuu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EE28FD-9663-4B03-0B2A-528849C33FCE}"/>
              </a:ext>
            </a:extLst>
          </p:cNvPr>
          <p:cNvSpPr/>
          <p:nvPr/>
        </p:nvSpPr>
        <p:spPr>
          <a:xfrm rot="279535">
            <a:off x="768212" y="3080876"/>
            <a:ext cx="4778678" cy="1117956"/>
          </a:xfrm>
          <a:custGeom>
            <a:avLst/>
            <a:gdLst>
              <a:gd name="csX0" fmla="*/ 0 w 4778678"/>
              <a:gd name="csY0" fmla="*/ 0 h 1117956"/>
              <a:gd name="csX1" fmla="*/ 587095 w 4778678"/>
              <a:gd name="csY1" fmla="*/ 0 h 1117956"/>
              <a:gd name="csX2" fmla="*/ 1269763 w 4778678"/>
              <a:gd name="csY2" fmla="*/ 0 h 1117956"/>
              <a:gd name="csX3" fmla="*/ 2000218 w 4778678"/>
              <a:gd name="csY3" fmla="*/ 0 h 1117956"/>
              <a:gd name="csX4" fmla="*/ 2635100 w 4778678"/>
              <a:gd name="csY4" fmla="*/ 0 h 1117956"/>
              <a:gd name="csX5" fmla="*/ 3317768 w 4778678"/>
              <a:gd name="csY5" fmla="*/ 0 h 1117956"/>
              <a:gd name="csX6" fmla="*/ 3857076 w 4778678"/>
              <a:gd name="csY6" fmla="*/ 0 h 1117956"/>
              <a:gd name="csX7" fmla="*/ 4778678 w 4778678"/>
              <a:gd name="csY7" fmla="*/ 0 h 1117956"/>
              <a:gd name="csX8" fmla="*/ 4778678 w 4778678"/>
              <a:gd name="csY8" fmla="*/ 547798 h 1117956"/>
              <a:gd name="csX9" fmla="*/ 4778678 w 4778678"/>
              <a:gd name="csY9" fmla="*/ 1117956 h 1117956"/>
              <a:gd name="csX10" fmla="*/ 4096010 w 4778678"/>
              <a:gd name="csY10" fmla="*/ 1117956 h 1117956"/>
              <a:gd name="csX11" fmla="*/ 3317768 w 4778678"/>
              <a:gd name="csY11" fmla="*/ 1117956 h 1117956"/>
              <a:gd name="csX12" fmla="*/ 2539526 w 4778678"/>
              <a:gd name="csY12" fmla="*/ 1117956 h 1117956"/>
              <a:gd name="csX13" fmla="*/ 1904645 w 4778678"/>
              <a:gd name="csY13" fmla="*/ 1117956 h 1117956"/>
              <a:gd name="csX14" fmla="*/ 1174189 w 4778678"/>
              <a:gd name="csY14" fmla="*/ 1117956 h 1117956"/>
              <a:gd name="csX15" fmla="*/ 634882 w 4778678"/>
              <a:gd name="csY15" fmla="*/ 1117956 h 1117956"/>
              <a:gd name="csX16" fmla="*/ 0 w 4778678"/>
              <a:gd name="csY16" fmla="*/ 1117956 h 1117956"/>
              <a:gd name="csX17" fmla="*/ 0 w 4778678"/>
              <a:gd name="csY17" fmla="*/ 536619 h 1117956"/>
              <a:gd name="csX18" fmla="*/ 0 w 4778678"/>
              <a:gd name="csY18" fmla="*/ 0 h 1117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778678" h="1117956" fill="none" extrusionOk="0">
                <a:moveTo>
                  <a:pt x="0" y="0"/>
                </a:moveTo>
                <a:cubicBezTo>
                  <a:pt x="207106" y="9721"/>
                  <a:pt x="442561" y="-3318"/>
                  <a:pt x="587095" y="0"/>
                </a:cubicBezTo>
                <a:cubicBezTo>
                  <a:pt x="731629" y="3318"/>
                  <a:pt x="1030061" y="-26547"/>
                  <a:pt x="1269763" y="0"/>
                </a:cubicBezTo>
                <a:cubicBezTo>
                  <a:pt x="1509465" y="26547"/>
                  <a:pt x="1727606" y="27970"/>
                  <a:pt x="2000218" y="0"/>
                </a:cubicBezTo>
                <a:cubicBezTo>
                  <a:pt x="2272830" y="-27970"/>
                  <a:pt x="2493362" y="17530"/>
                  <a:pt x="2635100" y="0"/>
                </a:cubicBezTo>
                <a:cubicBezTo>
                  <a:pt x="2776838" y="-17530"/>
                  <a:pt x="3027957" y="-24912"/>
                  <a:pt x="3317768" y="0"/>
                </a:cubicBezTo>
                <a:cubicBezTo>
                  <a:pt x="3607579" y="24912"/>
                  <a:pt x="3597065" y="9702"/>
                  <a:pt x="3857076" y="0"/>
                </a:cubicBezTo>
                <a:cubicBezTo>
                  <a:pt x="4117087" y="-9702"/>
                  <a:pt x="4417536" y="-2240"/>
                  <a:pt x="4778678" y="0"/>
                </a:cubicBezTo>
                <a:cubicBezTo>
                  <a:pt x="4769399" y="131542"/>
                  <a:pt x="4803438" y="373223"/>
                  <a:pt x="4778678" y="547798"/>
                </a:cubicBezTo>
                <a:cubicBezTo>
                  <a:pt x="4753918" y="722373"/>
                  <a:pt x="4776760" y="836251"/>
                  <a:pt x="4778678" y="1117956"/>
                </a:cubicBezTo>
                <a:cubicBezTo>
                  <a:pt x="4469345" y="1134934"/>
                  <a:pt x="4432285" y="1104137"/>
                  <a:pt x="4096010" y="1117956"/>
                </a:cubicBezTo>
                <a:cubicBezTo>
                  <a:pt x="3759735" y="1131775"/>
                  <a:pt x="3551462" y="1121090"/>
                  <a:pt x="3317768" y="1117956"/>
                </a:cubicBezTo>
                <a:cubicBezTo>
                  <a:pt x="3084074" y="1114822"/>
                  <a:pt x="2732485" y="1099946"/>
                  <a:pt x="2539526" y="1117956"/>
                </a:cubicBezTo>
                <a:cubicBezTo>
                  <a:pt x="2346567" y="1135966"/>
                  <a:pt x="2153197" y="1120278"/>
                  <a:pt x="1904645" y="1117956"/>
                </a:cubicBezTo>
                <a:cubicBezTo>
                  <a:pt x="1656093" y="1115634"/>
                  <a:pt x="1381477" y="1117292"/>
                  <a:pt x="1174189" y="1117956"/>
                </a:cubicBezTo>
                <a:cubicBezTo>
                  <a:pt x="966901" y="1118620"/>
                  <a:pt x="780159" y="1141148"/>
                  <a:pt x="634882" y="1117956"/>
                </a:cubicBezTo>
                <a:cubicBezTo>
                  <a:pt x="489605" y="1094764"/>
                  <a:pt x="218394" y="1105869"/>
                  <a:pt x="0" y="1117956"/>
                </a:cubicBezTo>
                <a:cubicBezTo>
                  <a:pt x="-7890" y="935375"/>
                  <a:pt x="-28553" y="701453"/>
                  <a:pt x="0" y="536619"/>
                </a:cubicBezTo>
                <a:cubicBezTo>
                  <a:pt x="28553" y="371785"/>
                  <a:pt x="-11180" y="210002"/>
                  <a:pt x="0" y="0"/>
                </a:cubicBezTo>
                <a:close/>
              </a:path>
              <a:path w="4778678" h="1117956" stroke="0" extrusionOk="0">
                <a:moveTo>
                  <a:pt x="0" y="0"/>
                </a:moveTo>
                <a:cubicBezTo>
                  <a:pt x="205733" y="27889"/>
                  <a:pt x="427799" y="-6114"/>
                  <a:pt x="778242" y="0"/>
                </a:cubicBezTo>
                <a:cubicBezTo>
                  <a:pt x="1128685" y="6114"/>
                  <a:pt x="1131791" y="7976"/>
                  <a:pt x="1460910" y="0"/>
                </a:cubicBezTo>
                <a:cubicBezTo>
                  <a:pt x="1790029" y="-7976"/>
                  <a:pt x="1858740" y="-8856"/>
                  <a:pt x="2048005" y="0"/>
                </a:cubicBezTo>
                <a:cubicBezTo>
                  <a:pt x="2237271" y="8856"/>
                  <a:pt x="2450416" y="31637"/>
                  <a:pt x="2730673" y="0"/>
                </a:cubicBezTo>
                <a:cubicBezTo>
                  <a:pt x="3010930" y="-31637"/>
                  <a:pt x="3234552" y="-33783"/>
                  <a:pt x="3508915" y="0"/>
                </a:cubicBezTo>
                <a:cubicBezTo>
                  <a:pt x="3783278" y="33783"/>
                  <a:pt x="3846494" y="-6345"/>
                  <a:pt x="4096010" y="0"/>
                </a:cubicBezTo>
                <a:cubicBezTo>
                  <a:pt x="4345526" y="6345"/>
                  <a:pt x="4540223" y="-8924"/>
                  <a:pt x="4778678" y="0"/>
                </a:cubicBezTo>
                <a:cubicBezTo>
                  <a:pt x="4770284" y="259613"/>
                  <a:pt x="4790455" y="417944"/>
                  <a:pt x="4778678" y="558978"/>
                </a:cubicBezTo>
                <a:cubicBezTo>
                  <a:pt x="4766901" y="700012"/>
                  <a:pt x="4783919" y="853077"/>
                  <a:pt x="4778678" y="1117956"/>
                </a:cubicBezTo>
                <a:cubicBezTo>
                  <a:pt x="4606714" y="1137014"/>
                  <a:pt x="4220325" y="1123472"/>
                  <a:pt x="4048223" y="1117956"/>
                </a:cubicBezTo>
                <a:cubicBezTo>
                  <a:pt x="3876122" y="1112440"/>
                  <a:pt x="3581186" y="1098658"/>
                  <a:pt x="3413341" y="1117956"/>
                </a:cubicBezTo>
                <a:cubicBezTo>
                  <a:pt x="3245496" y="1137254"/>
                  <a:pt x="2842501" y="1095594"/>
                  <a:pt x="2682886" y="1117956"/>
                </a:cubicBezTo>
                <a:cubicBezTo>
                  <a:pt x="2523271" y="1140318"/>
                  <a:pt x="2222332" y="1094657"/>
                  <a:pt x="2095792" y="1117956"/>
                </a:cubicBezTo>
                <a:cubicBezTo>
                  <a:pt x="1969252" y="1141255"/>
                  <a:pt x="1700923" y="1121906"/>
                  <a:pt x="1460910" y="1117956"/>
                </a:cubicBezTo>
                <a:cubicBezTo>
                  <a:pt x="1220897" y="1114006"/>
                  <a:pt x="1070000" y="1104532"/>
                  <a:pt x="730455" y="1117956"/>
                </a:cubicBezTo>
                <a:cubicBezTo>
                  <a:pt x="390911" y="1131380"/>
                  <a:pt x="178042" y="1088927"/>
                  <a:pt x="0" y="1117956"/>
                </a:cubicBezTo>
                <a:cubicBezTo>
                  <a:pt x="23370" y="862769"/>
                  <a:pt x="-13667" y="698937"/>
                  <a:pt x="0" y="547798"/>
                </a:cubicBezTo>
                <a:cubicBezTo>
                  <a:pt x="13667" y="396659"/>
                  <a:pt x="11537" y="263426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FI" sz="200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Miksi tekoälyn käyttö peleissä jakaa mielipiteitä?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4BA424-01B4-F6AC-40BE-42B0882B4522}"/>
              </a:ext>
            </a:extLst>
          </p:cNvPr>
          <p:cNvSpPr/>
          <p:nvPr/>
        </p:nvSpPr>
        <p:spPr>
          <a:xfrm rot="21326669">
            <a:off x="5543478" y="3771311"/>
            <a:ext cx="3714933" cy="947097"/>
          </a:xfrm>
          <a:custGeom>
            <a:avLst/>
            <a:gdLst>
              <a:gd name="csX0" fmla="*/ 0 w 3714933"/>
              <a:gd name="csY0" fmla="*/ 0 h 947097"/>
              <a:gd name="csX1" fmla="*/ 656305 w 3714933"/>
              <a:gd name="csY1" fmla="*/ 0 h 947097"/>
              <a:gd name="csX2" fmla="*/ 1201162 w 3714933"/>
              <a:gd name="csY2" fmla="*/ 0 h 947097"/>
              <a:gd name="csX3" fmla="*/ 1783168 w 3714933"/>
              <a:gd name="csY3" fmla="*/ 0 h 947097"/>
              <a:gd name="csX4" fmla="*/ 2402323 w 3714933"/>
              <a:gd name="csY4" fmla="*/ 0 h 947097"/>
              <a:gd name="csX5" fmla="*/ 3058628 w 3714933"/>
              <a:gd name="csY5" fmla="*/ 0 h 947097"/>
              <a:gd name="csX6" fmla="*/ 3714933 w 3714933"/>
              <a:gd name="csY6" fmla="*/ 0 h 947097"/>
              <a:gd name="csX7" fmla="*/ 3714933 w 3714933"/>
              <a:gd name="csY7" fmla="*/ 473549 h 947097"/>
              <a:gd name="csX8" fmla="*/ 3714933 w 3714933"/>
              <a:gd name="csY8" fmla="*/ 947097 h 947097"/>
              <a:gd name="csX9" fmla="*/ 3207225 w 3714933"/>
              <a:gd name="csY9" fmla="*/ 947097 h 947097"/>
              <a:gd name="csX10" fmla="*/ 2662369 w 3714933"/>
              <a:gd name="csY10" fmla="*/ 947097 h 947097"/>
              <a:gd name="csX11" fmla="*/ 2043213 w 3714933"/>
              <a:gd name="csY11" fmla="*/ 947097 h 947097"/>
              <a:gd name="csX12" fmla="*/ 1535506 w 3714933"/>
              <a:gd name="csY12" fmla="*/ 947097 h 947097"/>
              <a:gd name="csX13" fmla="*/ 842051 w 3714933"/>
              <a:gd name="csY13" fmla="*/ 947097 h 947097"/>
              <a:gd name="csX14" fmla="*/ 0 w 3714933"/>
              <a:gd name="csY14" fmla="*/ 947097 h 947097"/>
              <a:gd name="csX15" fmla="*/ 0 w 3714933"/>
              <a:gd name="csY15" fmla="*/ 483019 h 947097"/>
              <a:gd name="csX16" fmla="*/ 0 w 3714933"/>
              <a:gd name="csY16" fmla="*/ 0 h 947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714933" h="947097" fill="none" extrusionOk="0">
                <a:moveTo>
                  <a:pt x="0" y="0"/>
                </a:moveTo>
                <a:cubicBezTo>
                  <a:pt x="247913" y="-23203"/>
                  <a:pt x="352109" y="-31111"/>
                  <a:pt x="656305" y="0"/>
                </a:cubicBezTo>
                <a:cubicBezTo>
                  <a:pt x="960501" y="31111"/>
                  <a:pt x="1049738" y="-21387"/>
                  <a:pt x="1201162" y="0"/>
                </a:cubicBezTo>
                <a:cubicBezTo>
                  <a:pt x="1352586" y="21387"/>
                  <a:pt x="1564393" y="-20291"/>
                  <a:pt x="1783168" y="0"/>
                </a:cubicBezTo>
                <a:cubicBezTo>
                  <a:pt x="2001943" y="20291"/>
                  <a:pt x="2200463" y="-8363"/>
                  <a:pt x="2402323" y="0"/>
                </a:cubicBezTo>
                <a:cubicBezTo>
                  <a:pt x="2604183" y="8363"/>
                  <a:pt x="2742474" y="26655"/>
                  <a:pt x="3058628" y="0"/>
                </a:cubicBezTo>
                <a:cubicBezTo>
                  <a:pt x="3374783" y="-26655"/>
                  <a:pt x="3473438" y="-23002"/>
                  <a:pt x="3714933" y="0"/>
                </a:cubicBezTo>
                <a:cubicBezTo>
                  <a:pt x="3734584" y="155998"/>
                  <a:pt x="3707959" y="290784"/>
                  <a:pt x="3714933" y="473549"/>
                </a:cubicBezTo>
                <a:cubicBezTo>
                  <a:pt x="3721907" y="656314"/>
                  <a:pt x="3702729" y="776514"/>
                  <a:pt x="3714933" y="947097"/>
                </a:cubicBezTo>
                <a:cubicBezTo>
                  <a:pt x="3534807" y="959106"/>
                  <a:pt x="3382360" y="966289"/>
                  <a:pt x="3207225" y="947097"/>
                </a:cubicBezTo>
                <a:cubicBezTo>
                  <a:pt x="3032090" y="927905"/>
                  <a:pt x="2806620" y="960976"/>
                  <a:pt x="2662369" y="947097"/>
                </a:cubicBezTo>
                <a:cubicBezTo>
                  <a:pt x="2518118" y="933218"/>
                  <a:pt x="2265432" y="923754"/>
                  <a:pt x="2043213" y="947097"/>
                </a:cubicBezTo>
                <a:cubicBezTo>
                  <a:pt x="1820994" y="970440"/>
                  <a:pt x="1679257" y="946711"/>
                  <a:pt x="1535506" y="947097"/>
                </a:cubicBezTo>
                <a:cubicBezTo>
                  <a:pt x="1391755" y="947483"/>
                  <a:pt x="1063469" y="937003"/>
                  <a:pt x="842051" y="947097"/>
                </a:cubicBezTo>
                <a:cubicBezTo>
                  <a:pt x="620633" y="957191"/>
                  <a:pt x="212110" y="971212"/>
                  <a:pt x="0" y="947097"/>
                </a:cubicBezTo>
                <a:cubicBezTo>
                  <a:pt x="12044" y="785715"/>
                  <a:pt x="21762" y="638916"/>
                  <a:pt x="0" y="483019"/>
                </a:cubicBezTo>
                <a:cubicBezTo>
                  <a:pt x="-21762" y="327122"/>
                  <a:pt x="9335" y="232531"/>
                  <a:pt x="0" y="0"/>
                </a:cubicBezTo>
                <a:close/>
              </a:path>
              <a:path w="3714933" h="947097" stroke="0" extrusionOk="0">
                <a:moveTo>
                  <a:pt x="0" y="0"/>
                </a:moveTo>
                <a:cubicBezTo>
                  <a:pt x="245385" y="-22222"/>
                  <a:pt x="479069" y="720"/>
                  <a:pt x="693454" y="0"/>
                </a:cubicBezTo>
                <a:cubicBezTo>
                  <a:pt x="907839" y="-720"/>
                  <a:pt x="1020372" y="7463"/>
                  <a:pt x="1312610" y="0"/>
                </a:cubicBezTo>
                <a:cubicBezTo>
                  <a:pt x="1604848" y="-7463"/>
                  <a:pt x="1728317" y="14661"/>
                  <a:pt x="1857466" y="0"/>
                </a:cubicBezTo>
                <a:cubicBezTo>
                  <a:pt x="1986615" y="-14661"/>
                  <a:pt x="2198835" y="7415"/>
                  <a:pt x="2476622" y="0"/>
                </a:cubicBezTo>
                <a:cubicBezTo>
                  <a:pt x="2754409" y="-7415"/>
                  <a:pt x="3007227" y="34028"/>
                  <a:pt x="3170076" y="0"/>
                </a:cubicBezTo>
                <a:cubicBezTo>
                  <a:pt x="3332925" y="-34028"/>
                  <a:pt x="3553329" y="14388"/>
                  <a:pt x="3714933" y="0"/>
                </a:cubicBezTo>
                <a:cubicBezTo>
                  <a:pt x="3703432" y="153771"/>
                  <a:pt x="3713405" y="268818"/>
                  <a:pt x="3714933" y="445136"/>
                </a:cubicBezTo>
                <a:cubicBezTo>
                  <a:pt x="3716461" y="621454"/>
                  <a:pt x="3713649" y="832146"/>
                  <a:pt x="3714933" y="947097"/>
                </a:cubicBezTo>
                <a:cubicBezTo>
                  <a:pt x="3527852" y="957757"/>
                  <a:pt x="3252666" y="971962"/>
                  <a:pt x="3132927" y="947097"/>
                </a:cubicBezTo>
                <a:cubicBezTo>
                  <a:pt x="3013188" y="922232"/>
                  <a:pt x="2794664" y="930122"/>
                  <a:pt x="2550921" y="947097"/>
                </a:cubicBezTo>
                <a:cubicBezTo>
                  <a:pt x="2307178" y="964072"/>
                  <a:pt x="2128561" y="959739"/>
                  <a:pt x="1968914" y="947097"/>
                </a:cubicBezTo>
                <a:cubicBezTo>
                  <a:pt x="1809267" y="934455"/>
                  <a:pt x="1587747" y="956070"/>
                  <a:pt x="1312610" y="947097"/>
                </a:cubicBezTo>
                <a:cubicBezTo>
                  <a:pt x="1037473" y="938124"/>
                  <a:pt x="1036340" y="947845"/>
                  <a:pt x="767753" y="947097"/>
                </a:cubicBezTo>
                <a:cubicBezTo>
                  <a:pt x="499166" y="946349"/>
                  <a:pt x="330568" y="957526"/>
                  <a:pt x="0" y="947097"/>
                </a:cubicBezTo>
                <a:cubicBezTo>
                  <a:pt x="12676" y="808560"/>
                  <a:pt x="373" y="572964"/>
                  <a:pt x="0" y="464078"/>
                </a:cubicBezTo>
                <a:cubicBezTo>
                  <a:pt x="-373" y="355192"/>
                  <a:pt x="14736" y="147188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Mitä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voisin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itse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tehdä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tekoälyn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avulla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701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28" grpId="0" animBg="1"/>
      <p:bldP spid="30" grpId="0" animBg="1"/>
      <p:bldP spid="32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3E284-F83B-4519-02FF-3E12B8A9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29132B-DA76-7A40-DDC9-5D6CD8308514}"/>
              </a:ext>
            </a:extLst>
          </p:cNvPr>
          <p:cNvSpPr/>
          <p:nvPr/>
        </p:nvSpPr>
        <p:spPr>
          <a:xfrm>
            <a:off x="-58291" y="-49512"/>
            <a:ext cx="12308582" cy="69570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3900" dirty="0">
                <a:solidFill>
                  <a:srgbClr val="FF0000"/>
                </a:solidFill>
                <a:latin typeface="Bungee" pitchFamily="2" charset="0"/>
                <a:ea typeface="Bungee" pitchFamily="2" charset="0"/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793620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4CE1B-C617-035E-686C-B78C49B8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C87815-1427-7821-7359-E3571C8C2DBB}"/>
              </a:ext>
            </a:extLst>
          </p:cNvPr>
          <p:cNvSpPr/>
          <p:nvPr/>
        </p:nvSpPr>
        <p:spPr>
          <a:xfrm>
            <a:off x="-58291" y="-49512"/>
            <a:ext cx="12308582" cy="69570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End of slideshow</a:t>
            </a:r>
          </a:p>
          <a:p>
            <a:pPr algn="ctr"/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C</a:t>
            </a:r>
            <a:r>
              <a:rPr lang="en-FI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lick to exit</a:t>
            </a:r>
          </a:p>
        </p:txBody>
      </p:sp>
    </p:spTree>
    <p:extLst>
      <p:ext uri="{BB962C8B-B14F-4D97-AF65-F5344CB8AC3E}">
        <p14:creationId xmlns:p14="http://schemas.microsoft.com/office/powerpoint/2010/main" val="414578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1590-CFB6-7A77-2931-07CCFAC2D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743CE5B-F45E-87CF-AE40-E1AD033B26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916" y="0"/>
            <a:ext cx="13691831" cy="6867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D605EA-B7C1-AFC8-6B2B-3627944D3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35275">
            <a:off x="9791884" y="4240388"/>
            <a:ext cx="1765709" cy="2318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F67D82-D9C5-0F68-615D-CDD212078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84613">
            <a:off x="4727716" y="884173"/>
            <a:ext cx="754046" cy="542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A3876-F5CA-7B3C-6CBD-10BF6AA4D4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9351">
            <a:off x="6634045" y="177165"/>
            <a:ext cx="1939872" cy="945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8320A2-3669-F691-C55C-1BA7CC4B9C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1462">
            <a:off x="430212" y="4252956"/>
            <a:ext cx="2040918" cy="22888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D2AFB4-45A3-74FB-6804-A0653AB8CD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936">
            <a:off x="5430184" y="127060"/>
            <a:ext cx="954678" cy="6087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BFBE17-DDD6-5C65-FA87-A3A10058AC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2151">
            <a:off x="6793363" y="983305"/>
            <a:ext cx="1335270" cy="6951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CAFEB4-887D-FC7B-0949-9756B50945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675" y="888059"/>
            <a:ext cx="711936" cy="5824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9871DE-0847-9236-ACED-BD5773ACF8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9884">
            <a:off x="9746406" y="1125634"/>
            <a:ext cx="1930070" cy="10167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543A29-BE65-F32C-4415-A8B5B2E77F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3751">
            <a:off x="344188" y="364401"/>
            <a:ext cx="2408679" cy="8862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4BEBE2-8BE1-223F-C145-67F65410FF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3948">
            <a:off x="2964959" y="584907"/>
            <a:ext cx="1565084" cy="7200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A92F68-8DB4-B214-2251-B278F92B2E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0731">
            <a:off x="9225917" y="279098"/>
            <a:ext cx="1243525" cy="7420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5860F1-DD4F-ED2B-2503-A94F03673BEF}"/>
              </a:ext>
            </a:extLst>
          </p:cNvPr>
          <p:cNvSpPr/>
          <p:nvPr/>
        </p:nvSpPr>
        <p:spPr>
          <a:xfrm>
            <a:off x="-5315023" y="428106"/>
            <a:ext cx="4788130" cy="714894"/>
          </a:xfrm>
          <a:custGeom>
            <a:avLst/>
            <a:gdLst>
              <a:gd name="csX0" fmla="*/ 0 w 4788130"/>
              <a:gd name="csY0" fmla="*/ 0 h 714894"/>
              <a:gd name="csX1" fmla="*/ 4788130 w 4788130"/>
              <a:gd name="csY1" fmla="*/ 0 h 714894"/>
              <a:gd name="csX2" fmla="*/ 4788130 w 4788130"/>
              <a:gd name="csY2" fmla="*/ 714894 h 714894"/>
              <a:gd name="csX3" fmla="*/ 0 w 4788130"/>
              <a:gd name="csY3" fmla="*/ 714894 h 714894"/>
              <a:gd name="csX4" fmla="*/ 0 w 4788130"/>
              <a:gd name="csY4" fmla="*/ 0 h 714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88130" h="714894" fill="none" extrusionOk="0">
                <a:moveTo>
                  <a:pt x="0" y="0"/>
                </a:moveTo>
                <a:cubicBezTo>
                  <a:pt x="1369688" y="57912"/>
                  <a:pt x="3958759" y="-77563"/>
                  <a:pt x="4788130" y="0"/>
                </a:cubicBezTo>
                <a:cubicBezTo>
                  <a:pt x="4809974" y="146882"/>
                  <a:pt x="4813385" y="588672"/>
                  <a:pt x="4788130" y="714894"/>
                </a:cubicBezTo>
                <a:cubicBezTo>
                  <a:pt x="3295388" y="848821"/>
                  <a:pt x="1850869" y="816071"/>
                  <a:pt x="0" y="714894"/>
                </a:cubicBezTo>
                <a:cubicBezTo>
                  <a:pt x="43383" y="550477"/>
                  <a:pt x="30628" y="321488"/>
                  <a:pt x="0" y="0"/>
                </a:cubicBezTo>
                <a:close/>
              </a:path>
              <a:path w="4788130" h="714894" stroke="0" extrusionOk="0">
                <a:moveTo>
                  <a:pt x="0" y="0"/>
                </a:moveTo>
                <a:cubicBezTo>
                  <a:pt x="480722" y="8342"/>
                  <a:pt x="3452854" y="6445"/>
                  <a:pt x="4788130" y="0"/>
                </a:cubicBezTo>
                <a:cubicBezTo>
                  <a:pt x="4748578" y="211633"/>
                  <a:pt x="4751086" y="362961"/>
                  <a:pt x="4788130" y="714894"/>
                </a:cubicBezTo>
                <a:cubicBezTo>
                  <a:pt x="2434521" y="718656"/>
                  <a:pt x="1582317" y="626828"/>
                  <a:pt x="0" y="714894"/>
                </a:cubicBezTo>
                <a:cubicBezTo>
                  <a:pt x="-35050" y="385940"/>
                  <a:pt x="-24139" y="172577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uka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minä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olen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B080F5-3101-B055-1BC4-303CD68FF8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91999" y="11736"/>
            <a:ext cx="12192000" cy="6856087"/>
          </a:xfrm>
          <a:prstGeom prst="rect">
            <a:avLst/>
          </a:prstGeom>
        </p:spPr>
      </p:pic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0ED4980A-D1FC-E454-06FB-E98FB584BA8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"/>
          <a:stretch>
            <a:fillRect/>
          </a:stretch>
        </p:blipFill>
        <p:spPr>
          <a:xfrm>
            <a:off x="12192000" y="0"/>
            <a:ext cx="1139800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925059-AB30-0A6D-0128-3A36F9928645}"/>
              </a:ext>
            </a:extLst>
          </p:cNvPr>
          <p:cNvSpPr/>
          <p:nvPr/>
        </p:nvSpPr>
        <p:spPr>
          <a:xfrm rot="21185773">
            <a:off x="274832" y="1918290"/>
            <a:ext cx="3988483" cy="947097"/>
          </a:xfrm>
          <a:custGeom>
            <a:avLst/>
            <a:gdLst>
              <a:gd name="csX0" fmla="*/ 0 w 3988483"/>
              <a:gd name="csY0" fmla="*/ 0 h 947097"/>
              <a:gd name="csX1" fmla="*/ 704632 w 3988483"/>
              <a:gd name="csY1" fmla="*/ 0 h 947097"/>
              <a:gd name="csX2" fmla="*/ 1289610 w 3988483"/>
              <a:gd name="csY2" fmla="*/ 0 h 947097"/>
              <a:gd name="csX3" fmla="*/ 1914472 w 3988483"/>
              <a:gd name="csY3" fmla="*/ 0 h 947097"/>
              <a:gd name="csX4" fmla="*/ 2579219 w 3988483"/>
              <a:gd name="csY4" fmla="*/ 0 h 947097"/>
              <a:gd name="csX5" fmla="*/ 3283851 w 3988483"/>
              <a:gd name="csY5" fmla="*/ 0 h 947097"/>
              <a:gd name="csX6" fmla="*/ 3988483 w 3988483"/>
              <a:gd name="csY6" fmla="*/ 0 h 947097"/>
              <a:gd name="csX7" fmla="*/ 3988483 w 3988483"/>
              <a:gd name="csY7" fmla="*/ 473549 h 947097"/>
              <a:gd name="csX8" fmla="*/ 3988483 w 3988483"/>
              <a:gd name="csY8" fmla="*/ 947097 h 947097"/>
              <a:gd name="csX9" fmla="*/ 3443390 w 3988483"/>
              <a:gd name="csY9" fmla="*/ 947097 h 947097"/>
              <a:gd name="csX10" fmla="*/ 2858413 w 3988483"/>
              <a:gd name="csY10" fmla="*/ 947097 h 947097"/>
              <a:gd name="csX11" fmla="*/ 2193666 w 3988483"/>
              <a:gd name="csY11" fmla="*/ 947097 h 947097"/>
              <a:gd name="csX12" fmla="*/ 1648573 w 3988483"/>
              <a:gd name="csY12" fmla="*/ 947097 h 947097"/>
              <a:gd name="csX13" fmla="*/ 904056 w 3988483"/>
              <a:gd name="csY13" fmla="*/ 947097 h 947097"/>
              <a:gd name="csX14" fmla="*/ 0 w 3988483"/>
              <a:gd name="csY14" fmla="*/ 947097 h 947097"/>
              <a:gd name="csX15" fmla="*/ 0 w 3988483"/>
              <a:gd name="csY15" fmla="*/ 483019 h 947097"/>
              <a:gd name="csX16" fmla="*/ 0 w 3988483"/>
              <a:gd name="csY16" fmla="*/ 0 h 947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988483" h="947097" fill="none" extrusionOk="0">
                <a:moveTo>
                  <a:pt x="0" y="0"/>
                </a:moveTo>
                <a:cubicBezTo>
                  <a:pt x="305004" y="-30614"/>
                  <a:pt x="460240" y="-2994"/>
                  <a:pt x="704632" y="0"/>
                </a:cubicBezTo>
                <a:cubicBezTo>
                  <a:pt x="949024" y="2994"/>
                  <a:pt x="1065338" y="13657"/>
                  <a:pt x="1289610" y="0"/>
                </a:cubicBezTo>
                <a:cubicBezTo>
                  <a:pt x="1513882" y="-13657"/>
                  <a:pt x="1719003" y="-5343"/>
                  <a:pt x="1914472" y="0"/>
                </a:cubicBezTo>
                <a:cubicBezTo>
                  <a:pt x="2109941" y="5343"/>
                  <a:pt x="2433722" y="22344"/>
                  <a:pt x="2579219" y="0"/>
                </a:cubicBezTo>
                <a:cubicBezTo>
                  <a:pt x="2724716" y="-22344"/>
                  <a:pt x="3069041" y="-24043"/>
                  <a:pt x="3283851" y="0"/>
                </a:cubicBezTo>
                <a:cubicBezTo>
                  <a:pt x="3498661" y="24043"/>
                  <a:pt x="3753179" y="25986"/>
                  <a:pt x="3988483" y="0"/>
                </a:cubicBezTo>
                <a:cubicBezTo>
                  <a:pt x="4008134" y="155998"/>
                  <a:pt x="3981509" y="290784"/>
                  <a:pt x="3988483" y="473549"/>
                </a:cubicBezTo>
                <a:cubicBezTo>
                  <a:pt x="3995457" y="656314"/>
                  <a:pt x="3976279" y="776514"/>
                  <a:pt x="3988483" y="947097"/>
                </a:cubicBezTo>
                <a:cubicBezTo>
                  <a:pt x="3792325" y="935953"/>
                  <a:pt x="3659321" y="934740"/>
                  <a:pt x="3443390" y="947097"/>
                </a:cubicBezTo>
                <a:cubicBezTo>
                  <a:pt x="3227459" y="959454"/>
                  <a:pt x="3092855" y="933208"/>
                  <a:pt x="2858413" y="947097"/>
                </a:cubicBezTo>
                <a:cubicBezTo>
                  <a:pt x="2623971" y="960986"/>
                  <a:pt x="2499094" y="920569"/>
                  <a:pt x="2193666" y="947097"/>
                </a:cubicBezTo>
                <a:cubicBezTo>
                  <a:pt x="1888238" y="973625"/>
                  <a:pt x="1900463" y="956388"/>
                  <a:pt x="1648573" y="947097"/>
                </a:cubicBezTo>
                <a:cubicBezTo>
                  <a:pt x="1396683" y="937806"/>
                  <a:pt x="1184728" y="961132"/>
                  <a:pt x="904056" y="947097"/>
                </a:cubicBezTo>
                <a:cubicBezTo>
                  <a:pt x="623384" y="933062"/>
                  <a:pt x="424008" y="964539"/>
                  <a:pt x="0" y="947097"/>
                </a:cubicBezTo>
                <a:cubicBezTo>
                  <a:pt x="12044" y="785715"/>
                  <a:pt x="21762" y="638916"/>
                  <a:pt x="0" y="483019"/>
                </a:cubicBezTo>
                <a:cubicBezTo>
                  <a:pt x="-21762" y="327122"/>
                  <a:pt x="9335" y="232531"/>
                  <a:pt x="0" y="0"/>
                </a:cubicBezTo>
                <a:close/>
              </a:path>
              <a:path w="3988483" h="947097" stroke="0" extrusionOk="0">
                <a:moveTo>
                  <a:pt x="0" y="0"/>
                </a:moveTo>
                <a:cubicBezTo>
                  <a:pt x="295222" y="16023"/>
                  <a:pt x="574799" y="-4110"/>
                  <a:pt x="744517" y="0"/>
                </a:cubicBezTo>
                <a:cubicBezTo>
                  <a:pt x="914235" y="4110"/>
                  <a:pt x="1231190" y="-2015"/>
                  <a:pt x="1409264" y="0"/>
                </a:cubicBezTo>
                <a:cubicBezTo>
                  <a:pt x="1587338" y="2015"/>
                  <a:pt x="1848669" y="28831"/>
                  <a:pt x="1994241" y="0"/>
                </a:cubicBezTo>
                <a:cubicBezTo>
                  <a:pt x="2139813" y="-28831"/>
                  <a:pt x="2456655" y="22105"/>
                  <a:pt x="2658989" y="0"/>
                </a:cubicBezTo>
                <a:cubicBezTo>
                  <a:pt x="2861323" y="-22105"/>
                  <a:pt x="3056002" y="1934"/>
                  <a:pt x="3403505" y="0"/>
                </a:cubicBezTo>
                <a:cubicBezTo>
                  <a:pt x="3751008" y="-1934"/>
                  <a:pt x="3774895" y="-8883"/>
                  <a:pt x="3988483" y="0"/>
                </a:cubicBezTo>
                <a:cubicBezTo>
                  <a:pt x="3976982" y="153771"/>
                  <a:pt x="3986955" y="268818"/>
                  <a:pt x="3988483" y="445136"/>
                </a:cubicBezTo>
                <a:cubicBezTo>
                  <a:pt x="3990011" y="621454"/>
                  <a:pt x="3987199" y="832146"/>
                  <a:pt x="3988483" y="947097"/>
                </a:cubicBezTo>
                <a:cubicBezTo>
                  <a:pt x="3818449" y="952569"/>
                  <a:pt x="3606020" y="976701"/>
                  <a:pt x="3363621" y="947097"/>
                </a:cubicBezTo>
                <a:cubicBezTo>
                  <a:pt x="3121222" y="917493"/>
                  <a:pt x="2989365" y="920810"/>
                  <a:pt x="2738758" y="947097"/>
                </a:cubicBezTo>
                <a:cubicBezTo>
                  <a:pt x="2488151" y="973384"/>
                  <a:pt x="2267154" y="963631"/>
                  <a:pt x="2113896" y="947097"/>
                </a:cubicBezTo>
                <a:cubicBezTo>
                  <a:pt x="1960638" y="930563"/>
                  <a:pt x="1638091" y="921241"/>
                  <a:pt x="1409264" y="947097"/>
                </a:cubicBezTo>
                <a:cubicBezTo>
                  <a:pt x="1180437" y="972953"/>
                  <a:pt x="954091" y="938505"/>
                  <a:pt x="824286" y="947097"/>
                </a:cubicBezTo>
                <a:cubicBezTo>
                  <a:pt x="694481" y="955689"/>
                  <a:pt x="368091" y="987883"/>
                  <a:pt x="0" y="947097"/>
                </a:cubicBezTo>
                <a:cubicBezTo>
                  <a:pt x="12676" y="808560"/>
                  <a:pt x="373" y="572964"/>
                  <a:pt x="0" y="464078"/>
                </a:cubicBezTo>
                <a:cubicBezTo>
                  <a:pt x="-373" y="355192"/>
                  <a:pt x="14736" y="147188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Mihin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tekoäly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jo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pystyy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pelinkehityksessä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6EFE49-8A32-80B3-7F82-FBFF52188C5A}"/>
              </a:ext>
            </a:extLst>
          </p:cNvPr>
          <p:cNvSpPr/>
          <p:nvPr/>
        </p:nvSpPr>
        <p:spPr>
          <a:xfrm>
            <a:off x="3396364" y="5527125"/>
            <a:ext cx="5399270" cy="885632"/>
          </a:xfrm>
          <a:custGeom>
            <a:avLst/>
            <a:gdLst>
              <a:gd name="csX0" fmla="*/ 0 w 5399270"/>
              <a:gd name="csY0" fmla="*/ 0 h 885632"/>
              <a:gd name="csX1" fmla="*/ 566923 w 5399270"/>
              <a:gd name="csY1" fmla="*/ 0 h 885632"/>
              <a:gd name="csX2" fmla="*/ 1187839 w 5399270"/>
              <a:gd name="csY2" fmla="*/ 0 h 885632"/>
              <a:gd name="csX3" fmla="*/ 1862748 w 5399270"/>
              <a:gd name="csY3" fmla="*/ 0 h 885632"/>
              <a:gd name="csX4" fmla="*/ 2375679 w 5399270"/>
              <a:gd name="csY4" fmla="*/ 0 h 885632"/>
              <a:gd name="csX5" fmla="*/ 3158573 w 5399270"/>
              <a:gd name="csY5" fmla="*/ 0 h 885632"/>
              <a:gd name="csX6" fmla="*/ 3779489 w 5399270"/>
              <a:gd name="csY6" fmla="*/ 0 h 885632"/>
              <a:gd name="csX7" fmla="*/ 4508390 w 5399270"/>
              <a:gd name="csY7" fmla="*/ 0 h 885632"/>
              <a:gd name="csX8" fmla="*/ 5399270 w 5399270"/>
              <a:gd name="csY8" fmla="*/ 0 h 885632"/>
              <a:gd name="csX9" fmla="*/ 5399270 w 5399270"/>
              <a:gd name="csY9" fmla="*/ 460529 h 885632"/>
              <a:gd name="csX10" fmla="*/ 5399270 w 5399270"/>
              <a:gd name="csY10" fmla="*/ 885632 h 885632"/>
              <a:gd name="csX11" fmla="*/ 4616376 w 5399270"/>
              <a:gd name="csY11" fmla="*/ 885632 h 885632"/>
              <a:gd name="csX12" fmla="*/ 3887474 w 5399270"/>
              <a:gd name="csY12" fmla="*/ 885632 h 885632"/>
              <a:gd name="csX13" fmla="*/ 3374544 w 5399270"/>
              <a:gd name="csY13" fmla="*/ 885632 h 885632"/>
              <a:gd name="csX14" fmla="*/ 2699635 w 5399270"/>
              <a:gd name="csY14" fmla="*/ 885632 h 885632"/>
              <a:gd name="csX15" fmla="*/ 1916741 w 5399270"/>
              <a:gd name="csY15" fmla="*/ 885632 h 885632"/>
              <a:gd name="csX16" fmla="*/ 1133847 w 5399270"/>
              <a:gd name="csY16" fmla="*/ 885632 h 885632"/>
              <a:gd name="csX17" fmla="*/ 620916 w 5399270"/>
              <a:gd name="csY17" fmla="*/ 885632 h 885632"/>
              <a:gd name="csX18" fmla="*/ 0 w 5399270"/>
              <a:gd name="csY18" fmla="*/ 885632 h 885632"/>
              <a:gd name="csX19" fmla="*/ 0 w 5399270"/>
              <a:gd name="csY19" fmla="*/ 469385 h 885632"/>
              <a:gd name="csX20" fmla="*/ 0 w 5399270"/>
              <a:gd name="csY20" fmla="*/ 0 h 885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399270" h="885632" fill="none" extrusionOk="0">
                <a:moveTo>
                  <a:pt x="0" y="0"/>
                </a:moveTo>
                <a:cubicBezTo>
                  <a:pt x="189724" y="-4501"/>
                  <a:pt x="320858" y="26103"/>
                  <a:pt x="566923" y="0"/>
                </a:cubicBezTo>
                <a:cubicBezTo>
                  <a:pt x="812988" y="-26103"/>
                  <a:pt x="1035672" y="-9626"/>
                  <a:pt x="1187839" y="0"/>
                </a:cubicBezTo>
                <a:cubicBezTo>
                  <a:pt x="1340006" y="9626"/>
                  <a:pt x="1535439" y="29332"/>
                  <a:pt x="1862748" y="0"/>
                </a:cubicBezTo>
                <a:cubicBezTo>
                  <a:pt x="2190057" y="-29332"/>
                  <a:pt x="2135699" y="11695"/>
                  <a:pt x="2375679" y="0"/>
                </a:cubicBezTo>
                <a:cubicBezTo>
                  <a:pt x="2615659" y="-11695"/>
                  <a:pt x="2906414" y="-11528"/>
                  <a:pt x="3158573" y="0"/>
                </a:cubicBezTo>
                <a:cubicBezTo>
                  <a:pt x="3410732" y="11528"/>
                  <a:pt x="3587733" y="8465"/>
                  <a:pt x="3779489" y="0"/>
                </a:cubicBezTo>
                <a:cubicBezTo>
                  <a:pt x="3971245" y="-8465"/>
                  <a:pt x="4229219" y="12224"/>
                  <a:pt x="4508390" y="0"/>
                </a:cubicBezTo>
                <a:cubicBezTo>
                  <a:pt x="4787561" y="-12224"/>
                  <a:pt x="5047635" y="-10767"/>
                  <a:pt x="5399270" y="0"/>
                </a:cubicBezTo>
                <a:cubicBezTo>
                  <a:pt x="5382614" y="158297"/>
                  <a:pt x="5417733" y="283270"/>
                  <a:pt x="5399270" y="460529"/>
                </a:cubicBezTo>
                <a:cubicBezTo>
                  <a:pt x="5380807" y="637788"/>
                  <a:pt x="5388759" y="736282"/>
                  <a:pt x="5399270" y="885632"/>
                </a:cubicBezTo>
                <a:cubicBezTo>
                  <a:pt x="5123395" y="903116"/>
                  <a:pt x="4807626" y="902207"/>
                  <a:pt x="4616376" y="885632"/>
                </a:cubicBezTo>
                <a:cubicBezTo>
                  <a:pt x="4425126" y="869057"/>
                  <a:pt x="4058778" y="904441"/>
                  <a:pt x="3887474" y="885632"/>
                </a:cubicBezTo>
                <a:cubicBezTo>
                  <a:pt x="3716170" y="866823"/>
                  <a:pt x="3533502" y="887206"/>
                  <a:pt x="3374544" y="885632"/>
                </a:cubicBezTo>
                <a:cubicBezTo>
                  <a:pt x="3215586" y="884059"/>
                  <a:pt x="2838466" y="856738"/>
                  <a:pt x="2699635" y="885632"/>
                </a:cubicBezTo>
                <a:cubicBezTo>
                  <a:pt x="2560804" y="914526"/>
                  <a:pt x="2090223" y="884825"/>
                  <a:pt x="1916741" y="885632"/>
                </a:cubicBezTo>
                <a:cubicBezTo>
                  <a:pt x="1743259" y="886439"/>
                  <a:pt x="1511574" y="877787"/>
                  <a:pt x="1133847" y="885632"/>
                </a:cubicBezTo>
                <a:cubicBezTo>
                  <a:pt x="756120" y="893477"/>
                  <a:pt x="760705" y="878107"/>
                  <a:pt x="620916" y="885632"/>
                </a:cubicBezTo>
                <a:cubicBezTo>
                  <a:pt x="481127" y="893157"/>
                  <a:pt x="194787" y="905855"/>
                  <a:pt x="0" y="885632"/>
                </a:cubicBezTo>
                <a:cubicBezTo>
                  <a:pt x="19139" y="702215"/>
                  <a:pt x="-9921" y="610933"/>
                  <a:pt x="0" y="469385"/>
                </a:cubicBezTo>
                <a:cubicBezTo>
                  <a:pt x="9921" y="327837"/>
                  <a:pt x="7049" y="109609"/>
                  <a:pt x="0" y="0"/>
                </a:cubicBezTo>
                <a:close/>
              </a:path>
              <a:path w="5399270" h="885632" stroke="0" extrusionOk="0">
                <a:moveTo>
                  <a:pt x="0" y="0"/>
                </a:moveTo>
                <a:cubicBezTo>
                  <a:pt x="370795" y="-6249"/>
                  <a:pt x="398637" y="-28599"/>
                  <a:pt x="782894" y="0"/>
                </a:cubicBezTo>
                <a:cubicBezTo>
                  <a:pt x="1167151" y="28599"/>
                  <a:pt x="1293226" y="8538"/>
                  <a:pt x="1457803" y="0"/>
                </a:cubicBezTo>
                <a:cubicBezTo>
                  <a:pt x="1622380" y="-8538"/>
                  <a:pt x="1798022" y="15639"/>
                  <a:pt x="2024726" y="0"/>
                </a:cubicBezTo>
                <a:cubicBezTo>
                  <a:pt x="2251430" y="-15639"/>
                  <a:pt x="2413852" y="15118"/>
                  <a:pt x="2699635" y="0"/>
                </a:cubicBezTo>
                <a:cubicBezTo>
                  <a:pt x="2985418" y="-15118"/>
                  <a:pt x="3213423" y="-2240"/>
                  <a:pt x="3482529" y="0"/>
                </a:cubicBezTo>
                <a:cubicBezTo>
                  <a:pt x="3751635" y="2240"/>
                  <a:pt x="3892819" y="7432"/>
                  <a:pt x="4049453" y="0"/>
                </a:cubicBezTo>
                <a:cubicBezTo>
                  <a:pt x="4206087" y="-7432"/>
                  <a:pt x="4324849" y="14849"/>
                  <a:pt x="4562383" y="0"/>
                </a:cubicBezTo>
                <a:cubicBezTo>
                  <a:pt x="4799917" y="-14849"/>
                  <a:pt x="5225511" y="-17372"/>
                  <a:pt x="5399270" y="0"/>
                </a:cubicBezTo>
                <a:cubicBezTo>
                  <a:pt x="5406648" y="154030"/>
                  <a:pt x="5414509" y="266904"/>
                  <a:pt x="5399270" y="442816"/>
                </a:cubicBezTo>
                <a:cubicBezTo>
                  <a:pt x="5384031" y="618728"/>
                  <a:pt x="5389041" y="711945"/>
                  <a:pt x="5399270" y="885632"/>
                </a:cubicBezTo>
                <a:cubicBezTo>
                  <a:pt x="5266770" y="896948"/>
                  <a:pt x="4937258" y="861083"/>
                  <a:pt x="4778354" y="885632"/>
                </a:cubicBezTo>
                <a:cubicBezTo>
                  <a:pt x="4619450" y="910181"/>
                  <a:pt x="4248039" y="882420"/>
                  <a:pt x="4049453" y="885632"/>
                </a:cubicBezTo>
                <a:cubicBezTo>
                  <a:pt x="3850867" y="888844"/>
                  <a:pt x="3676843" y="902151"/>
                  <a:pt x="3482529" y="885632"/>
                </a:cubicBezTo>
                <a:cubicBezTo>
                  <a:pt x="3288215" y="869113"/>
                  <a:pt x="3000568" y="874748"/>
                  <a:pt x="2861613" y="885632"/>
                </a:cubicBezTo>
                <a:cubicBezTo>
                  <a:pt x="2722658" y="896516"/>
                  <a:pt x="2299596" y="862507"/>
                  <a:pt x="2132712" y="885632"/>
                </a:cubicBezTo>
                <a:cubicBezTo>
                  <a:pt x="1965828" y="908757"/>
                  <a:pt x="1634457" y="905939"/>
                  <a:pt x="1349818" y="885632"/>
                </a:cubicBezTo>
                <a:cubicBezTo>
                  <a:pt x="1065179" y="865325"/>
                  <a:pt x="904103" y="870936"/>
                  <a:pt x="620916" y="885632"/>
                </a:cubicBezTo>
                <a:cubicBezTo>
                  <a:pt x="337729" y="900328"/>
                  <a:pt x="208402" y="883250"/>
                  <a:pt x="0" y="885632"/>
                </a:cubicBezTo>
                <a:cubicBezTo>
                  <a:pt x="9739" y="695517"/>
                  <a:pt x="1608" y="596961"/>
                  <a:pt x="0" y="469385"/>
                </a:cubicBezTo>
                <a:cubicBezTo>
                  <a:pt x="-1608" y="341809"/>
                  <a:pt x="7514" y="166651"/>
                  <a:pt x="0" y="0"/>
                </a:cubicBezTo>
                <a:close/>
              </a:path>
            </a:pathLst>
          </a:custGeom>
          <a:solidFill>
            <a:srgbClr val="FF8B8B"/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</a:t>
            </a:r>
            <a:r>
              <a:rPr lang="en-FI" sz="32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nko</a:t>
            </a:r>
            <a:r>
              <a:rPr lang="en-FI" sz="32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2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kaikki</a:t>
            </a:r>
            <a:r>
              <a:rPr lang="en-FI" sz="32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2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nyt</a:t>
            </a:r>
            <a:r>
              <a:rPr lang="en-FI" sz="32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2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ohi</a:t>
            </a:r>
            <a:r>
              <a:rPr lang="en-FI" sz="32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ABE3EC-303D-50EB-8695-2F74AD5412C2}"/>
              </a:ext>
            </a:extLst>
          </p:cNvPr>
          <p:cNvSpPr/>
          <p:nvPr/>
        </p:nvSpPr>
        <p:spPr>
          <a:xfrm rot="550201">
            <a:off x="4382996" y="2014457"/>
            <a:ext cx="3519978" cy="981549"/>
          </a:xfrm>
          <a:custGeom>
            <a:avLst/>
            <a:gdLst>
              <a:gd name="csX0" fmla="*/ 0 w 3519978"/>
              <a:gd name="csY0" fmla="*/ 0 h 981549"/>
              <a:gd name="csX1" fmla="*/ 621863 w 3519978"/>
              <a:gd name="csY1" fmla="*/ 0 h 981549"/>
              <a:gd name="csX2" fmla="*/ 1138126 w 3519978"/>
              <a:gd name="csY2" fmla="*/ 0 h 981549"/>
              <a:gd name="csX3" fmla="*/ 1689589 w 3519978"/>
              <a:gd name="csY3" fmla="*/ 0 h 981549"/>
              <a:gd name="csX4" fmla="*/ 2276252 w 3519978"/>
              <a:gd name="csY4" fmla="*/ 0 h 981549"/>
              <a:gd name="csX5" fmla="*/ 2898115 w 3519978"/>
              <a:gd name="csY5" fmla="*/ 0 h 981549"/>
              <a:gd name="csX6" fmla="*/ 3519978 w 3519978"/>
              <a:gd name="csY6" fmla="*/ 0 h 981549"/>
              <a:gd name="csX7" fmla="*/ 3519978 w 3519978"/>
              <a:gd name="csY7" fmla="*/ 490775 h 981549"/>
              <a:gd name="csX8" fmla="*/ 3519978 w 3519978"/>
              <a:gd name="csY8" fmla="*/ 981549 h 981549"/>
              <a:gd name="csX9" fmla="*/ 3038914 w 3519978"/>
              <a:gd name="csY9" fmla="*/ 981549 h 981549"/>
              <a:gd name="csX10" fmla="*/ 2522651 w 3519978"/>
              <a:gd name="csY10" fmla="*/ 981549 h 981549"/>
              <a:gd name="csX11" fmla="*/ 1935988 w 3519978"/>
              <a:gd name="csY11" fmla="*/ 981549 h 981549"/>
              <a:gd name="csX12" fmla="*/ 1454924 w 3519978"/>
              <a:gd name="csY12" fmla="*/ 981549 h 981549"/>
              <a:gd name="csX13" fmla="*/ 797862 w 3519978"/>
              <a:gd name="csY13" fmla="*/ 981549 h 981549"/>
              <a:gd name="csX14" fmla="*/ 0 w 3519978"/>
              <a:gd name="csY14" fmla="*/ 981549 h 981549"/>
              <a:gd name="csX15" fmla="*/ 0 w 3519978"/>
              <a:gd name="csY15" fmla="*/ 500590 h 981549"/>
              <a:gd name="csX16" fmla="*/ 0 w 3519978"/>
              <a:gd name="csY16" fmla="*/ 0 h 981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519978" h="981549" fill="none" extrusionOk="0">
                <a:moveTo>
                  <a:pt x="0" y="0"/>
                </a:moveTo>
                <a:cubicBezTo>
                  <a:pt x="242946" y="-1710"/>
                  <a:pt x="479459" y="726"/>
                  <a:pt x="621863" y="0"/>
                </a:cubicBezTo>
                <a:cubicBezTo>
                  <a:pt x="764267" y="-726"/>
                  <a:pt x="969221" y="13553"/>
                  <a:pt x="1138126" y="0"/>
                </a:cubicBezTo>
                <a:cubicBezTo>
                  <a:pt x="1307031" y="-13553"/>
                  <a:pt x="1439836" y="-27233"/>
                  <a:pt x="1689589" y="0"/>
                </a:cubicBezTo>
                <a:cubicBezTo>
                  <a:pt x="1939342" y="27233"/>
                  <a:pt x="2125926" y="-3038"/>
                  <a:pt x="2276252" y="0"/>
                </a:cubicBezTo>
                <a:cubicBezTo>
                  <a:pt x="2426578" y="3038"/>
                  <a:pt x="2676076" y="13958"/>
                  <a:pt x="2898115" y="0"/>
                </a:cubicBezTo>
                <a:cubicBezTo>
                  <a:pt x="3120154" y="-13958"/>
                  <a:pt x="3391695" y="-25712"/>
                  <a:pt x="3519978" y="0"/>
                </a:cubicBezTo>
                <a:cubicBezTo>
                  <a:pt x="3544481" y="234688"/>
                  <a:pt x="3527567" y="342577"/>
                  <a:pt x="3519978" y="490775"/>
                </a:cubicBezTo>
                <a:cubicBezTo>
                  <a:pt x="3512389" y="638974"/>
                  <a:pt x="3543301" y="865803"/>
                  <a:pt x="3519978" y="981549"/>
                </a:cubicBezTo>
                <a:cubicBezTo>
                  <a:pt x="3326064" y="998055"/>
                  <a:pt x="3187741" y="978703"/>
                  <a:pt x="3038914" y="981549"/>
                </a:cubicBezTo>
                <a:cubicBezTo>
                  <a:pt x="2890087" y="984395"/>
                  <a:pt x="2753712" y="990179"/>
                  <a:pt x="2522651" y="981549"/>
                </a:cubicBezTo>
                <a:cubicBezTo>
                  <a:pt x="2291590" y="972919"/>
                  <a:pt x="2089287" y="962492"/>
                  <a:pt x="1935988" y="981549"/>
                </a:cubicBezTo>
                <a:cubicBezTo>
                  <a:pt x="1782689" y="1000606"/>
                  <a:pt x="1609965" y="984082"/>
                  <a:pt x="1454924" y="981549"/>
                </a:cubicBezTo>
                <a:cubicBezTo>
                  <a:pt x="1299883" y="979016"/>
                  <a:pt x="946846" y="953414"/>
                  <a:pt x="797862" y="981549"/>
                </a:cubicBezTo>
                <a:cubicBezTo>
                  <a:pt x="648878" y="1009684"/>
                  <a:pt x="315223" y="1013849"/>
                  <a:pt x="0" y="981549"/>
                </a:cubicBezTo>
                <a:cubicBezTo>
                  <a:pt x="11003" y="809822"/>
                  <a:pt x="19944" y="633515"/>
                  <a:pt x="0" y="500590"/>
                </a:cubicBezTo>
                <a:cubicBezTo>
                  <a:pt x="-19944" y="367665"/>
                  <a:pt x="5007" y="110241"/>
                  <a:pt x="0" y="0"/>
                </a:cubicBezTo>
                <a:close/>
              </a:path>
              <a:path w="3519978" h="981549" stroke="0" extrusionOk="0">
                <a:moveTo>
                  <a:pt x="0" y="0"/>
                </a:moveTo>
                <a:cubicBezTo>
                  <a:pt x="143327" y="-3072"/>
                  <a:pt x="363371" y="-1868"/>
                  <a:pt x="657063" y="0"/>
                </a:cubicBezTo>
                <a:cubicBezTo>
                  <a:pt x="950755" y="1868"/>
                  <a:pt x="1101461" y="-27075"/>
                  <a:pt x="1243726" y="0"/>
                </a:cubicBezTo>
                <a:cubicBezTo>
                  <a:pt x="1385991" y="27075"/>
                  <a:pt x="1648359" y="14513"/>
                  <a:pt x="1759989" y="0"/>
                </a:cubicBezTo>
                <a:cubicBezTo>
                  <a:pt x="1871619" y="-14513"/>
                  <a:pt x="2095810" y="-27695"/>
                  <a:pt x="2346652" y="0"/>
                </a:cubicBezTo>
                <a:cubicBezTo>
                  <a:pt x="2597494" y="27695"/>
                  <a:pt x="2764713" y="-12638"/>
                  <a:pt x="3003715" y="0"/>
                </a:cubicBezTo>
                <a:cubicBezTo>
                  <a:pt x="3242717" y="12638"/>
                  <a:pt x="3309268" y="11780"/>
                  <a:pt x="3519978" y="0"/>
                </a:cubicBezTo>
                <a:cubicBezTo>
                  <a:pt x="3518717" y="221208"/>
                  <a:pt x="3499789" y="238086"/>
                  <a:pt x="3519978" y="461328"/>
                </a:cubicBezTo>
                <a:cubicBezTo>
                  <a:pt x="3540167" y="684570"/>
                  <a:pt x="3495886" y="867829"/>
                  <a:pt x="3519978" y="981549"/>
                </a:cubicBezTo>
                <a:cubicBezTo>
                  <a:pt x="3386411" y="959491"/>
                  <a:pt x="3177706" y="960010"/>
                  <a:pt x="2968515" y="981549"/>
                </a:cubicBezTo>
                <a:cubicBezTo>
                  <a:pt x="2759324" y="1003088"/>
                  <a:pt x="2627074" y="996797"/>
                  <a:pt x="2417052" y="981549"/>
                </a:cubicBezTo>
                <a:cubicBezTo>
                  <a:pt x="2207030" y="966301"/>
                  <a:pt x="1990413" y="997770"/>
                  <a:pt x="1865588" y="981549"/>
                </a:cubicBezTo>
                <a:cubicBezTo>
                  <a:pt x="1740763" y="965328"/>
                  <a:pt x="1385377" y="993585"/>
                  <a:pt x="1243726" y="981549"/>
                </a:cubicBezTo>
                <a:cubicBezTo>
                  <a:pt x="1102075" y="969513"/>
                  <a:pt x="895262" y="992731"/>
                  <a:pt x="727462" y="981549"/>
                </a:cubicBezTo>
                <a:cubicBezTo>
                  <a:pt x="559662" y="970367"/>
                  <a:pt x="203270" y="983775"/>
                  <a:pt x="0" y="981549"/>
                </a:cubicBezTo>
                <a:cubicBezTo>
                  <a:pt x="16689" y="825472"/>
                  <a:pt x="17221" y="600653"/>
                  <a:pt x="0" y="480959"/>
                </a:cubicBezTo>
                <a:cubicBezTo>
                  <a:pt x="-17221" y="361265"/>
                  <a:pt x="-12783" y="117704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Miten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pelintekijän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rooli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muuttuu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834E26-A1FC-0ECD-F83E-35F92B98249F}"/>
              </a:ext>
            </a:extLst>
          </p:cNvPr>
          <p:cNvSpPr/>
          <p:nvPr/>
        </p:nvSpPr>
        <p:spPr>
          <a:xfrm rot="197483">
            <a:off x="8021070" y="2433157"/>
            <a:ext cx="3671782" cy="1283036"/>
          </a:xfrm>
          <a:custGeom>
            <a:avLst/>
            <a:gdLst>
              <a:gd name="csX0" fmla="*/ 0 w 3671782"/>
              <a:gd name="csY0" fmla="*/ 0 h 1283036"/>
              <a:gd name="csX1" fmla="*/ 648681 w 3671782"/>
              <a:gd name="csY1" fmla="*/ 0 h 1283036"/>
              <a:gd name="csX2" fmla="*/ 1187210 w 3671782"/>
              <a:gd name="csY2" fmla="*/ 0 h 1283036"/>
              <a:gd name="csX3" fmla="*/ 1762455 w 3671782"/>
              <a:gd name="csY3" fmla="*/ 0 h 1283036"/>
              <a:gd name="csX4" fmla="*/ 2374419 w 3671782"/>
              <a:gd name="csY4" fmla="*/ 0 h 1283036"/>
              <a:gd name="csX5" fmla="*/ 3023101 w 3671782"/>
              <a:gd name="csY5" fmla="*/ 0 h 1283036"/>
              <a:gd name="csX6" fmla="*/ 3671782 w 3671782"/>
              <a:gd name="csY6" fmla="*/ 0 h 1283036"/>
              <a:gd name="csX7" fmla="*/ 3671782 w 3671782"/>
              <a:gd name="csY7" fmla="*/ 641518 h 1283036"/>
              <a:gd name="csX8" fmla="*/ 3671782 w 3671782"/>
              <a:gd name="csY8" fmla="*/ 1283036 h 1283036"/>
              <a:gd name="csX9" fmla="*/ 3169972 w 3671782"/>
              <a:gd name="csY9" fmla="*/ 1283036 h 1283036"/>
              <a:gd name="csX10" fmla="*/ 2631444 w 3671782"/>
              <a:gd name="csY10" fmla="*/ 1283036 h 1283036"/>
              <a:gd name="csX11" fmla="*/ 2019480 w 3671782"/>
              <a:gd name="csY11" fmla="*/ 1283036 h 1283036"/>
              <a:gd name="csX12" fmla="*/ 1517670 w 3671782"/>
              <a:gd name="csY12" fmla="*/ 1283036 h 1283036"/>
              <a:gd name="csX13" fmla="*/ 832271 w 3671782"/>
              <a:gd name="csY13" fmla="*/ 1283036 h 1283036"/>
              <a:gd name="csX14" fmla="*/ 0 w 3671782"/>
              <a:gd name="csY14" fmla="*/ 1283036 h 1283036"/>
              <a:gd name="csX15" fmla="*/ 0 w 3671782"/>
              <a:gd name="csY15" fmla="*/ 654348 h 1283036"/>
              <a:gd name="csX16" fmla="*/ 0 w 3671782"/>
              <a:gd name="csY16" fmla="*/ 0 h 12830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71782" h="1283036" fill="none" extrusionOk="0">
                <a:moveTo>
                  <a:pt x="0" y="0"/>
                </a:moveTo>
                <a:cubicBezTo>
                  <a:pt x="285721" y="6643"/>
                  <a:pt x="377159" y="-10670"/>
                  <a:pt x="648681" y="0"/>
                </a:cubicBezTo>
                <a:cubicBezTo>
                  <a:pt x="920203" y="10670"/>
                  <a:pt x="1035175" y="10359"/>
                  <a:pt x="1187210" y="0"/>
                </a:cubicBezTo>
                <a:cubicBezTo>
                  <a:pt x="1339245" y="-10359"/>
                  <a:pt x="1480127" y="10492"/>
                  <a:pt x="1762455" y="0"/>
                </a:cubicBezTo>
                <a:cubicBezTo>
                  <a:pt x="2044784" y="-10492"/>
                  <a:pt x="2133551" y="-15480"/>
                  <a:pt x="2374419" y="0"/>
                </a:cubicBezTo>
                <a:cubicBezTo>
                  <a:pt x="2615287" y="15480"/>
                  <a:pt x="2834525" y="-14097"/>
                  <a:pt x="3023101" y="0"/>
                </a:cubicBezTo>
                <a:cubicBezTo>
                  <a:pt x="3211677" y="14097"/>
                  <a:pt x="3373437" y="30178"/>
                  <a:pt x="3671782" y="0"/>
                </a:cubicBezTo>
                <a:cubicBezTo>
                  <a:pt x="3677775" y="129320"/>
                  <a:pt x="3650847" y="398108"/>
                  <a:pt x="3671782" y="641518"/>
                </a:cubicBezTo>
                <a:cubicBezTo>
                  <a:pt x="3692717" y="884928"/>
                  <a:pt x="3694979" y="1082054"/>
                  <a:pt x="3671782" y="1283036"/>
                </a:cubicBezTo>
                <a:cubicBezTo>
                  <a:pt x="3566394" y="1307699"/>
                  <a:pt x="3280309" y="1261104"/>
                  <a:pt x="3169972" y="1283036"/>
                </a:cubicBezTo>
                <a:cubicBezTo>
                  <a:pt x="3059635" y="1304969"/>
                  <a:pt x="2887467" y="1300362"/>
                  <a:pt x="2631444" y="1283036"/>
                </a:cubicBezTo>
                <a:cubicBezTo>
                  <a:pt x="2375421" y="1265710"/>
                  <a:pt x="2237739" y="1286962"/>
                  <a:pt x="2019480" y="1283036"/>
                </a:cubicBezTo>
                <a:cubicBezTo>
                  <a:pt x="1801221" y="1279110"/>
                  <a:pt x="1673283" y="1296862"/>
                  <a:pt x="1517670" y="1283036"/>
                </a:cubicBezTo>
                <a:cubicBezTo>
                  <a:pt x="1362057" y="1269211"/>
                  <a:pt x="1001188" y="1271937"/>
                  <a:pt x="832271" y="1283036"/>
                </a:cubicBezTo>
                <a:cubicBezTo>
                  <a:pt x="663354" y="1294135"/>
                  <a:pt x="337126" y="1295519"/>
                  <a:pt x="0" y="1283036"/>
                </a:cubicBezTo>
                <a:cubicBezTo>
                  <a:pt x="-26278" y="1027758"/>
                  <a:pt x="-28182" y="819076"/>
                  <a:pt x="0" y="654348"/>
                </a:cubicBezTo>
                <a:cubicBezTo>
                  <a:pt x="28182" y="489620"/>
                  <a:pt x="15229" y="273437"/>
                  <a:pt x="0" y="0"/>
                </a:cubicBezTo>
                <a:close/>
              </a:path>
              <a:path w="3671782" h="1283036" stroke="0" extrusionOk="0">
                <a:moveTo>
                  <a:pt x="0" y="0"/>
                </a:moveTo>
                <a:cubicBezTo>
                  <a:pt x="276945" y="5741"/>
                  <a:pt x="500597" y="-7727"/>
                  <a:pt x="685399" y="0"/>
                </a:cubicBezTo>
                <a:cubicBezTo>
                  <a:pt x="870201" y="7727"/>
                  <a:pt x="1085896" y="-5434"/>
                  <a:pt x="1297363" y="0"/>
                </a:cubicBezTo>
                <a:cubicBezTo>
                  <a:pt x="1508830" y="5434"/>
                  <a:pt x="1658123" y="26173"/>
                  <a:pt x="1835891" y="0"/>
                </a:cubicBezTo>
                <a:cubicBezTo>
                  <a:pt x="2013659" y="-26173"/>
                  <a:pt x="2167664" y="17942"/>
                  <a:pt x="2447855" y="0"/>
                </a:cubicBezTo>
                <a:cubicBezTo>
                  <a:pt x="2728046" y="-17942"/>
                  <a:pt x="2926445" y="24196"/>
                  <a:pt x="3133254" y="0"/>
                </a:cubicBezTo>
                <a:cubicBezTo>
                  <a:pt x="3340063" y="-24196"/>
                  <a:pt x="3453979" y="-24773"/>
                  <a:pt x="3671782" y="0"/>
                </a:cubicBezTo>
                <a:cubicBezTo>
                  <a:pt x="3645545" y="262387"/>
                  <a:pt x="3645071" y="334614"/>
                  <a:pt x="3671782" y="603027"/>
                </a:cubicBezTo>
                <a:cubicBezTo>
                  <a:pt x="3698493" y="871440"/>
                  <a:pt x="3679079" y="1132080"/>
                  <a:pt x="3671782" y="1283036"/>
                </a:cubicBezTo>
                <a:cubicBezTo>
                  <a:pt x="3494993" y="1254512"/>
                  <a:pt x="3229456" y="1292513"/>
                  <a:pt x="3096536" y="1283036"/>
                </a:cubicBezTo>
                <a:cubicBezTo>
                  <a:pt x="2963616" y="1273559"/>
                  <a:pt x="2669398" y="1254335"/>
                  <a:pt x="2521290" y="1283036"/>
                </a:cubicBezTo>
                <a:cubicBezTo>
                  <a:pt x="2373182" y="1311737"/>
                  <a:pt x="2168241" y="1305544"/>
                  <a:pt x="1946044" y="1283036"/>
                </a:cubicBezTo>
                <a:cubicBezTo>
                  <a:pt x="1723847" y="1260528"/>
                  <a:pt x="1517331" y="1252787"/>
                  <a:pt x="1297363" y="1283036"/>
                </a:cubicBezTo>
                <a:cubicBezTo>
                  <a:pt x="1077395" y="1313285"/>
                  <a:pt x="867748" y="1274993"/>
                  <a:pt x="758835" y="1283036"/>
                </a:cubicBezTo>
                <a:cubicBezTo>
                  <a:pt x="649922" y="1291079"/>
                  <a:pt x="239870" y="1268753"/>
                  <a:pt x="0" y="1283036"/>
                </a:cubicBezTo>
                <a:cubicBezTo>
                  <a:pt x="21216" y="1066168"/>
                  <a:pt x="31152" y="769921"/>
                  <a:pt x="0" y="628688"/>
                </a:cubicBezTo>
                <a:cubicBezTo>
                  <a:pt x="-31152" y="487455"/>
                  <a:pt x="23010" y="204288"/>
                  <a:pt x="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Tuleeko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peleistä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parempia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,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kun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niiden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tekeminen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helpottuu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D000D7-9E60-388D-42E3-8AD186D32A22}"/>
              </a:ext>
            </a:extLst>
          </p:cNvPr>
          <p:cNvSpPr/>
          <p:nvPr/>
        </p:nvSpPr>
        <p:spPr>
          <a:xfrm rot="279535">
            <a:off x="768212" y="3080876"/>
            <a:ext cx="4778678" cy="1117956"/>
          </a:xfrm>
          <a:custGeom>
            <a:avLst/>
            <a:gdLst>
              <a:gd name="csX0" fmla="*/ 0 w 4778678"/>
              <a:gd name="csY0" fmla="*/ 0 h 1117956"/>
              <a:gd name="csX1" fmla="*/ 587095 w 4778678"/>
              <a:gd name="csY1" fmla="*/ 0 h 1117956"/>
              <a:gd name="csX2" fmla="*/ 1269763 w 4778678"/>
              <a:gd name="csY2" fmla="*/ 0 h 1117956"/>
              <a:gd name="csX3" fmla="*/ 2000218 w 4778678"/>
              <a:gd name="csY3" fmla="*/ 0 h 1117956"/>
              <a:gd name="csX4" fmla="*/ 2635100 w 4778678"/>
              <a:gd name="csY4" fmla="*/ 0 h 1117956"/>
              <a:gd name="csX5" fmla="*/ 3317768 w 4778678"/>
              <a:gd name="csY5" fmla="*/ 0 h 1117956"/>
              <a:gd name="csX6" fmla="*/ 3857076 w 4778678"/>
              <a:gd name="csY6" fmla="*/ 0 h 1117956"/>
              <a:gd name="csX7" fmla="*/ 4778678 w 4778678"/>
              <a:gd name="csY7" fmla="*/ 0 h 1117956"/>
              <a:gd name="csX8" fmla="*/ 4778678 w 4778678"/>
              <a:gd name="csY8" fmla="*/ 547798 h 1117956"/>
              <a:gd name="csX9" fmla="*/ 4778678 w 4778678"/>
              <a:gd name="csY9" fmla="*/ 1117956 h 1117956"/>
              <a:gd name="csX10" fmla="*/ 4096010 w 4778678"/>
              <a:gd name="csY10" fmla="*/ 1117956 h 1117956"/>
              <a:gd name="csX11" fmla="*/ 3317768 w 4778678"/>
              <a:gd name="csY11" fmla="*/ 1117956 h 1117956"/>
              <a:gd name="csX12" fmla="*/ 2539526 w 4778678"/>
              <a:gd name="csY12" fmla="*/ 1117956 h 1117956"/>
              <a:gd name="csX13" fmla="*/ 1904645 w 4778678"/>
              <a:gd name="csY13" fmla="*/ 1117956 h 1117956"/>
              <a:gd name="csX14" fmla="*/ 1174189 w 4778678"/>
              <a:gd name="csY14" fmla="*/ 1117956 h 1117956"/>
              <a:gd name="csX15" fmla="*/ 634882 w 4778678"/>
              <a:gd name="csY15" fmla="*/ 1117956 h 1117956"/>
              <a:gd name="csX16" fmla="*/ 0 w 4778678"/>
              <a:gd name="csY16" fmla="*/ 1117956 h 1117956"/>
              <a:gd name="csX17" fmla="*/ 0 w 4778678"/>
              <a:gd name="csY17" fmla="*/ 536619 h 1117956"/>
              <a:gd name="csX18" fmla="*/ 0 w 4778678"/>
              <a:gd name="csY18" fmla="*/ 0 h 1117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778678" h="1117956" fill="none" extrusionOk="0">
                <a:moveTo>
                  <a:pt x="0" y="0"/>
                </a:moveTo>
                <a:cubicBezTo>
                  <a:pt x="207106" y="9721"/>
                  <a:pt x="442561" y="-3318"/>
                  <a:pt x="587095" y="0"/>
                </a:cubicBezTo>
                <a:cubicBezTo>
                  <a:pt x="731629" y="3318"/>
                  <a:pt x="1030061" y="-26547"/>
                  <a:pt x="1269763" y="0"/>
                </a:cubicBezTo>
                <a:cubicBezTo>
                  <a:pt x="1509465" y="26547"/>
                  <a:pt x="1727606" y="27970"/>
                  <a:pt x="2000218" y="0"/>
                </a:cubicBezTo>
                <a:cubicBezTo>
                  <a:pt x="2272830" y="-27970"/>
                  <a:pt x="2493362" y="17530"/>
                  <a:pt x="2635100" y="0"/>
                </a:cubicBezTo>
                <a:cubicBezTo>
                  <a:pt x="2776838" y="-17530"/>
                  <a:pt x="3027957" y="-24912"/>
                  <a:pt x="3317768" y="0"/>
                </a:cubicBezTo>
                <a:cubicBezTo>
                  <a:pt x="3607579" y="24912"/>
                  <a:pt x="3597065" y="9702"/>
                  <a:pt x="3857076" y="0"/>
                </a:cubicBezTo>
                <a:cubicBezTo>
                  <a:pt x="4117087" y="-9702"/>
                  <a:pt x="4417536" y="-2240"/>
                  <a:pt x="4778678" y="0"/>
                </a:cubicBezTo>
                <a:cubicBezTo>
                  <a:pt x="4769399" y="131542"/>
                  <a:pt x="4803438" y="373223"/>
                  <a:pt x="4778678" y="547798"/>
                </a:cubicBezTo>
                <a:cubicBezTo>
                  <a:pt x="4753918" y="722373"/>
                  <a:pt x="4776760" y="836251"/>
                  <a:pt x="4778678" y="1117956"/>
                </a:cubicBezTo>
                <a:cubicBezTo>
                  <a:pt x="4469345" y="1134934"/>
                  <a:pt x="4432285" y="1104137"/>
                  <a:pt x="4096010" y="1117956"/>
                </a:cubicBezTo>
                <a:cubicBezTo>
                  <a:pt x="3759735" y="1131775"/>
                  <a:pt x="3551462" y="1121090"/>
                  <a:pt x="3317768" y="1117956"/>
                </a:cubicBezTo>
                <a:cubicBezTo>
                  <a:pt x="3084074" y="1114822"/>
                  <a:pt x="2732485" y="1099946"/>
                  <a:pt x="2539526" y="1117956"/>
                </a:cubicBezTo>
                <a:cubicBezTo>
                  <a:pt x="2346567" y="1135966"/>
                  <a:pt x="2153197" y="1120278"/>
                  <a:pt x="1904645" y="1117956"/>
                </a:cubicBezTo>
                <a:cubicBezTo>
                  <a:pt x="1656093" y="1115634"/>
                  <a:pt x="1381477" y="1117292"/>
                  <a:pt x="1174189" y="1117956"/>
                </a:cubicBezTo>
                <a:cubicBezTo>
                  <a:pt x="966901" y="1118620"/>
                  <a:pt x="780159" y="1141148"/>
                  <a:pt x="634882" y="1117956"/>
                </a:cubicBezTo>
                <a:cubicBezTo>
                  <a:pt x="489605" y="1094764"/>
                  <a:pt x="218394" y="1105869"/>
                  <a:pt x="0" y="1117956"/>
                </a:cubicBezTo>
                <a:cubicBezTo>
                  <a:pt x="-7890" y="935375"/>
                  <a:pt x="-28553" y="701453"/>
                  <a:pt x="0" y="536619"/>
                </a:cubicBezTo>
                <a:cubicBezTo>
                  <a:pt x="28553" y="371785"/>
                  <a:pt x="-11180" y="210002"/>
                  <a:pt x="0" y="0"/>
                </a:cubicBezTo>
                <a:close/>
              </a:path>
              <a:path w="4778678" h="1117956" stroke="0" extrusionOk="0">
                <a:moveTo>
                  <a:pt x="0" y="0"/>
                </a:moveTo>
                <a:cubicBezTo>
                  <a:pt x="205733" y="27889"/>
                  <a:pt x="427799" y="-6114"/>
                  <a:pt x="778242" y="0"/>
                </a:cubicBezTo>
                <a:cubicBezTo>
                  <a:pt x="1128685" y="6114"/>
                  <a:pt x="1131791" y="7976"/>
                  <a:pt x="1460910" y="0"/>
                </a:cubicBezTo>
                <a:cubicBezTo>
                  <a:pt x="1790029" y="-7976"/>
                  <a:pt x="1858740" y="-8856"/>
                  <a:pt x="2048005" y="0"/>
                </a:cubicBezTo>
                <a:cubicBezTo>
                  <a:pt x="2237271" y="8856"/>
                  <a:pt x="2450416" y="31637"/>
                  <a:pt x="2730673" y="0"/>
                </a:cubicBezTo>
                <a:cubicBezTo>
                  <a:pt x="3010930" y="-31637"/>
                  <a:pt x="3234552" y="-33783"/>
                  <a:pt x="3508915" y="0"/>
                </a:cubicBezTo>
                <a:cubicBezTo>
                  <a:pt x="3783278" y="33783"/>
                  <a:pt x="3846494" y="-6345"/>
                  <a:pt x="4096010" y="0"/>
                </a:cubicBezTo>
                <a:cubicBezTo>
                  <a:pt x="4345526" y="6345"/>
                  <a:pt x="4540223" y="-8924"/>
                  <a:pt x="4778678" y="0"/>
                </a:cubicBezTo>
                <a:cubicBezTo>
                  <a:pt x="4770284" y="259613"/>
                  <a:pt x="4790455" y="417944"/>
                  <a:pt x="4778678" y="558978"/>
                </a:cubicBezTo>
                <a:cubicBezTo>
                  <a:pt x="4766901" y="700012"/>
                  <a:pt x="4783919" y="853077"/>
                  <a:pt x="4778678" y="1117956"/>
                </a:cubicBezTo>
                <a:cubicBezTo>
                  <a:pt x="4606714" y="1137014"/>
                  <a:pt x="4220325" y="1123472"/>
                  <a:pt x="4048223" y="1117956"/>
                </a:cubicBezTo>
                <a:cubicBezTo>
                  <a:pt x="3876122" y="1112440"/>
                  <a:pt x="3581186" y="1098658"/>
                  <a:pt x="3413341" y="1117956"/>
                </a:cubicBezTo>
                <a:cubicBezTo>
                  <a:pt x="3245496" y="1137254"/>
                  <a:pt x="2842501" y="1095594"/>
                  <a:pt x="2682886" y="1117956"/>
                </a:cubicBezTo>
                <a:cubicBezTo>
                  <a:pt x="2523271" y="1140318"/>
                  <a:pt x="2222332" y="1094657"/>
                  <a:pt x="2095792" y="1117956"/>
                </a:cubicBezTo>
                <a:cubicBezTo>
                  <a:pt x="1969252" y="1141255"/>
                  <a:pt x="1700923" y="1121906"/>
                  <a:pt x="1460910" y="1117956"/>
                </a:cubicBezTo>
                <a:cubicBezTo>
                  <a:pt x="1220897" y="1114006"/>
                  <a:pt x="1070000" y="1104532"/>
                  <a:pt x="730455" y="1117956"/>
                </a:cubicBezTo>
                <a:cubicBezTo>
                  <a:pt x="390911" y="1131380"/>
                  <a:pt x="178042" y="1088927"/>
                  <a:pt x="0" y="1117956"/>
                </a:cubicBezTo>
                <a:cubicBezTo>
                  <a:pt x="23370" y="862769"/>
                  <a:pt x="-13667" y="698937"/>
                  <a:pt x="0" y="547798"/>
                </a:cubicBezTo>
                <a:cubicBezTo>
                  <a:pt x="13667" y="396659"/>
                  <a:pt x="11537" y="263426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FI" sz="200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Miksi tekoälyn käyttö peleissä jakaa mielipiteitä?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E7328E-5203-4146-23A0-F9A6D2795F57}"/>
              </a:ext>
            </a:extLst>
          </p:cNvPr>
          <p:cNvSpPr/>
          <p:nvPr/>
        </p:nvSpPr>
        <p:spPr>
          <a:xfrm rot="21326669">
            <a:off x="5543478" y="3771311"/>
            <a:ext cx="3714933" cy="947097"/>
          </a:xfrm>
          <a:custGeom>
            <a:avLst/>
            <a:gdLst>
              <a:gd name="csX0" fmla="*/ 0 w 3714933"/>
              <a:gd name="csY0" fmla="*/ 0 h 947097"/>
              <a:gd name="csX1" fmla="*/ 656305 w 3714933"/>
              <a:gd name="csY1" fmla="*/ 0 h 947097"/>
              <a:gd name="csX2" fmla="*/ 1201162 w 3714933"/>
              <a:gd name="csY2" fmla="*/ 0 h 947097"/>
              <a:gd name="csX3" fmla="*/ 1783168 w 3714933"/>
              <a:gd name="csY3" fmla="*/ 0 h 947097"/>
              <a:gd name="csX4" fmla="*/ 2402323 w 3714933"/>
              <a:gd name="csY4" fmla="*/ 0 h 947097"/>
              <a:gd name="csX5" fmla="*/ 3058628 w 3714933"/>
              <a:gd name="csY5" fmla="*/ 0 h 947097"/>
              <a:gd name="csX6" fmla="*/ 3714933 w 3714933"/>
              <a:gd name="csY6" fmla="*/ 0 h 947097"/>
              <a:gd name="csX7" fmla="*/ 3714933 w 3714933"/>
              <a:gd name="csY7" fmla="*/ 473549 h 947097"/>
              <a:gd name="csX8" fmla="*/ 3714933 w 3714933"/>
              <a:gd name="csY8" fmla="*/ 947097 h 947097"/>
              <a:gd name="csX9" fmla="*/ 3207225 w 3714933"/>
              <a:gd name="csY9" fmla="*/ 947097 h 947097"/>
              <a:gd name="csX10" fmla="*/ 2662369 w 3714933"/>
              <a:gd name="csY10" fmla="*/ 947097 h 947097"/>
              <a:gd name="csX11" fmla="*/ 2043213 w 3714933"/>
              <a:gd name="csY11" fmla="*/ 947097 h 947097"/>
              <a:gd name="csX12" fmla="*/ 1535506 w 3714933"/>
              <a:gd name="csY12" fmla="*/ 947097 h 947097"/>
              <a:gd name="csX13" fmla="*/ 842051 w 3714933"/>
              <a:gd name="csY13" fmla="*/ 947097 h 947097"/>
              <a:gd name="csX14" fmla="*/ 0 w 3714933"/>
              <a:gd name="csY14" fmla="*/ 947097 h 947097"/>
              <a:gd name="csX15" fmla="*/ 0 w 3714933"/>
              <a:gd name="csY15" fmla="*/ 483019 h 947097"/>
              <a:gd name="csX16" fmla="*/ 0 w 3714933"/>
              <a:gd name="csY16" fmla="*/ 0 h 947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714933" h="947097" fill="none" extrusionOk="0">
                <a:moveTo>
                  <a:pt x="0" y="0"/>
                </a:moveTo>
                <a:cubicBezTo>
                  <a:pt x="247913" y="-23203"/>
                  <a:pt x="352109" y="-31111"/>
                  <a:pt x="656305" y="0"/>
                </a:cubicBezTo>
                <a:cubicBezTo>
                  <a:pt x="960501" y="31111"/>
                  <a:pt x="1049738" y="-21387"/>
                  <a:pt x="1201162" y="0"/>
                </a:cubicBezTo>
                <a:cubicBezTo>
                  <a:pt x="1352586" y="21387"/>
                  <a:pt x="1564393" y="-20291"/>
                  <a:pt x="1783168" y="0"/>
                </a:cubicBezTo>
                <a:cubicBezTo>
                  <a:pt x="2001943" y="20291"/>
                  <a:pt x="2200463" y="-8363"/>
                  <a:pt x="2402323" y="0"/>
                </a:cubicBezTo>
                <a:cubicBezTo>
                  <a:pt x="2604183" y="8363"/>
                  <a:pt x="2742474" y="26655"/>
                  <a:pt x="3058628" y="0"/>
                </a:cubicBezTo>
                <a:cubicBezTo>
                  <a:pt x="3374783" y="-26655"/>
                  <a:pt x="3473438" y="-23002"/>
                  <a:pt x="3714933" y="0"/>
                </a:cubicBezTo>
                <a:cubicBezTo>
                  <a:pt x="3734584" y="155998"/>
                  <a:pt x="3707959" y="290784"/>
                  <a:pt x="3714933" y="473549"/>
                </a:cubicBezTo>
                <a:cubicBezTo>
                  <a:pt x="3721907" y="656314"/>
                  <a:pt x="3702729" y="776514"/>
                  <a:pt x="3714933" y="947097"/>
                </a:cubicBezTo>
                <a:cubicBezTo>
                  <a:pt x="3534807" y="959106"/>
                  <a:pt x="3382360" y="966289"/>
                  <a:pt x="3207225" y="947097"/>
                </a:cubicBezTo>
                <a:cubicBezTo>
                  <a:pt x="3032090" y="927905"/>
                  <a:pt x="2806620" y="960976"/>
                  <a:pt x="2662369" y="947097"/>
                </a:cubicBezTo>
                <a:cubicBezTo>
                  <a:pt x="2518118" y="933218"/>
                  <a:pt x="2265432" y="923754"/>
                  <a:pt x="2043213" y="947097"/>
                </a:cubicBezTo>
                <a:cubicBezTo>
                  <a:pt x="1820994" y="970440"/>
                  <a:pt x="1679257" y="946711"/>
                  <a:pt x="1535506" y="947097"/>
                </a:cubicBezTo>
                <a:cubicBezTo>
                  <a:pt x="1391755" y="947483"/>
                  <a:pt x="1063469" y="937003"/>
                  <a:pt x="842051" y="947097"/>
                </a:cubicBezTo>
                <a:cubicBezTo>
                  <a:pt x="620633" y="957191"/>
                  <a:pt x="212110" y="971212"/>
                  <a:pt x="0" y="947097"/>
                </a:cubicBezTo>
                <a:cubicBezTo>
                  <a:pt x="12044" y="785715"/>
                  <a:pt x="21762" y="638916"/>
                  <a:pt x="0" y="483019"/>
                </a:cubicBezTo>
                <a:cubicBezTo>
                  <a:pt x="-21762" y="327122"/>
                  <a:pt x="9335" y="232531"/>
                  <a:pt x="0" y="0"/>
                </a:cubicBezTo>
                <a:close/>
              </a:path>
              <a:path w="3714933" h="947097" stroke="0" extrusionOk="0">
                <a:moveTo>
                  <a:pt x="0" y="0"/>
                </a:moveTo>
                <a:cubicBezTo>
                  <a:pt x="245385" y="-22222"/>
                  <a:pt x="479069" y="720"/>
                  <a:pt x="693454" y="0"/>
                </a:cubicBezTo>
                <a:cubicBezTo>
                  <a:pt x="907839" y="-720"/>
                  <a:pt x="1020372" y="7463"/>
                  <a:pt x="1312610" y="0"/>
                </a:cubicBezTo>
                <a:cubicBezTo>
                  <a:pt x="1604848" y="-7463"/>
                  <a:pt x="1728317" y="14661"/>
                  <a:pt x="1857466" y="0"/>
                </a:cubicBezTo>
                <a:cubicBezTo>
                  <a:pt x="1986615" y="-14661"/>
                  <a:pt x="2198835" y="7415"/>
                  <a:pt x="2476622" y="0"/>
                </a:cubicBezTo>
                <a:cubicBezTo>
                  <a:pt x="2754409" y="-7415"/>
                  <a:pt x="3007227" y="34028"/>
                  <a:pt x="3170076" y="0"/>
                </a:cubicBezTo>
                <a:cubicBezTo>
                  <a:pt x="3332925" y="-34028"/>
                  <a:pt x="3553329" y="14388"/>
                  <a:pt x="3714933" y="0"/>
                </a:cubicBezTo>
                <a:cubicBezTo>
                  <a:pt x="3703432" y="153771"/>
                  <a:pt x="3713405" y="268818"/>
                  <a:pt x="3714933" y="445136"/>
                </a:cubicBezTo>
                <a:cubicBezTo>
                  <a:pt x="3716461" y="621454"/>
                  <a:pt x="3713649" y="832146"/>
                  <a:pt x="3714933" y="947097"/>
                </a:cubicBezTo>
                <a:cubicBezTo>
                  <a:pt x="3527852" y="957757"/>
                  <a:pt x="3252666" y="971962"/>
                  <a:pt x="3132927" y="947097"/>
                </a:cubicBezTo>
                <a:cubicBezTo>
                  <a:pt x="3013188" y="922232"/>
                  <a:pt x="2794664" y="930122"/>
                  <a:pt x="2550921" y="947097"/>
                </a:cubicBezTo>
                <a:cubicBezTo>
                  <a:pt x="2307178" y="964072"/>
                  <a:pt x="2128561" y="959739"/>
                  <a:pt x="1968914" y="947097"/>
                </a:cubicBezTo>
                <a:cubicBezTo>
                  <a:pt x="1809267" y="934455"/>
                  <a:pt x="1587747" y="956070"/>
                  <a:pt x="1312610" y="947097"/>
                </a:cubicBezTo>
                <a:cubicBezTo>
                  <a:pt x="1037473" y="938124"/>
                  <a:pt x="1036340" y="947845"/>
                  <a:pt x="767753" y="947097"/>
                </a:cubicBezTo>
                <a:cubicBezTo>
                  <a:pt x="499166" y="946349"/>
                  <a:pt x="330568" y="957526"/>
                  <a:pt x="0" y="947097"/>
                </a:cubicBezTo>
                <a:cubicBezTo>
                  <a:pt x="12676" y="808560"/>
                  <a:pt x="373" y="572964"/>
                  <a:pt x="0" y="464078"/>
                </a:cubicBezTo>
                <a:cubicBezTo>
                  <a:pt x="-373" y="355192"/>
                  <a:pt x="14736" y="147188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Mitä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voisin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itse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tehdä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tekoälyn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0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avulla</a:t>
            </a:r>
            <a:r>
              <a:rPr lang="en-FI" sz="20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307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CF6AA-79A4-52CC-E589-A93F1632D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">
            <a:extLst>
              <a:ext uri="{FF2B5EF4-FFF2-40B4-BE49-F238E27FC236}">
                <a16:creationId xmlns:a16="http://schemas.microsoft.com/office/drawing/2014/main" id="{EB291596-FFCC-3CC4-2248-E882F7913634}"/>
              </a:ext>
            </a:extLst>
          </p:cNvPr>
          <p:cNvSpPr/>
          <p:nvPr/>
        </p:nvSpPr>
        <p:spPr>
          <a:xfrm>
            <a:off x="3892552" y="1240788"/>
            <a:ext cx="8299448" cy="1950720"/>
          </a:xfrm>
          <a:prstGeom prst="rect">
            <a:avLst/>
          </a:prstGeom>
          <a:noFill/>
          <a:ln w="6350">
            <a:noFill/>
          </a:ln>
        </p:spPr>
        <p:txBody>
          <a:bodyPr wrap="square" rtlCol="0" anchor="ctr"/>
          <a:lstStyle/>
          <a:p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Sa</a:t>
            </a:r>
            <a:r>
              <a:rPr lang="en-FI" sz="6000" b="1" dirty="0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a</a:t>
            </a:r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 </a:t>
            </a:r>
            <a:r>
              <a:rPr lang="en-US" sz="6000" b="1" dirty="0" err="1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kysyä</a:t>
            </a:r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!</a:t>
            </a:r>
            <a:endParaRPr lang="en-US" sz="6000" dirty="0">
              <a:ln w="28575">
                <a:solidFill>
                  <a:schemeClr val="tx1"/>
                </a:solidFill>
              </a:ln>
              <a:solidFill>
                <a:srgbClr val="0056FE"/>
              </a:solidFill>
              <a:latin typeface="Bungee" pitchFamily="2" charset="0"/>
              <a:ea typeface="Bungee" pitchFamily="2" charset="0"/>
            </a:endParaRPr>
          </a:p>
          <a:p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78B727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Saa </a:t>
            </a:r>
            <a:r>
              <a:rPr lang="en-US" sz="6000" b="1" dirty="0" err="1">
                <a:ln w="28575">
                  <a:solidFill>
                    <a:schemeClr val="tx1"/>
                  </a:solidFill>
                </a:ln>
                <a:solidFill>
                  <a:srgbClr val="78B727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keskeyttää</a:t>
            </a:r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78B727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!</a:t>
            </a:r>
            <a:endParaRPr lang="en-US" sz="6000" dirty="0">
              <a:ln w="28575">
                <a:solidFill>
                  <a:schemeClr val="tx1"/>
                </a:solidFill>
              </a:ln>
              <a:solidFill>
                <a:srgbClr val="78B727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7AEBEBFB-46D9-7DEB-4D25-F043CBD180D5}"/>
              </a:ext>
            </a:extLst>
          </p:cNvPr>
          <p:cNvSpPr/>
          <p:nvPr/>
        </p:nvSpPr>
        <p:spPr>
          <a:xfrm>
            <a:off x="442277" y="4335568"/>
            <a:ext cx="11307445" cy="1475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Vaikka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esitysosuus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on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pitkälti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monologia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,</a:t>
            </a:r>
          </a:p>
          <a:p>
            <a:pPr algn="ctr"/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niin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aina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mahtavaa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jos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syntyy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keskustelua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!</a:t>
            </a:r>
            <a:endParaRPr lang="en-US" sz="3200" dirty="0">
              <a:latin typeface="Bungee" pitchFamily="2" charset="0"/>
              <a:ea typeface="Bungee" pitchFamily="2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6303508-C986-2E70-CB4B-53584684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071" y="96729"/>
            <a:ext cx="4238839" cy="42388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929550-8738-B8FB-B7C0-C2C724AB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0731">
            <a:off x="9225917" y="279098"/>
            <a:ext cx="1243525" cy="742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4CB13F-9B46-1DF1-2D69-1102481BE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936">
            <a:off x="5430184" y="127060"/>
            <a:ext cx="954678" cy="6087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33FFEB-DF37-6A17-C60D-B70F2171DB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675" y="888059"/>
            <a:ext cx="711936" cy="582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227959-E7CC-0F1D-DE6B-46C04E690D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9351">
            <a:off x="6634045" y="177165"/>
            <a:ext cx="1939872" cy="9458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D46E5D-ACC5-0878-6EE1-1DF83776AA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2151">
            <a:off x="6793363" y="983305"/>
            <a:ext cx="1335270" cy="6951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3F9002-E622-CED4-B060-B75C889406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9884">
            <a:off x="9746406" y="1125634"/>
            <a:ext cx="1930070" cy="10167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118B0F-CCE8-A263-B620-F82A352636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35275">
            <a:off x="9791884" y="4240388"/>
            <a:ext cx="1765709" cy="23181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AD707A-327B-4055-4D27-C74BA50798AD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916" y="0"/>
            <a:ext cx="13691831" cy="6867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2DB5D-9CFF-755E-B001-0D0A6AB58B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49916" y="0"/>
            <a:ext cx="12972294" cy="7294880"/>
          </a:xfrm>
          <a:prstGeom prst="rect">
            <a:avLst/>
          </a:prstGeom>
        </p:spPr>
      </p:pic>
      <p:pic>
        <p:nvPicPr>
          <p:cNvPr id="18" name="Kuva 7" descr="Kuva, joka sisältää kohteen Ihmisen kasvot, seinä, vaate, henkilö&#10;&#10;Kuvaus luotu automaattisesti">
            <a:extLst>
              <a:ext uri="{FF2B5EF4-FFF2-40B4-BE49-F238E27FC236}">
                <a16:creationId xmlns:a16="http://schemas.microsoft.com/office/drawing/2014/main" id="{EF499963-AF74-456B-93FE-CC9CDED846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4" t="22222" r="3120"/>
          <a:stretch/>
        </p:blipFill>
        <p:spPr>
          <a:xfrm rot="464912" flipH="1">
            <a:off x="6960558" y="1518445"/>
            <a:ext cx="3290396" cy="5041216"/>
          </a:xfrm>
          <a:prstGeom prst="rect">
            <a:avLst/>
          </a:prstGeom>
        </p:spPr>
      </p:pic>
      <p:pic>
        <p:nvPicPr>
          <p:cNvPr id="20" name="Kuva 9" descr="Kuva, joka sisältää kohteen vaate, jalkineet, teksti, henkilö&#10;&#10;Kuvaus luotu automaattisesti">
            <a:extLst>
              <a:ext uri="{FF2B5EF4-FFF2-40B4-BE49-F238E27FC236}">
                <a16:creationId xmlns:a16="http://schemas.microsoft.com/office/drawing/2014/main" id="{FB09F8D4-D9E0-DD47-57C1-DDF989A19E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9" t="24991" r="16735" b="1877"/>
          <a:stretch/>
        </p:blipFill>
        <p:spPr>
          <a:xfrm rot="21214422">
            <a:off x="7417193" y="1446890"/>
            <a:ext cx="3378105" cy="4960993"/>
          </a:xfrm>
          <a:prstGeom prst="rect">
            <a:avLst/>
          </a:prstGeom>
        </p:spPr>
      </p:pic>
      <p:pic>
        <p:nvPicPr>
          <p:cNvPr id="22" name="Kuva 11" descr="Kuva, joka sisältää kohteen vaate, henkilö, hymy, Ihmisen kasvot&#10;&#10;Kuvaus luotu automaattisesti">
            <a:extLst>
              <a:ext uri="{FF2B5EF4-FFF2-40B4-BE49-F238E27FC236}">
                <a16:creationId xmlns:a16="http://schemas.microsoft.com/office/drawing/2014/main" id="{67E9AC33-3790-3A6C-643C-2A640E0408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6" r="2772" b="1616"/>
          <a:stretch/>
        </p:blipFill>
        <p:spPr>
          <a:xfrm rot="158456">
            <a:off x="7066289" y="1616846"/>
            <a:ext cx="3247201" cy="4977819"/>
          </a:xfrm>
          <a:prstGeom prst="rect">
            <a:avLst/>
          </a:prstGeom>
        </p:spPr>
      </p:pic>
      <p:pic>
        <p:nvPicPr>
          <p:cNvPr id="24" name="Kuva 13" descr="Kuva, joka sisältää kohteen vaate, henkilö, Blazer, Juhla-asu&#10;&#10;Kuvaus luotu automaattisesti">
            <a:extLst>
              <a:ext uri="{FF2B5EF4-FFF2-40B4-BE49-F238E27FC236}">
                <a16:creationId xmlns:a16="http://schemas.microsoft.com/office/drawing/2014/main" id="{B7120E6E-19AE-66DF-D2AD-D4276A7029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6" t="2778" r="6405" b="5827"/>
          <a:stretch/>
        </p:blipFill>
        <p:spPr>
          <a:xfrm rot="21352766">
            <a:off x="7376093" y="1313798"/>
            <a:ext cx="3271139" cy="4828912"/>
          </a:xfrm>
          <a:prstGeom prst="rect">
            <a:avLst/>
          </a:prstGeom>
        </p:spPr>
      </p:pic>
      <p:pic>
        <p:nvPicPr>
          <p:cNvPr id="25" name="Kuva 15" descr="Kuva, joka sisältää kohteen vaate, jalkineet, henkilö, rakennus&#10;&#10;Kuvaus luotu automaattisesti">
            <a:extLst>
              <a:ext uri="{FF2B5EF4-FFF2-40B4-BE49-F238E27FC236}">
                <a16:creationId xmlns:a16="http://schemas.microsoft.com/office/drawing/2014/main" id="{A41941DB-2BA7-4139-7FEF-C227F66CB6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0" t="12588" r="14361" b="1771"/>
          <a:stretch/>
        </p:blipFill>
        <p:spPr>
          <a:xfrm rot="468713">
            <a:off x="6922707" y="1486886"/>
            <a:ext cx="3523959" cy="49265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B749C8-B11A-1725-59F7-831DF11F76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3751">
            <a:off x="344188" y="364401"/>
            <a:ext cx="2408679" cy="8862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47C4C0-E239-4C4E-1B28-B66A152D051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3948">
            <a:off x="2964959" y="584907"/>
            <a:ext cx="1565084" cy="720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4C785-DA4B-D6F3-4545-38AA8CFF474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84613">
            <a:off x="4727716" y="884173"/>
            <a:ext cx="754046" cy="542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D7FECE-AE26-23F2-E437-EFDF840E27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1462">
            <a:off x="430212" y="4252956"/>
            <a:ext cx="2040918" cy="22888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F060439-6657-7B02-2F9B-CAC6CFA3C307}"/>
              </a:ext>
            </a:extLst>
          </p:cNvPr>
          <p:cNvSpPr/>
          <p:nvPr/>
        </p:nvSpPr>
        <p:spPr>
          <a:xfrm>
            <a:off x="-5315023" y="428106"/>
            <a:ext cx="4788130" cy="714894"/>
          </a:xfrm>
          <a:custGeom>
            <a:avLst/>
            <a:gdLst>
              <a:gd name="csX0" fmla="*/ 0 w 4788130"/>
              <a:gd name="csY0" fmla="*/ 0 h 714894"/>
              <a:gd name="csX1" fmla="*/ 4788130 w 4788130"/>
              <a:gd name="csY1" fmla="*/ 0 h 714894"/>
              <a:gd name="csX2" fmla="*/ 4788130 w 4788130"/>
              <a:gd name="csY2" fmla="*/ 714894 h 714894"/>
              <a:gd name="csX3" fmla="*/ 0 w 4788130"/>
              <a:gd name="csY3" fmla="*/ 714894 h 714894"/>
              <a:gd name="csX4" fmla="*/ 0 w 4788130"/>
              <a:gd name="csY4" fmla="*/ 0 h 714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88130" h="714894" fill="none" extrusionOk="0">
                <a:moveTo>
                  <a:pt x="0" y="0"/>
                </a:moveTo>
                <a:cubicBezTo>
                  <a:pt x="1369688" y="57912"/>
                  <a:pt x="3958759" y="-77563"/>
                  <a:pt x="4788130" y="0"/>
                </a:cubicBezTo>
                <a:cubicBezTo>
                  <a:pt x="4809974" y="146882"/>
                  <a:pt x="4813385" y="588672"/>
                  <a:pt x="4788130" y="714894"/>
                </a:cubicBezTo>
                <a:cubicBezTo>
                  <a:pt x="3295388" y="848821"/>
                  <a:pt x="1850869" y="816071"/>
                  <a:pt x="0" y="714894"/>
                </a:cubicBezTo>
                <a:cubicBezTo>
                  <a:pt x="43383" y="550477"/>
                  <a:pt x="30628" y="321488"/>
                  <a:pt x="0" y="0"/>
                </a:cubicBezTo>
                <a:close/>
              </a:path>
              <a:path w="4788130" h="714894" stroke="0" extrusionOk="0">
                <a:moveTo>
                  <a:pt x="0" y="0"/>
                </a:moveTo>
                <a:cubicBezTo>
                  <a:pt x="480722" y="8342"/>
                  <a:pt x="3452854" y="6445"/>
                  <a:pt x="4788130" y="0"/>
                </a:cubicBezTo>
                <a:cubicBezTo>
                  <a:pt x="4748578" y="211633"/>
                  <a:pt x="4751086" y="362961"/>
                  <a:pt x="4788130" y="714894"/>
                </a:cubicBezTo>
                <a:cubicBezTo>
                  <a:pt x="2434521" y="718656"/>
                  <a:pt x="1582317" y="626828"/>
                  <a:pt x="0" y="714894"/>
                </a:cubicBezTo>
                <a:cubicBezTo>
                  <a:pt x="-35050" y="385940"/>
                  <a:pt x="-24139" y="172577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uka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minä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olen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F9368BE-5345-6D6D-43A7-DE7B6D8E5A28}"/>
              </a:ext>
            </a:extLst>
          </p:cNvPr>
          <p:cNvSpPr txBox="1">
            <a:spLocks/>
          </p:cNvSpPr>
          <p:nvPr/>
        </p:nvSpPr>
        <p:spPr>
          <a:xfrm>
            <a:off x="5587756" y="0"/>
            <a:ext cx="6604244" cy="170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FI" dirty="0">
                <a:latin typeface="Bungee" pitchFamily="2" charset="0"/>
                <a:ea typeface="Bungee" pitchFamily="2" charset="0"/>
              </a:rPr>
              <a:t>“</a:t>
            </a:r>
            <a:r>
              <a:rPr lang="en-FI" dirty="0" err="1">
                <a:latin typeface="Bungee" pitchFamily="2" charset="0"/>
                <a:ea typeface="Bungee" pitchFamily="2" charset="0"/>
              </a:rPr>
              <a:t>vaarattu</a:t>
            </a:r>
            <a:r>
              <a:rPr lang="en-FI" dirty="0">
                <a:latin typeface="Bungee" pitchFamily="2" charset="0"/>
                <a:ea typeface="Bungee" pitchFamily="2" charset="0"/>
              </a:rPr>
              <a:t>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6D120E-8312-192F-32B7-3B40F96782CC}"/>
              </a:ext>
            </a:extLst>
          </p:cNvPr>
          <p:cNvSpPr/>
          <p:nvPr/>
        </p:nvSpPr>
        <p:spPr>
          <a:xfrm>
            <a:off x="6253660" y="451643"/>
            <a:ext cx="5324388" cy="804044"/>
          </a:xfrm>
          <a:custGeom>
            <a:avLst/>
            <a:gdLst>
              <a:gd name="csX0" fmla="*/ 0 w 5324388"/>
              <a:gd name="csY0" fmla="*/ 0 h 804044"/>
              <a:gd name="csX1" fmla="*/ 5324388 w 5324388"/>
              <a:gd name="csY1" fmla="*/ 0 h 804044"/>
              <a:gd name="csX2" fmla="*/ 5324388 w 5324388"/>
              <a:gd name="csY2" fmla="*/ 804044 h 804044"/>
              <a:gd name="csX3" fmla="*/ 0 w 5324388"/>
              <a:gd name="csY3" fmla="*/ 804044 h 804044"/>
              <a:gd name="csX4" fmla="*/ 0 w 5324388"/>
              <a:gd name="csY4" fmla="*/ 0 h 804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4388" h="804044" fill="none" extrusionOk="0">
                <a:moveTo>
                  <a:pt x="0" y="0"/>
                </a:moveTo>
                <a:cubicBezTo>
                  <a:pt x="2349492" y="57912"/>
                  <a:pt x="4524832" y="-77563"/>
                  <a:pt x="5324388" y="0"/>
                </a:cubicBezTo>
                <a:cubicBezTo>
                  <a:pt x="5321633" y="210944"/>
                  <a:pt x="5318155" y="595015"/>
                  <a:pt x="5324388" y="804044"/>
                </a:cubicBezTo>
                <a:cubicBezTo>
                  <a:pt x="3728341" y="937971"/>
                  <a:pt x="1229150" y="905221"/>
                  <a:pt x="0" y="804044"/>
                </a:cubicBezTo>
                <a:cubicBezTo>
                  <a:pt x="-39265" y="603329"/>
                  <a:pt x="-44884" y="329410"/>
                  <a:pt x="0" y="0"/>
                </a:cubicBezTo>
                <a:close/>
              </a:path>
              <a:path w="5324388" h="804044" stroke="0" extrusionOk="0">
                <a:moveTo>
                  <a:pt x="0" y="0"/>
                </a:moveTo>
                <a:cubicBezTo>
                  <a:pt x="2566803" y="8342"/>
                  <a:pt x="3752177" y="6445"/>
                  <a:pt x="5324388" y="0"/>
                </a:cubicBezTo>
                <a:cubicBezTo>
                  <a:pt x="5301784" y="273755"/>
                  <a:pt x="5356384" y="637582"/>
                  <a:pt x="5324388" y="804044"/>
                </a:cubicBezTo>
                <a:cubicBezTo>
                  <a:pt x="3566951" y="807806"/>
                  <a:pt x="938260" y="715978"/>
                  <a:pt x="0" y="804044"/>
                </a:cubicBezTo>
                <a:cubicBezTo>
                  <a:pt x="35304" y="609762"/>
                  <a:pt x="34882" y="242251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J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uha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ala-rantala</a:t>
            </a:r>
            <a:endParaRPr lang="en-FI" sz="28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2A2603-8C6A-B2BD-3F4D-CC7AC74B14E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"/>
          <a:stretch>
            <a:fillRect/>
          </a:stretch>
        </p:blipFill>
        <p:spPr>
          <a:xfrm>
            <a:off x="-5592760" y="0"/>
            <a:ext cx="11398006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6C03273-7DA4-16D4-D16C-C8BA2D0871AF}"/>
              </a:ext>
            </a:extLst>
          </p:cNvPr>
          <p:cNvSpPr/>
          <p:nvPr/>
        </p:nvSpPr>
        <p:spPr>
          <a:xfrm>
            <a:off x="407325" y="428106"/>
            <a:ext cx="4788130" cy="714894"/>
          </a:xfrm>
          <a:custGeom>
            <a:avLst/>
            <a:gdLst>
              <a:gd name="csX0" fmla="*/ 0 w 4788130"/>
              <a:gd name="csY0" fmla="*/ 0 h 714894"/>
              <a:gd name="csX1" fmla="*/ 4788130 w 4788130"/>
              <a:gd name="csY1" fmla="*/ 0 h 714894"/>
              <a:gd name="csX2" fmla="*/ 4788130 w 4788130"/>
              <a:gd name="csY2" fmla="*/ 714894 h 714894"/>
              <a:gd name="csX3" fmla="*/ 0 w 4788130"/>
              <a:gd name="csY3" fmla="*/ 714894 h 714894"/>
              <a:gd name="csX4" fmla="*/ 0 w 4788130"/>
              <a:gd name="csY4" fmla="*/ 0 h 714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88130" h="714894" fill="none" extrusionOk="0">
                <a:moveTo>
                  <a:pt x="0" y="0"/>
                </a:moveTo>
                <a:cubicBezTo>
                  <a:pt x="1369688" y="57912"/>
                  <a:pt x="3958759" y="-77563"/>
                  <a:pt x="4788130" y="0"/>
                </a:cubicBezTo>
                <a:cubicBezTo>
                  <a:pt x="4809974" y="146882"/>
                  <a:pt x="4813385" y="588672"/>
                  <a:pt x="4788130" y="714894"/>
                </a:cubicBezTo>
                <a:cubicBezTo>
                  <a:pt x="3295388" y="848821"/>
                  <a:pt x="1850869" y="816071"/>
                  <a:pt x="0" y="714894"/>
                </a:cubicBezTo>
                <a:cubicBezTo>
                  <a:pt x="43383" y="550477"/>
                  <a:pt x="30628" y="321488"/>
                  <a:pt x="0" y="0"/>
                </a:cubicBezTo>
                <a:close/>
              </a:path>
              <a:path w="4788130" h="714894" stroke="0" extrusionOk="0">
                <a:moveTo>
                  <a:pt x="0" y="0"/>
                </a:moveTo>
                <a:cubicBezTo>
                  <a:pt x="480722" y="8342"/>
                  <a:pt x="3452854" y="6445"/>
                  <a:pt x="4788130" y="0"/>
                </a:cubicBezTo>
                <a:cubicBezTo>
                  <a:pt x="4748578" y="211633"/>
                  <a:pt x="4751086" y="362961"/>
                  <a:pt x="4788130" y="714894"/>
                </a:cubicBezTo>
                <a:cubicBezTo>
                  <a:pt x="2434521" y="718656"/>
                  <a:pt x="1582317" y="626828"/>
                  <a:pt x="0" y="714894"/>
                </a:cubicBezTo>
                <a:cubicBezTo>
                  <a:pt x="-35050" y="385940"/>
                  <a:pt x="-24139" y="172577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uka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minä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olen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9C7E7F-3F2A-4ED0-EBA1-E33E8753BF1A}"/>
              </a:ext>
            </a:extLst>
          </p:cNvPr>
          <p:cNvSpPr/>
          <p:nvPr/>
        </p:nvSpPr>
        <p:spPr>
          <a:xfrm>
            <a:off x="717916" y="1437537"/>
            <a:ext cx="4060304" cy="874225"/>
          </a:xfrm>
          <a:custGeom>
            <a:avLst/>
            <a:gdLst>
              <a:gd name="csX0" fmla="*/ 0 w 4060304"/>
              <a:gd name="csY0" fmla="*/ 0 h 874225"/>
              <a:gd name="csX1" fmla="*/ 4060304 w 4060304"/>
              <a:gd name="csY1" fmla="*/ 0 h 874225"/>
              <a:gd name="csX2" fmla="*/ 4060304 w 4060304"/>
              <a:gd name="csY2" fmla="*/ 874225 h 874225"/>
              <a:gd name="csX3" fmla="*/ 0 w 4060304"/>
              <a:gd name="csY3" fmla="*/ 874225 h 874225"/>
              <a:gd name="csX4" fmla="*/ 0 w 4060304"/>
              <a:gd name="csY4" fmla="*/ 0 h 874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0304" h="874225" fill="none" extrusionOk="0">
                <a:moveTo>
                  <a:pt x="0" y="0"/>
                </a:moveTo>
                <a:cubicBezTo>
                  <a:pt x="1608938" y="57912"/>
                  <a:pt x="3493088" y="-77563"/>
                  <a:pt x="4060304" y="0"/>
                </a:cubicBezTo>
                <a:cubicBezTo>
                  <a:pt x="4022374" y="250687"/>
                  <a:pt x="4127443" y="663534"/>
                  <a:pt x="4060304" y="874225"/>
                </a:cubicBezTo>
                <a:cubicBezTo>
                  <a:pt x="2445157" y="1008152"/>
                  <a:pt x="625351" y="975402"/>
                  <a:pt x="0" y="874225"/>
                </a:cubicBezTo>
                <a:cubicBezTo>
                  <a:pt x="-30175" y="456943"/>
                  <a:pt x="-12581" y="105973"/>
                  <a:pt x="0" y="0"/>
                </a:cubicBezTo>
                <a:close/>
              </a:path>
              <a:path w="4060304" h="874225" stroke="0" extrusionOk="0">
                <a:moveTo>
                  <a:pt x="0" y="0"/>
                </a:moveTo>
                <a:cubicBezTo>
                  <a:pt x="882628" y="8342"/>
                  <a:pt x="3626884" y="6445"/>
                  <a:pt x="4060304" y="0"/>
                </a:cubicBezTo>
                <a:cubicBezTo>
                  <a:pt x="4042120" y="176348"/>
                  <a:pt x="4048895" y="772962"/>
                  <a:pt x="4060304" y="874225"/>
                </a:cubicBezTo>
                <a:cubicBezTo>
                  <a:pt x="3146179" y="877987"/>
                  <a:pt x="1515192" y="786159"/>
                  <a:pt x="0" y="874225"/>
                </a:cubicBezTo>
                <a:cubicBezTo>
                  <a:pt x="51705" y="691909"/>
                  <a:pt x="-40101" y="213876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Teknologiajohtaja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  <a:p>
            <a:pPr algn="ctr"/>
            <a:r>
              <a:rPr lang="en-FI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Clevoy Oy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15FEA1-F364-0582-372E-2A8038FA1D04}"/>
              </a:ext>
            </a:extLst>
          </p:cNvPr>
          <p:cNvSpPr/>
          <p:nvPr/>
        </p:nvSpPr>
        <p:spPr>
          <a:xfrm>
            <a:off x="704079" y="2437059"/>
            <a:ext cx="4060304" cy="1257994"/>
          </a:xfrm>
          <a:custGeom>
            <a:avLst/>
            <a:gdLst>
              <a:gd name="csX0" fmla="*/ 0 w 4060304"/>
              <a:gd name="csY0" fmla="*/ 0 h 1257994"/>
              <a:gd name="csX1" fmla="*/ 4060304 w 4060304"/>
              <a:gd name="csY1" fmla="*/ 0 h 1257994"/>
              <a:gd name="csX2" fmla="*/ 4060304 w 4060304"/>
              <a:gd name="csY2" fmla="*/ 1257994 h 1257994"/>
              <a:gd name="csX3" fmla="*/ 0 w 4060304"/>
              <a:gd name="csY3" fmla="*/ 1257994 h 1257994"/>
              <a:gd name="csX4" fmla="*/ 0 w 4060304"/>
              <a:gd name="csY4" fmla="*/ 0 h 12579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0304" h="1257994" fill="none" extrusionOk="0">
                <a:moveTo>
                  <a:pt x="0" y="0"/>
                </a:moveTo>
                <a:cubicBezTo>
                  <a:pt x="1608938" y="57912"/>
                  <a:pt x="3493088" y="-77563"/>
                  <a:pt x="4060304" y="0"/>
                </a:cubicBezTo>
                <a:cubicBezTo>
                  <a:pt x="4127126" y="193589"/>
                  <a:pt x="4012506" y="1125658"/>
                  <a:pt x="4060304" y="1257994"/>
                </a:cubicBezTo>
                <a:cubicBezTo>
                  <a:pt x="2445157" y="1391921"/>
                  <a:pt x="625351" y="1359171"/>
                  <a:pt x="0" y="1257994"/>
                </a:cubicBezTo>
                <a:cubicBezTo>
                  <a:pt x="-24140" y="846546"/>
                  <a:pt x="-94171" y="126062"/>
                  <a:pt x="0" y="0"/>
                </a:cubicBezTo>
                <a:close/>
              </a:path>
              <a:path w="4060304" h="1257994" stroke="0" extrusionOk="0">
                <a:moveTo>
                  <a:pt x="0" y="0"/>
                </a:moveTo>
                <a:cubicBezTo>
                  <a:pt x="882628" y="8342"/>
                  <a:pt x="3626884" y="6445"/>
                  <a:pt x="4060304" y="0"/>
                </a:cubicBezTo>
                <a:cubicBezTo>
                  <a:pt x="4159435" y="278759"/>
                  <a:pt x="3974055" y="1051026"/>
                  <a:pt x="4060304" y="1257994"/>
                </a:cubicBezTo>
                <a:cubicBezTo>
                  <a:pt x="3146179" y="1261756"/>
                  <a:pt x="1515192" y="1169928"/>
                  <a:pt x="0" y="1257994"/>
                </a:cubicBezTo>
                <a:cubicBezTo>
                  <a:pt x="-73157" y="970337"/>
                  <a:pt x="-5592" y="189895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Diplomi-insinööri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  <a:p>
            <a:pPr algn="ctr"/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Tekoälytutkija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  <a:p>
            <a:pPr algn="ctr"/>
            <a:r>
              <a:rPr lang="en-FI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Tampereen</a:t>
            </a:r>
            <a:r>
              <a:rPr lang="en-FI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yliopisto</a:t>
            </a:r>
            <a:endParaRPr lang="en-FI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4D45CA-3C50-E046-9C61-39A75FF35483}"/>
              </a:ext>
            </a:extLst>
          </p:cNvPr>
          <p:cNvSpPr/>
          <p:nvPr/>
        </p:nvSpPr>
        <p:spPr>
          <a:xfrm>
            <a:off x="552222" y="3876160"/>
            <a:ext cx="4364012" cy="874224"/>
          </a:xfrm>
          <a:custGeom>
            <a:avLst/>
            <a:gdLst>
              <a:gd name="csX0" fmla="*/ 0 w 4364012"/>
              <a:gd name="csY0" fmla="*/ 0 h 874224"/>
              <a:gd name="csX1" fmla="*/ 4364012 w 4364012"/>
              <a:gd name="csY1" fmla="*/ 0 h 874224"/>
              <a:gd name="csX2" fmla="*/ 4364012 w 4364012"/>
              <a:gd name="csY2" fmla="*/ 874224 h 874224"/>
              <a:gd name="csX3" fmla="*/ 0 w 4364012"/>
              <a:gd name="csY3" fmla="*/ 874224 h 874224"/>
              <a:gd name="csX4" fmla="*/ 0 w 4364012"/>
              <a:gd name="csY4" fmla="*/ 0 h 8742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64012" h="874224" fill="none" extrusionOk="0">
                <a:moveTo>
                  <a:pt x="0" y="0"/>
                </a:moveTo>
                <a:cubicBezTo>
                  <a:pt x="1886133" y="57912"/>
                  <a:pt x="3118026" y="-77563"/>
                  <a:pt x="4364012" y="0"/>
                </a:cubicBezTo>
                <a:cubicBezTo>
                  <a:pt x="4325382" y="254801"/>
                  <a:pt x="4429372" y="666003"/>
                  <a:pt x="4364012" y="874224"/>
                </a:cubicBezTo>
                <a:cubicBezTo>
                  <a:pt x="2674585" y="1008151"/>
                  <a:pt x="442960" y="975401"/>
                  <a:pt x="0" y="874224"/>
                </a:cubicBezTo>
                <a:cubicBezTo>
                  <a:pt x="-26517" y="456358"/>
                  <a:pt x="-9940" y="102713"/>
                  <a:pt x="0" y="0"/>
                </a:cubicBezTo>
                <a:close/>
              </a:path>
              <a:path w="4364012" h="874224" stroke="0" extrusionOk="0">
                <a:moveTo>
                  <a:pt x="0" y="0"/>
                </a:moveTo>
                <a:cubicBezTo>
                  <a:pt x="1196414" y="8342"/>
                  <a:pt x="2481542" y="6445"/>
                  <a:pt x="4364012" y="0"/>
                </a:cubicBezTo>
                <a:cubicBezTo>
                  <a:pt x="4345168" y="178439"/>
                  <a:pt x="4348955" y="773959"/>
                  <a:pt x="4364012" y="874224"/>
                </a:cubicBezTo>
                <a:cubicBezTo>
                  <a:pt x="3124658" y="877986"/>
                  <a:pt x="829970" y="786158"/>
                  <a:pt x="0" y="874224"/>
                </a:cubicBezTo>
                <a:cubicBezTo>
                  <a:pt x="55050" y="690670"/>
                  <a:pt x="-35338" y="210883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Ohjelmistokehittäjä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  <a:p>
            <a:pPr algn="ctr"/>
            <a:r>
              <a:rPr lang="en-FI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Prima power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B97E6E-9559-F555-47B9-B4EC661F3FDF}"/>
              </a:ext>
            </a:extLst>
          </p:cNvPr>
          <p:cNvSpPr/>
          <p:nvPr/>
        </p:nvSpPr>
        <p:spPr>
          <a:xfrm>
            <a:off x="353401" y="4900208"/>
            <a:ext cx="4761655" cy="874224"/>
          </a:xfrm>
          <a:custGeom>
            <a:avLst/>
            <a:gdLst>
              <a:gd name="csX0" fmla="*/ 0 w 4761655"/>
              <a:gd name="csY0" fmla="*/ 0 h 874224"/>
              <a:gd name="csX1" fmla="*/ 4761655 w 4761655"/>
              <a:gd name="csY1" fmla="*/ 0 h 874224"/>
              <a:gd name="csX2" fmla="*/ 4761655 w 4761655"/>
              <a:gd name="csY2" fmla="*/ 874224 h 874224"/>
              <a:gd name="csX3" fmla="*/ 0 w 4761655"/>
              <a:gd name="csY3" fmla="*/ 874224 h 874224"/>
              <a:gd name="csX4" fmla="*/ 0 w 4761655"/>
              <a:gd name="csY4" fmla="*/ 0 h 8742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61655" h="874224" fill="none" extrusionOk="0">
                <a:moveTo>
                  <a:pt x="0" y="0"/>
                </a:moveTo>
                <a:cubicBezTo>
                  <a:pt x="1855887" y="57912"/>
                  <a:pt x="2455575" y="-77563"/>
                  <a:pt x="4761655" y="0"/>
                </a:cubicBezTo>
                <a:cubicBezTo>
                  <a:pt x="4723025" y="254801"/>
                  <a:pt x="4827015" y="666003"/>
                  <a:pt x="4761655" y="874224"/>
                </a:cubicBezTo>
                <a:cubicBezTo>
                  <a:pt x="4280516" y="1008151"/>
                  <a:pt x="1052435" y="975401"/>
                  <a:pt x="0" y="874224"/>
                </a:cubicBezTo>
                <a:cubicBezTo>
                  <a:pt x="-26517" y="456358"/>
                  <a:pt x="-9940" y="102713"/>
                  <a:pt x="0" y="0"/>
                </a:cubicBezTo>
                <a:close/>
              </a:path>
              <a:path w="4761655" h="874224" stroke="0" extrusionOk="0">
                <a:moveTo>
                  <a:pt x="0" y="0"/>
                </a:moveTo>
                <a:cubicBezTo>
                  <a:pt x="2348232" y="8342"/>
                  <a:pt x="2795164" y="6445"/>
                  <a:pt x="4761655" y="0"/>
                </a:cubicBezTo>
                <a:cubicBezTo>
                  <a:pt x="4742811" y="178439"/>
                  <a:pt x="4746598" y="773959"/>
                  <a:pt x="4761655" y="874224"/>
                </a:cubicBezTo>
                <a:cubicBezTo>
                  <a:pt x="2616177" y="877986"/>
                  <a:pt x="1839640" y="786158"/>
                  <a:pt x="0" y="874224"/>
                </a:cubicBezTo>
                <a:cubicBezTo>
                  <a:pt x="55050" y="690670"/>
                  <a:pt x="-35338" y="210883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Insinööri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  <a:p>
            <a:pPr algn="ctr"/>
            <a:r>
              <a:rPr lang="en-FI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Seinäjoen</a:t>
            </a:r>
            <a:r>
              <a:rPr lang="en-FI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ammattikorkeakoulu</a:t>
            </a:r>
            <a:endParaRPr lang="en-FI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E67AB8-872B-F920-E331-0003F90C0ABF}"/>
              </a:ext>
            </a:extLst>
          </p:cNvPr>
          <p:cNvSpPr/>
          <p:nvPr/>
        </p:nvSpPr>
        <p:spPr>
          <a:xfrm>
            <a:off x="1101456" y="5934472"/>
            <a:ext cx="3293223" cy="616002"/>
          </a:xfrm>
          <a:custGeom>
            <a:avLst/>
            <a:gdLst>
              <a:gd name="csX0" fmla="*/ 0 w 3293223"/>
              <a:gd name="csY0" fmla="*/ 0 h 616002"/>
              <a:gd name="csX1" fmla="*/ 3293223 w 3293223"/>
              <a:gd name="csY1" fmla="*/ 0 h 616002"/>
              <a:gd name="csX2" fmla="*/ 3293223 w 3293223"/>
              <a:gd name="csY2" fmla="*/ 616002 h 616002"/>
              <a:gd name="csX3" fmla="*/ 0 w 3293223"/>
              <a:gd name="csY3" fmla="*/ 616002 h 616002"/>
              <a:gd name="csX4" fmla="*/ 0 w 3293223"/>
              <a:gd name="csY4" fmla="*/ 0 h 616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293223" h="616002" fill="none" extrusionOk="0">
                <a:moveTo>
                  <a:pt x="0" y="0"/>
                </a:moveTo>
                <a:cubicBezTo>
                  <a:pt x="1341361" y="57912"/>
                  <a:pt x="1781310" y="-77563"/>
                  <a:pt x="3293223" y="0"/>
                </a:cubicBezTo>
                <a:cubicBezTo>
                  <a:pt x="3288096" y="276303"/>
                  <a:pt x="3333309" y="554084"/>
                  <a:pt x="3293223" y="616002"/>
                </a:cubicBezTo>
                <a:cubicBezTo>
                  <a:pt x="1998803" y="749929"/>
                  <a:pt x="709237" y="717179"/>
                  <a:pt x="0" y="616002"/>
                </a:cubicBezTo>
                <a:cubicBezTo>
                  <a:pt x="19164" y="323501"/>
                  <a:pt x="-11341" y="85008"/>
                  <a:pt x="0" y="0"/>
                </a:cubicBezTo>
                <a:close/>
              </a:path>
              <a:path w="3293223" h="616002" stroke="0" extrusionOk="0">
                <a:moveTo>
                  <a:pt x="0" y="0"/>
                </a:moveTo>
                <a:cubicBezTo>
                  <a:pt x="631250" y="8342"/>
                  <a:pt x="2729303" y="6445"/>
                  <a:pt x="3293223" y="0"/>
                </a:cubicBezTo>
                <a:cubicBezTo>
                  <a:pt x="3278719" y="280119"/>
                  <a:pt x="3249275" y="510832"/>
                  <a:pt x="3293223" y="616002"/>
                </a:cubicBezTo>
                <a:cubicBezTo>
                  <a:pt x="2068257" y="619764"/>
                  <a:pt x="1065430" y="527936"/>
                  <a:pt x="0" y="616002"/>
                </a:cubicBezTo>
                <a:cubicBezTo>
                  <a:pt x="-35578" y="465858"/>
                  <a:pt x="27091" y="300882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oon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härmästä</a:t>
            </a:r>
            <a:endParaRPr lang="en-FI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1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7AD43-FC75-3669-2C60-9E95337A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uva 7" descr="Kuva, joka sisältää kohteen Ihmisen kasvot, seinä, vaate, henkilö&#10;&#10;Kuvaus luotu automaattisesti">
            <a:extLst>
              <a:ext uri="{FF2B5EF4-FFF2-40B4-BE49-F238E27FC236}">
                <a16:creationId xmlns:a16="http://schemas.microsoft.com/office/drawing/2014/main" id="{0DC648AA-3C38-77EF-8F49-3A1D1AF80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4" t="22222" r="3120"/>
          <a:stretch/>
        </p:blipFill>
        <p:spPr>
          <a:xfrm rot="464912" flipH="1">
            <a:off x="13145458" y="1518445"/>
            <a:ext cx="3290396" cy="5041216"/>
          </a:xfrm>
          <a:prstGeom prst="rect">
            <a:avLst/>
          </a:prstGeom>
        </p:spPr>
      </p:pic>
      <p:pic>
        <p:nvPicPr>
          <p:cNvPr id="9" name="Kuva 9" descr="Kuva, joka sisältää kohteen vaate, jalkineet, teksti, henkilö&#10;&#10;Kuvaus luotu automaattisesti">
            <a:extLst>
              <a:ext uri="{FF2B5EF4-FFF2-40B4-BE49-F238E27FC236}">
                <a16:creationId xmlns:a16="http://schemas.microsoft.com/office/drawing/2014/main" id="{5C76A841-B4A4-4061-D477-191CD437E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9" t="24991" r="16735" b="1877"/>
          <a:stretch/>
        </p:blipFill>
        <p:spPr>
          <a:xfrm rot="21214422">
            <a:off x="13602093" y="1446890"/>
            <a:ext cx="3378105" cy="4960993"/>
          </a:xfrm>
          <a:prstGeom prst="rect">
            <a:avLst/>
          </a:prstGeom>
        </p:spPr>
      </p:pic>
      <p:pic>
        <p:nvPicPr>
          <p:cNvPr id="10" name="Kuva 11" descr="Kuva, joka sisältää kohteen vaate, henkilö, hymy, Ihmisen kasvot&#10;&#10;Kuvaus luotu automaattisesti">
            <a:extLst>
              <a:ext uri="{FF2B5EF4-FFF2-40B4-BE49-F238E27FC236}">
                <a16:creationId xmlns:a16="http://schemas.microsoft.com/office/drawing/2014/main" id="{A9AD8EF0-6B91-B869-DC56-B73FA554A6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6" r="2772" b="1616"/>
          <a:stretch/>
        </p:blipFill>
        <p:spPr>
          <a:xfrm rot="158456">
            <a:off x="13251189" y="1616846"/>
            <a:ext cx="3247201" cy="4977819"/>
          </a:xfrm>
          <a:prstGeom prst="rect">
            <a:avLst/>
          </a:prstGeom>
        </p:spPr>
      </p:pic>
      <p:pic>
        <p:nvPicPr>
          <p:cNvPr id="11" name="Kuva 13" descr="Kuva, joka sisältää kohteen vaate, henkilö, Blazer, Juhla-asu&#10;&#10;Kuvaus luotu automaattisesti">
            <a:extLst>
              <a:ext uri="{FF2B5EF4-FFF2-40B4-BE49-F238E27FC236}">
                <a16:creationId xmlns:a16="http://schemas.microsoft.com/office/drawing/2014/main" id="{ED4F3FCA-1127-E860-580E-C320729DF4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6" t="2778" r="6405" b="5827"/>
          <a:stretch/>
        </p:blipFill>
        <p:spPr>
          <a:xfrm rot="21352766">
            <a:off x="13560993" y="1313798"/>
            <a:ext cx="3271139" cy="4828912"/>
          </a:xfrm>
          <a:prstGeom prst="rect">
            <a:avLst/>
          </a:prstGeom>
        </p:spPr>
      </p:pic>
      <p:pic>
        <p:nvPicPr>
          <p:cNvPr id="12" name="Kuva 15" descr="Kuva, joka sisältää kohteen vaate, jalkineet, henkilö, rakennus&#10;&#10;Kuvaus luotu automaattisesti">
            <a:extLst>
              <a:ext uri="{FF2B5EF4-FFF2-40B4-BE49-F238E27FC236}">
                <a16:creationId xmlns:a16="http://schemas.microsoft.com/office/drawing/2014/main" id="{4C068760-58F9-2067-2DBA-F72AED3825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0" t="12588" r="14361" b="1771"/>
          <a:stretch/>
        </p:blipFill>
        <p:spPr>
          <a:xfrm rot="468713">
            <a:off x="13107607" y="1486886"/>
            <a:ext cx="3523959" cy="4926585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36D037A6-959D-0163-6BA9-B55F998C0289}"/>
              </a:ext>
            </a:extLst>
          </p:cNvPr>
          <p:cNvSpPr/>
          <p:nvPr/>
        </p:nvSpPr>
        <p:spPr>
          <a:xfrm>
            <a:off x="3892552" y="1240788"/>
            <a:ext cx="8299448" cy="1950720"/>
          </a:xfrm>
          <a:prstGeom prst="rect">
            <a:avLst/>
          </a:prstGeom>
          <a:noFill/>
          <a:ln w="6350">
            <a:noFill/>
          </a:ln>
        </p:spPr>
        <p:txBody>
          <a:bodyPr wrap="square" rtlCol="0" anchor="ctr"/>
          <a:lstStyle/>
          <a:p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Sa</a:t>
            </a:r>
            <a:r>
              <a:rPr lang="en-FI" sz="6000" b="1" dirty="0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a</a:t>
            </a:r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 </a:t>
            </a:r>
            <a:r>
              <a:rPr lang="en-US" sz="6000" b="1" dirty="0" err="1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kysyä</a:t>
            </a:r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0056FE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!</a:t>
            </a:r>
            <a:endParaRPr lang="en-US" sz="6000" dirty="0">
              <a:ln w="28575">
                <a:solidFill>
                  <a:schemeClr val="tx1"/>
                </a:solidFill>
              </a:ln>
              <a:solidFill>
                <a:srgbClr val="0056FE"/>
              </a:solidFill>
              <a:latin typeface="Bungee" pitchFamily="2" charset="0"/>
              <a:ea typeface="Bungee" pitchFamily="2" charset="0"/>
            </a:endParaRPr>
          </a:p>
          <a:p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78B727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Saa </a:t>
            </a:r>
            <a:r>
              <a:rPr lang="en-US" sz="6000" b="1" dirty="0" err="1">
                <a:ln w="28575">
                  <a:solidFill>
                    <a:schemeClr val="tx1"/>
                  </a:solidFill>
                </a:ln>
                <a:solidFill>
                  <a:srgbClr val="78B727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keskeyttää</a:t>
            </a:r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rgbClr val="78B727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!</a:t>
            </a:r>
            <a:endParaRPr lang="en-US" sz="6000" dirty="0">
              <a:ln w="28575">
                <a:solidFill>
                  <a:schemeClr val="tx1"/>
                </a:solidFill>
              </a:ln>
              <a:solidFill>
                <a:srgbClr val="78B727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4D5B96-E82F-84D0-3F6C-862770CCD06F}"/>
              </a:ext>
            </a:extLst>
          </p:cNvPr>
          <p:cNvSpPr/>
          <p:nvPr/>
        </p:nvSpPr>
        <p:spPr>
          <a:xfrm>
            <a:off x="442277" y="4335568"/>
            <a:ext cx="11307445" cy="1475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Vaikka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esitysosuus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on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pitkälti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monologia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,</a:t>
            </a:r>
          </a:p>
          <a:p>
            <a:pPr algn="ctr"/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niin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aina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mahtavaa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jos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syntyy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 </a:t>
            </a:r>
            <a:r>
              <a:rPr lang="en-FI" sz="3200" dirty="0" err="1">
                <a:latin typeface="Bungee" pitchFamily="2" charset="0"/>
                <a:ea typeface="Bungee" pitchFamily="2" charset="0"/>
                <a:cs typeface="Calibri" pitchFamily="34" charset="-120"/>
              </a:rPr>
              <a:t>keskustelua</a:t>
            </a:r>
            <a:r>
              <a:rPr lang="en-FI" sz="3200" dirty="0">
                <a:latin typeface="Bungee" pitchFamily="2" charset="0"/>
                <a:ea typeface="Bungee" pitchFamily="2" charset="0"/>
                <a:cs typeface="Calibri" pitchFamily="34" charset="-120"/>
              </a:rPr>
              <a:t>!</a:t>
            </a:r>
            <a:endParaRPr lang="en-US" sz="3200" dirty="0">
              <a:latin typeface="Bungee" pitchFamily="2" charset="0"/>
              <a:ea typeface="Bungee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8BD90-D382-C66D-3AFA-F005980CAE6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1071" y="96729"/>
            <a:ext cx="4238839" cy="4238839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CEBC14DF-BEA7-A26E-3B9C-36483926B3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"/>
          <a:stretch>
            <a:fillRect/>
          </a:stretch>
        </p:blipFill>
        <p:spPr>
          <a:xfrm>
            <a:off x="12192000" y="0"/>
            <a:ext cx="11398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51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FB9CB-56CA-2696-09B0-5751946A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B9CBBC9-6B52-6063-AB65-E6A7A4793D72}"/>
              </a:ext>
            </a:extLst>
          </p:cNvPr>
          <p:cNvSpPr/>
          <p:nvPr/>
        </p:nvSpPr>
        <p:spPr>
          <a:xfrm>
            <a:off x="609600" y="3070211"/>
            <a:ext cx="10972800" cy="3269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133" b="1" dirty="0">
                <a:ln w="3810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0133" dirty="0">
              <a:ln w="38100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61D0D4E-1FA7-4B67-66B4-A7848048E600}"/>
              </a:ext>
            </a:extLst>
          </p:cNvPr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4000" dirty="0">
                <a:ln w="12700">
                  <a:noFill/>
                </a:ln>
                <a:latin typeface="Bungee" pitchFamily="2" charset="0"/>
                <a:ea typeface="Bungee" pitchFamily="2" charset="0"/>
                <a:cs typeface="Calibri" pitchFamily="34" charset="-120"/>
              </a:rPr>
              <a:t>Mitä teille tulee mieleen sanasta</a:t>
            </a:r>
            <a:endParaRPr lang="en-US" sz="4000" dirty="0">
              <a:ln w="12700">
                <a:noFill/>
              </a:ln>
              <a:latin typeface="Bungee" pitchFamily="2" charset="0"/>
              <a:ea typeface="Bungee" pitchFamily="2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37617BC-B930-C48B-857B-9EAD21393BA6}"/>
              </a:ext>
            </a:extLst>
          </p:cNvPr>
          <p:cNvSpPr/>
          <p:nvPr/>
        </p:nvSpPr>
        <p:spPr>
          <a:xfrm>
            <a:off x="609600" y="20726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74A99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TEKOÄLY</a:t>
            </a:r>
            <a:endParaRPr lang="en-US" sz="9600" dirty="0">
              <a:ln w="38100">
                <a:solidFill>
                  <a:sysClr val="windowText" lastClr="000000"/>
                </a:solidFill>
              </a:ln>
              <a:solidFill>
                <a:srgbClr val="74A9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63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6D66-85F3-F6B1-4E57-CC25745D3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wnload Chatgpt, Chatgpt Logo, Chatgpt Icon. Royalty-Free Vector Graphic -  Pixabay">
            <a:extLst>
              <a:ext uri="{FF2B5EF4-FFF2-40B4-BE49-F238E27FC236}">
                <a16:creationId xmlns:a16="http://schemas.microsoft.com/office/drawing/2014/main" id="{7541902B-34AA-39E8-CE63-6F6C83508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82" y="750622"/>
            <a:ext cx="5353037" cy="535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80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EA184-795A-E316-640F-FBD1ED7B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6F9013-0D29-65F5-9840-4DEED6A36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870" y="0"/>
            <a:ext cx="72142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95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06A44-D3C6-60E9-EAB2-270B8953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table with chess pieces&#10;&#10;Description automatically generated">
            <a:extLst>
              <a:ext uri="{FF2B5EF4-FFF2-40B4-BE49-F238E27FC236}">
                <a16:creationId xmlns:a16="http://schemas.microsoft.com/office/drawing/2014/main" id="{B0D42496-4920-A585-D1D1-EDEE553BC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0325"/>
            <a:ext cx="12212638" cy="697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2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BA99B-B7D5-C4B9-6034-B4E20216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wnload Chatgpt, Chatgpt Logo, Chatgpt Icon. Royalty-Free Vector Graphic -  Pixabay">
            <a:extLst>
              <a:ext uri="{FF2B5EF4-FFF2-40B4-BE49-F238E27FC236}">
                <a16:creationId xmlns:a16="http://schemas.microsoft.com/office/drawing/2014/main" id="{5679F065-8324-9825-E21E-09CD806E2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82" y="750622"/>
            <a:ext cx="5353037" cy="535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738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EC6C17-FA1B-4399-8EA2-518877AED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86" y="1042656"/>
            <a:ext cx="6125431" cy="47726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DFE27A-0B25-4F8B-92DF-4BC8C08DC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81" y="836713"/>
            <a:ext cx="6125431" cy="477269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E80E943-3855-4400-80D0-768CF6F3873B}"/>
              </a:ext>
            </a:extLst>
          </p:cNvPr>
          <p:cNvGrpSpPr/>
          <p:nvPr/>
        </p:nvGrpSpPr>
        <p:grpSpPr>
          <a:xfrm>
            <a:off x="1379984" y="7245424"/>
            <a:ext cx="288032" cy="182439"/>
            <a:chOff x="107504" y="7029400"/>
            <a:chExt cx="288032" cy="18243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E0A91FD-C188-4D94-AB7E-6FFCFA7B3017}"/>
                </a:ext>
              </a:extLst>
            </p:cNvPr>
            <p:cNvSpPr/>
            <p:nvPr/>
          </p:nvSpPr>
          <p:spPr>
            <a:xfrm>
              <a:off x="107504" y="7077903"/>
              <a:ext cx="288032" cy="1339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F16BD3F-8263-4315-82FA-A1F25C43AC71}"/>
                </a:ext>
              </a:extLst>
            </p:cNvPr>
            <p:cNvSpPr/>
            <p:nvPr/>
          </p:nvSpPr>
          <p:spPr>
            <a:xfrm>
              <a:off x="107504" y="7029400"/>
              <a:ext cx="288032" cy="13393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968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416 0.05185 L 0.29167 0.22407 L -0.21106 -0.06852 L -0.06106 0.01666 L -0.075 0.01111 L -0.24166 -0.08889 L 0.17917 0.15926 L 0.02227 0.06296 L 0.17774 0.15185 L -0.05976 0.01481 L -0.00416 0.05185 Z " pathEditMode="relative" rAng="0" ptsTypes="AAAAAAAAAAA">
                                          <p:cBhvr>
                                            <p:cTn id="6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917" y="157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8" presetID="42" presetClass="path" presetSubtype="0" accel="50000" fill="hold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388 0.06643 L 0.44961 -0.45 " pathEditMode="relative" rAng="0" ptsTypes="AA" p14:bounceEnd="45000">
                                          <p:cBhvr>
                                            <p:cTn id="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4414" y="-2583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416 0.05185 L 0.29167 0.22407 L -0.21106 -0.06852 L -0.06106 0.01666 L -0.075 0.01111 L -0.24166 -0.08889 L 0.17917 0.15926 L 0.02227 0.06296 L 0.17774 0.15185 L -0.05976 0.01481 L -0.00416 0.05185 Z " pathEditMode="relative" rAng="0" ptsTypes="AAAAAAAAAAA">
                                          <p:cBhvr>
                                            <p:cTn id="6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917" y="157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8" presetID="42" presetClass="path" presetSubtype="0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388 0.06643 L 0.44961 -0.45 " pathEditMode="relative" rAng="0" ptsTypes="AA">
                                          <p:cBhvr>
                                            <p:cTn id="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4414" y="-2583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A06C6-A24E-456A-BDED-9D5260B8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4C2F8046-A4FB-34BC-039D-B6A549E6CBCA}"/>
              </a:ext>
            </a:extLst>
          </p:cNvPr>
          <p:cNvSpPr txBox="1">
            <a:spLocks/>
          </p:cNvSpPr>
          <p:nvPr/>
        </p:nvSpPr>
        <p:spPr>
          <a:xfrm>
            <a:off x="342360" y="-216411"/>
            <a:ext cx="11507279" cy="1896969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FI" sz="4800" dirty="0" err="1">
                <a:ln w="19050">
                  <a:solidFill>
                    <a:sysClr val="windowText" lastClr="000000"/>
                  </a:solidFill>
                </a:ln>
                <a:solidFill>
                  <a:srgbClr val="0070CD"/>
                </a:solidFill>
                <a:latin typeface="Bungee" pitchFamily="2" charset="0"/>
                <a:ea typeface="Bungee" pitchFamily="2" charset="0"/>
              </a:rPr>
              <a:t>Tekoäly</a:t>
            </a:r>
            <a:r>
              <a:rPr lang="en-FI" sz="4800" dirty="0">
                <a:ln w="19050">
                  <a:solidFill>
                    <a:sysClr val="windowText" lastClr="000000"/>
                  </a:solidFill>
                </a:ln>
                <a:solidFill>
                  <a:srgbClr val="0070CD"/>
                </a:solidFill>
                <a:latin typeface="Bungee" pitchFamily="2" charset="0"/>
                <a:ea typeface="Bungee" pitchFamily="2" charset="0"/>
              </a:rPr>
              <a:t> on jo </a:t>
            </a:r>
            <a:r>
              <a:rPr lang="en-FI" sz="4800" dirty="0" err="1">
                <a:ln w="19050">
                  <a:solidFill>
                    <a:sysClr val="windowText" lastClr="000000"/>
                  </a:solidFill>
                </a:ln>
                <a:solidFill>
                  <a:srgbClr val="0070CD"/>
                </a:solidFill>
                <a:latin typeface="Bungee" pitchFamily="2" charset="0"/>
                <a:ea typeface="Bungee" pitchFamily="2" charset="0"/>
              </a:rPr>
              <a:t>kaikkialla</a:t>
            </a:r>
            <a:r>
              <a:rPr lang="en-FI" sz="4800" dirty="0">
                <a:ln w="19050">
                  <a:solidFill>
                    <a:sysClr val="windowText" lastClr="000000"/>
                  </a:solidFill>
                </a:ln>
                <a:solidFill>
                  <a:srgbClr val="0070CD"/>
                </a:solidFill>
                <a:latin typeface="Bungee" pitchFamily="2" charset="0"/>
                <a:ea typeface="Bungee" pitchFamily="2" charset="0"/>
              </a:rPr>
              <a:t>!</a:t>
            </a:r>
            <a:endParaRPr lang="fi-FI" sz="5400" dirty="0">
              <a:ln w="19050">
                <a:solidFill>
                  <a:sysClr val="windowText" lastClr="000000"/>
                </a:solidFill>
              </a:ln>
              <a:solidFill>
                <a:srgbClr val="0070CD"/>
              </a:solidFill>
              <a:latin typeface="Bungee" pitchFamily="2" charset="0"/>
              <a:ea typeface="Bungee" pitchFamily="2" charset="0"/>
            </a:endParaRPr>
          </a:p>
        </p:txBody>
      </p:sp>
      <p:pic>
        <p:nvPicPr>
          <p:cNvPr id="6" name="Picture 2" descr="TikTok tactics: The social media the world can't stop watching | Emakina.FR">
            <a:extLst>
              <a:ext uri="{FF2B5EF4-FFF2-40B4-BE49-F238E27FC236}">
                <a16:creationId xmlns:a16="http://schemas.microsoft.com/office/drawing/2014/main" id="{8E79AE2F-AE3D-BBB2-64B9-09BF5E88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38" y="2099084"/>
            <a:ext cx="1842767" cy="365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20 Years of YouTube Website Design History - 39 Images - Version Museum">
            <a:extLst>
              <a:ext uri="{FF2B5EF4-FFF2-40B4-BE49-F238E27FC236}">
                <a16:creationId xmlns:a16="http://schemas.microsoft.com/office/drawing/2014/main" id="{218C6DF5-7340-A638-4B66-FE9E2C017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514" y="1844583"/>
            <a:ext cx="3695487" cy="249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stagram Explore Page Mess Up Sparks Major Reactions">
            <a:extLst>
              <a:ext uri="{FF2B5EF4-FFF2-40B4-BE49-F238E27FC236}">
                <a16:creationId xmlns:a16="http://schemas.microsoft.com/office/drawing/2014/main" id="{3D2E4FF5-C908-1AE4-FBD4-076A1E35F2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8" t="5570" r="25753" b="3081"/>
          <a:stretch/>
        </p:blipFill>
        <p:spPr bwMode="auto">
          <a:xfrm>
            <a:off x="3325715" y="3413502"/>
            <a:ext cx="1537984" cy="319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7E555C03-F430-528B-AFF8-0298D3BBF2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0" t="10395" r="62615" b="9380"/>
          <a:stretch/>
        </p:blipFill>
        <p:spPr>
          <a:xfrm>
            <a:off x="5177315" y="2628956"/>
            <a:ext cx="1298580" cy="2843939"/>
          </a:xfrm>
          <a:prstGeom prst="rect">
            <a:avLst/>
          </a:prstGeom>
        </p:spPr>
      </p:pic>
      <p:pic>
        <p:nvPicPr>
          <p:cNvPr id="12" name="Picture 8" descr="iphone siri by GIF tutors - Find &amp; Share on GIPHY">
            <a:extLst>
              <a:ext uri="{FF2B5EF4-FFF2-40B4-BE49-F238E27FC236}">
                <a16:creationId xmlns:a16="http://schemas.microsoft.com/office/drawing/2014/main" id="{E4F23E4E-573E-F111-DA4C-620C77657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560" y="1840368"/>
            <a:ext cx="1669821" cy="297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Näin käytät ChatGPT:tä puhelimella | kotimikro.fi">
            <a:extLst>
              <a:ext uri="{FF2B5EF4-FFF2-40B4-BE49-F238E27FC236}">
                <a16:creationId xmlns:a16="http://schemas.microsoft.com/office/drawing/2014/main" id="{224EC179-93CB-5085-E689-F62B5D3BCD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7" t="5546" r="35592" b="21356"/>
          <a:stretch/>
        </p:blipFill>
        <p:spPr bwMode="auto">
          <a:xfrm>
            <a:off x="9012940" y="1328831"/>
            <a:ext cx="2425485" cy="50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09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F68F5-2F63-9467-AF86-4CEA2C3A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4168E7-E5AD-421F-FDC1-62996DCA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3239" y="0"/>
            <a:ext cx="609276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F78686-7C4C-4582-651E-36642EF99C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1" r="-28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6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EF02-0663-5494-E335-5E1A977F4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3707AD8-EA9C-CC08-B79C-3F70CC4AFEFC}"/>
              </a:ext>
            </a:extLst>
          </p:cNvPr>
          <p:cNvSpPr/>
          <p:nvPr/>
        </p:nvSpPr>
        <p:spPr>
          <a:xfrm>
            <a:off x="3115580" y="2079432"/>
            <a:ext cx="5856022" cy="3529410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07F043-8EE0-D8C6-21CE-36EEB76A711C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Miksi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juuri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nyt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EA83F-A9D5-F978-4828-A004B9FC2274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pyhä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kolminaisuus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045BF-CDA6-16EC-2884-5966DF007EFA}"/>
              </a:ext>
            </a:extLst>
          </p:cNvPr>
          <p:cNvSpPr/>
          <p:nvPr/>
        </p:nvSpPr>
        <p:spPr>
          <a:xfrm>
            <a:off x="4730606" y="1295898"/>
            <a:ext cx="2730787" cy="15670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  <a:cs typeface="Segoe UI" panose="020B0502040204020203" pitchFamily="34" charset="0"/>
              </a:rPr>
              <a:t>Data</a:t>
            </a:r>
          </a:p>
          <a:p>
            <a:pPr algn="ctr"/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Valtavasti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digitaalista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tekstiä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kuvia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videoita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ääniä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koodia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mistä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oppia</a:t>
            </a:r>
            <a:endParaRPr lang="en-FI" sz="2800" dirty="0">
              <a:solidFill>
                <a:schemeClr val="tx1"/>
              </a:solidFill>
              <a:latin typeface="Arial" panose="020B0604020202020204" pitchFamily="34" charset="0"/>
              <a:ea typeface="Bungee" pitchFamily="2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A61D1-640D-5620-04EF-63E3D74A1A2F}"/>
              </a:ext>
            </a:extLst>
          </p:cNvPr>
          <p:cNvSpPr/>
          <p:nvPr/>
        </p:nvSpPr>
        <p:spPr>
          <a:xfrm>
            <a:off x="430305" y="4684093"/>
            <a:ext cx="4079631" cy="15670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  <a:cs typeface="Segoe UI" panose="020B0502040204020203" pitchFamily="34" charset="0"/>
              </a:rPr>
              <a:t>Laskentateho</a:t>
            </a:r>
            <a:endParaRPr lang="en-FI" sz="2800" dirty="0">
              <a:solidFill>
                <a:schemeClr val="tx1"/>
              </a:solidFill>
              <a:latin typeface="Arial Black" panose="020B0A04020102020204" pitchFamily="34" charset="0"/>
              <a:ea typeface="Bungee" pitchFamily="2" charset="0"/>
              <a:cs typeface="Segoe UI" panose="020B0502040204020203" pitchFamily="34" charset="0"/>
            </a:endParaRPr>
          </a:p>
          <a:p>
            <a:pPr algn="ctr"/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Tarpeeksi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potkua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kouluttaa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isoja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malleja</a:t>
            </a:r>
            <a:endParaRPr lang="en-FI" sz="2800" dirty="0">
              <a:solidFill>
                <a:schemeClr val="tx1"/>
              </a:solidFill>
              <a:latin typeface="Arial" panose="020B0604020202020204" pitchFamily="34" charset="0"/>
              <a:ea typeface="Bungee" pitchFamily="2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0FDCDF-F068-3A5C-2B41-9DBA910ED0F1}"/>
              </a:ext>
            </a:extLst>
          </p:cNvPr>
          <p:cNvSpPr/>
          <p:nvPr/>
        </p:nvSpPr>
        <p:spPr>
          <a:xfrm>
            <a:off x="7355886" y="4778569"/>
            <a:ext cx="4079631" cy="1378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  <a:cs typeface="Segoe UI" panose="020B0502040204020203" pitchFamily="34" charset="0"/>
              </a:rPr>
              <a:t>Tutkimus</a:t>
            </a:r>
            <a:endParaRPr lang="en-FI" sz="2800" dirty="0">
              <a:solidFill>
                <a:schemeClr val="tx1"/>
              </a:solidFill>
              <a:latin typeface="Arial Black" panose="020B0A04020102020204" pitchFamily="34" charset="0"/>
              <a:ea typeface="Bungee" pitchFamily="2" charset="0"/>
              <a:cs typeface="Segoe UI" panose="020B0502040204020203" pitchFamily="34" charset="0"/>
            </a:endParaRPr>
          </a:p>
          <a:p>
            <a:pPr algn="ctr"/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Fiksumpia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menetelmiä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oppia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ja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kouluttaa</a:t>
            </a:r>
            <a:endParaRPr lang="en-FI" sz="2800" dirty="0">
              <a:solidFill>
                <a:schemeClr val="tx1"/>
              </a:solidFill>
              <a:latin typeface="Arial" panose="020B0604020202020204" pitchFamily="34" charset="0"/>
              <a:ea typeface="Bungee" pitchFamily="2" charset="0"/>
              <a:cs typeface="Arial" panose="020B0604020202020204" pitchFamily="34" charset="0"/>
            </a:endParaRPr>
          </a:p>
        </p:txBody>
      </p:sp>
      <p:sp>
        <p:nvSpPr>
          <p:cNvPr id="26" name="Star: 7 Points 25">
            <a:extLst>
              <a:ext uri="{FF2B5EF4-FFF2-40B4-BE49-F238E27FC236}">
                <a16:creationId xmlns:a16="http://schemas.microsoft.com/office/drawing/2014/main" id="{89B6AF9B-0783-26F8-DDDF-8F50F471F00D}"/>
              </a:ext>
            </a:extLst>
          </p:cNvPr>
          <p:cNvSpPr/>
          <p:nvPr/>
        </p:nvSpPr>
        <p:spPr>
          <a:xfrm>
            <a:off x="4638202" y="2943029"/>
            <a:ext cx="2686430" cy="2619073"/>
          </a:xfrm>
          <a:prstGeom prst="star7">
            <a:avLst/>
          </a:prstGeom>
          <a:solidFill>
            <a:srgbClr val="FFFF00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  <a:cs typeface="Segoe UI" panose="020B0502040204020203" pitchFamily="34" charset="0"/>
              </a:rPr>
              <a:t>Tekoäly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2682271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97C7-16F6-618B-ED73-51302546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BCE3CF9-AE0F-5F42-350B-7FE90CE838CD}"/>
              </a:ext>
            </a:extLst>
          </p:cNvPr>
          <p:cNvSpPr/>
          <p:nvPr/>
        </p:nvSpPr>
        <p:spPr>
          <a:xfrm rot="1091426">
            <a:off x="5782084" y="738157"/>
            <a:ext cx="4527947" cy="2912058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E7A17E-FC91-6181-7E4E-193A8915A337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Miksi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juuri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nyt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671DC-72EA-B3EA-B6C8-B1A69F0D1D6A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pyhä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nelinäisyys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9F38CA-CAF6-382F-43A9-9E173602F56B}"/>
              </a:ext>
            </a:extLst>
          </p:cNvPr>
          <p:cNvSpPr/>
          <p:nvPr/>
        </p:nvSpPr>
        <p:spPr>
          <a:xfrm>
            <a:off x="7966176" y="344260"/>
            <a:ext cx="2730787" cy="15670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  <a:cs typeface="Segoe UI" panose="020B0502040204020203" pitchFamily="34" charset="0"/>
              </a:rPr>
              <a:t>Data</a:t>
            </a:r>
          </a:p>
          <a:p>
            <a:pPr algn="ctr"/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Valtavasti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digitaalista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tekstiä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kuvia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videoita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ääniä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koodia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,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mistä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oppia</a:t>
            </a:r>
            <a:endParaRPr lang="en-FI" sz="2800" dirty="0">
              <a:solidFill>
                <a:schemeClr val="tx1"/>
              </a:solidFill>
              <a:latin typeface="Arial" panose="020B0604020202020204" pitchFamily="34" charset="0"/>
              <a:ea typeface="Bungee" pitchFamily="2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66A6CC-90B6-8E7B-F0BB-38C98689BFE2}"/>
              </a:ext>
            </a:extLst>
          </p:cNvPr>
          <p:cNvSpPr/>
          <p:nvPr/>
        </p:nvSpPr>
        <p:spPr>
          <a:xfrm>
            <a:off x="3565773" y="1681535"/>
            <a:ext cx="4079631" cy="15670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  <a:cs typeface="Segoe UI" panose="020B0502040204020203" pitchFamily="34" charset="0"/>
              </a:rPr>
              <a:t>Laskentateho</a:t>
            </a:r>
            <a:endParaRPr lang="en-FI" sz="2800" dirty="0">
              <a:solidFill>
                <a:schemeClr val="tx1"/>
              </a:solidFill>
              <a:latin typeface="Arial Black" panose="020B0A04020102020204" pitchFamily="34" charset="0"/>
              <a:ea typeface="Bungee" pitchFamily="2" charset="0"/>
              <a:cs typeface="Segoe UI" panose="020B0502040204020203" pitchFamily="34" charset="0"/>
            </a:endParaRPr>
          </a:p>
          <a:p>
            <a:pPr algn="ctr"/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Tarpeeksi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potkua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kouluttaa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isoja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malleja</a:t>
            </a:r>
            <a:endParaRPr lang="en-FI" sz="2800" dirty="0">
              <a:solidFill>
                <a:schemeClr val="tx1"/>
              </a:solidFill>
              <a:latin typeface="Arial" panose="020B0604020202020204" pitchFamily="34" charset="0"/>
              <a:ea typeface="Bungee" pitchFamily="2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824D7C-738B-F436-A454-FDE453413A73}"/>
              </a:ext>
            </a:extLst>
          </p:cNvPr>
          <p:cNvSpPr/>
          <p:nvPr/>
        </p:nvSpPr>
        <p:spPr>
          <a:xfrm>
            <a:off x="7966176" y="3044933"/>
            <a:ext cx="4079631" cy="1378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  <a:cs typeface="Segoe UI" panose="020B0502040204020203" pitchFamily="34" charset="0"/>
              </a:rPr>
              <a:t>Tutkimus</a:t>
            </a:r>
            <a:endParaRPr lang="en-FI" sz="2800" dirty="0">
              <a:solidFill>
                <a:schemeClr val="tx1"/>
              </a:solidFill>
              <a:latin typeface="Arial Black" panose="020B0A04020102020204" pitchFamily="34" charset="0"/>
              <a:ea typeface="Bungee" pitchFamily="2" charset="0"/>
              <a:cs typeface="Segoe UI" panose="020B0502040204020203" pitchFamily="34" charset="0"/>
            </a:endParaRPr>
          </a:p>
          <a:p>
            <a:pPr algn="ctr"/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Fiksumpia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menetelmiä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oppia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ja</a:t>
            </a:r>
            <a:r>
              <a:rPr lang="en-FI" sz="1600" dirty="0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 </a:t>
            </a:r>
            <a:r>
              <a:rPr lang="en-FI" sz="1600" dirty="0" err="1">
                <a:solidFill>
                  <a:schemeClr val="tx1"/>
                </a:solidFill>
                <a:latin typeface="Arial" panose="020B0604020202020204" pitchFamily="34" charset="0"/>
                <a:ea typeface="Bungee" pitchFamily="2" charset="0"/>
                <a:cs typeface="Arial" panose="020B0604020202020204" pitchFamily="34" charset="0"/>
              </a:rPr>
              <a:t>kouluttaa</a:t>
            </a:r>
            <a:endParaRPr lang="en-FI" sz="2800" dirty="0">
              <a:solidFill>
                <a:schemeClr val="tx1"/>
              </a:solidFill>
              <a:latin typeface="Arial" panose="020B0604020202020204" pitchFamily="34" charset="0"/>
              <a:ea typeface="Bungee" pitchFamily="2" charset="0"/>
              <a:cs typeface="Arial" panose="020B0604020202020204" pitchFamily="34" charset="0"/>
            </a:endParaRPr>
          </a:p>
        </p:txBody>
      </p:sp>
      <p:sp>
        <p:nvSpPr>
          <p:cNvPr id="26" name="Star: 7 Points 25">
            <a:extLst>
              <a:ext uri="{FF2B5EF4-FFF2-40B4-BE49-F238E27FC236}">
                <a16:creationId xmlns:a16="http://schemas.microsoft.com/office/drawing/2014/main" id="{62CE5436-ED72-17CA-8565-ED1E96ADFB00}"/>
              </a:ext>
            </a:extLst>
          </p:cNvPr>
          <p:cNvSpPr/>
          <p:nvPr/>
        </p:nvSpPr>
        <p:spPr>
          <a:xfrm>
            <a:off x="6702843" y="1225064"/>
            <a:ext cx="2686430" cy="2619073"/>
          </a:xfrm>
          <a:prstGeom prst="star7">
            <a:avLst/>
          </a:prstGeom>
          <a:solidFill>
            <a:srgbClr val="FFFF00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  <a:cs typeface="Segoe UI" panose="020B0502040204020203" pitchFamily="34" charset="0"/>
              </a:rPr>
              <a:t>Tekoäly</a:t>
            </a:r>
            <a:endParaRPr lang="en-FI" sz="2400" dirty="0"/>
          </a:p>
        </p:txBody>
      </p:sp>
      <p:pic>
        <p:nvPicPr>
          <p:cNvPr id="4" name="Picture 3" descr="Download Chatgpt, Chatgpt Logo, Chatgpt Icon. Royalty-Free Vector Graphic -  Pixabay">
            <a:extLst>
              <a:ext uri="{FF2B5EF4-FFF2-40B4-BE49-F238E27FC236}">
                <a16:creationId xmlns:a16="http://schemas.microsoft.com/office/drawing/2014/main" id="{E061411B-C5E2-BC03-BB11-B285208E9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11" y="1897991"/>
            <a:ext cx="3059890" cy="306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D51F2B6-6B3F-A52B-F411-08DE01D19096}"/>
              </a:ext>
            </a:extLst>
          </p:cNvPr>
          <p:cNvSpPr/>
          <p:nvPr/>
        </p:nvSpPr>
        <p:spPr>
          <a:xfrm>
            <a:off x="491680" y="5382961"/>
            <a:ext cx="11208639" cy="781096"/>
          </a:xfrm>
          <a:prstGeom prst="rect">
            <a:avLst/>
          </a:prstGeom>
          <a:solidFill>
            <a:srgbClr val="74A99B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J</a:t>
            </a:r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a </a:t>
            </a:r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sitten</a:t>
            </a:r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sille</a:t>
            </a:r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pystyi</a:t>
            </a:r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puhumaan</a:t>
            </a:r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ihan</a:t>
            </a:r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tavallisella</a:t>
            </a:r>
            <a:r>
              <a:rPr lang="en-FI" sz="2800" dirty="0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2800" dirty="0" err="1">
                <a:solidFill>
                  <a:schemeClr val="tx1"/>
                </a:solidFill>
                <a:latin typeface="Arial Black" panose="020B0A04020102020204" pitchFamily="34" charset="0"/>
                <a:ea typeface="Bungee" pitchFamily="2" charset="0"/>
              </a:rPr>
              <a:t>kielellä</a:t>
            </a:r>
            <a:endParaRPr lang="en-FI" sz="2800" dirty="0">
              <a:solidFill>
                <a:schemeClr val="tx1"/>
              </a:solidFill>
              <a:latin typeface="Arial Black" panose="020B0A04020102020204" pitchFamily="34" charset="0"/>
              <a:ea typeface="Bung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381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FEC7-3CD0-BC21-B7E0-2C162447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AD8664-D02F-A8AE-6D26-45A2CCA90C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09987" y="1042987"/>
            <a:ext cx="4772025" cy="4772025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DB8230B-EFF8-2C99-E84D-C0163B3272E5}"/>
              </a:ext>
            </a:extLst>
          </p:cNvPr>
          <p:cNvSpPr/>
          <p:nvPr/>
        </p:nvSpPr>
        <p:spPr>
          <a:xfrm>
            <a:off x="0" y="5086350"/>
            <a:ext cx="12192000" cy="1771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FI" sz="9600" b="1" dirty="0" err="1">
                <a:ln w="38100">
                  <a:solidFill>
                    <a:sysClr val="windowText" lastClr="000000"/>
                  </a:solidFill>
                </a:ln>
                <a:solidFill>
                  <a:srgbClr val="F4A505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yleisöltä</a:t>
            </a:r>
            <a:endParaRPr lang="en-US" sz="9600" dirty="0">
              <a:ln w="38100">
                <a:solidFill>
                  <a:sysClr val="windowText" lastClr="000000"/>
                </a:solidFill>
              </a:ln>
              <a:solidFill>
                <a:srgbClr val="F4A505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38544F4F-123E-0F15-DB7D-38D8DD27CFD6}"/>
              </a:ext>
            </a:extLst>
          </p:cNvPr>
          <p:cNvSpPr/>
          <p:nvPr/>
        </p:nvSpPr>
        <p:spPr>
          <a:xfrm>
            <a:off x="0" y="0"/>
            <a:ext cx="12192000" cy="1962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FI" sz="9600" b="1" dirty="0" err="1">
                <a:ln w="38100">
                  <a:solidFill>
                    <a:sysClr val="windowText" lastClr="000000"/>
                  </a:solidFill>
                </a:ln>
                <a:solidFill>
                  <a:srgbClr val="F4A505"/>
                </a:solidFill>
                <a:latin typeface="Bungee" pitchFamily="2" charset="0"/>
                <a:ea typeface="Bungee" pitchFamily="2" charset="0"/>
                <a:cs typeface="Arial Black" pitchFamily="34" charset="-120"/>
              </a:rPr>
              <a:t>kysytään</a:t>
            </a:r>
            <a:endParaRPr lang="en-US" sz="9600" dirty="0">
              <a:ln w="38100">
                <a:solidFill>
                  <a:sysClr val="windowText" lastClr="000000"/>
                </a:solidFill>
              </a:ln>
              <a:solidFill>
                <a:srgbClr val="F4A50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74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72A3-2E18-A2FF-FD31-3054799B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703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4E3D3-6D09-1DB7-21C3-659A9658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51487DD-1512-BB22-6E14-3A377AAA20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1057271"/>
              </p:ext>
            </p:extLst>
          </p:nvPr>
        </p:nvGraphicFramePr>
        <p:xfrm>
          <a:off x="629838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3CA46A5-7E96-A7C6-BCB1-C71C7106A4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8854504"/>
              </p:ext>
            </p:extLst>
          </p:nvPr>
        </p:nvGraphicFramePr>
        <p:xfrm>
          <a:off x="8098422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04619F4-3774-A6E9-61E2-8F616197AB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862732"/>
              </p:ext>
            </p:extLst>
          </p:nvPr>
        </p:nvGraphicFramePr>
        <p:xfrm>
          <a:off x="4501290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449F5BD-AF3C-FF07-BE0B-7DA3E9316289}"/>
              </a:ext>
            </a:extLst>
          </p:cNvPr>
          <p:cNvSpPr txBox="1"/>
          <p:nvPr/>
        </p:nvSpPr>
        <p:spPr>
          <a:xfrm>
            <a:off x="629838" y="6255822"/>
            <a:ext cx="9601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Lähde: GDC State of the Game Industry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2024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·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·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Eri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vuosina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eri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vastaajajoukot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C030B9-979F-AB16-18BB-F8B70A3C2882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Mitä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pelialan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ammattilaiset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ajattelevat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tekoälystä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1DB7AF-98BF-A5EC-EEC0-6D1C44CD80B1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ammattilaisten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rvio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generatiivisen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vaikutuksesta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pelialaan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835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6883-299A-0F48-F219-78402F37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2A907F7-CF64-CE2E-E267-34373DF017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812582"/>
              </p:ext>
            </p:extLst>
          </p:nvPr>
        </p:nvGraphicFramePr>
        <p:xfrm>
          <a:off x="629838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8CDA014-5554-E422-0173-8BD328CD91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8789085"/>
              </p:ext>
            </p:extLst>
          </p:nvPr>
        </p:nvGraphicFramePr>
        <p:xfrm>
          <a:off x="8098422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6600CBE-3577-8E71-2E90-855E7BDCF0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840878"/>
              </p:ext>
            </p:extLst>
          </p:nvPr>
        </p:nvGraphicFramePr>
        <p:xfrm>
          <a:off x="4501290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19C0124D-BE40-61A5-8076-53F343B74C2C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Mitä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pelialan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ammattilaiset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ajattelevat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tekoälystä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D9175-A700-1E08-4E18-65FAE0824BD8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ammattilaisten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rvio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generatiivisen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vaikutuksesta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pelialaan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1437D-2820-35AF-83D6-A67C69688CDF}"/>
              </a:ext>
            </a:extLst>
          </p:cNvPr>
          <p:cNvSpPr txBox="1"/>
          <p:nvPr/>
        </p:nvSpPr>
        <p:spPr>
          <a:xfrm>
            <a:off x="629838" y="6255822"/>
            <a:ext cx="9601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Lähde: GDC State of the Game Industry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2024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·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·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Eri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vuosina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eri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vastaajajoukot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8928462"/>
      </p:ext>
    </p:extLst>
  </p:cSld>
  <p:clrMapOvr>
    <a:masterClrMapping/>
  </p:clrMapOvr>
  <p:transition>
    <p:wipe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DB629-EBF0-7126-E1C3-9F26406B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E62694B-4E70-62EB-A0BD-764A984AA5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3427463"/>
              </p:ext>
            </p:extLst>
          </p:nvPr>
        </p:nvGraphicFramePr>
        <p:xfrm>
          <a:off x="629838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31D33FF-022D-99B3-54E6-90BEF62E96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09798"/>
              </p:ext>
            </p:extLst>
          </p:nvPr>
        </p:nvGraphicFramePr>
        <p:xfrm>
          <a:off x="8098422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04E212D-2012-18E8-D252-724DE60F81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7263491"/>
              </p:ext>
            </p:extLst>
          </p:nvPr>
        </p:nvGraphicFramePr>
        <p:xfrm>
          <a:off x="4501290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0282173-6FA2-6EEB-3099-74E926C04F66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Mitä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pelialan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ammattilaiset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ajattelevat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tekoälystä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3871E-747C-870D-C91B-14E77E0924CC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ammattilaisten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rvio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generatiivisen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vaikutuksesta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pelialaan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EB5FB-F92A-4E4C-3D75-25F8C3A9F2C0}"/>
              </a:ext>
            </a:extLst>
          </p:cNvPr>
          <p:cNvSpPr txBox="1"/>
          <p:nvPr/>
        </p:nvSpPr>
        <p:spPr>
          <a:xfrm>
            <a:off x="629838" y="6255822"/>
            <a:ext cx="9601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Lähde: GDC State of the Game Industry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2024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·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·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Eri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vuosina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eri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vastaajajoukot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7436706"/>
      </p:ext>
    </p:extLst>
  </p:cSld>
  <p:clrMapOvr>
    <a:masterClrMapping/>
  </p:clrMapOvr>
  <p:transition>
    <p:wipe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A7B3D-7489-5E33-4174-87D0F2C10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97DD96F-CC02-C612-31A0-547E67DDF425}"/>
              </a:ext>
            </a:extLst>
          </p:cNvPr>
          <p:cNvGraphicFramePr/>
          <p:nvPr/>
        </p:nvGraphicFramePr>
        <p:xfrm>
          <a:off x="629838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2974F77-F15A-5CEA-9F10-D80D526BEA82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Mitä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pelialan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ammattilaiset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ajattelevat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tekoälystä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F822728-DDAF-DB88-E314-D3A1562BD06F}"/>
              </a:ext>
            </a:extLst>
          </p:cNvPr>
          <p:cNvGraphicFramePr/>
          <p:nvPr/>
        </p:nvGraphicFramePr>
        <p:xfrm>
          <a:off x="8098422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78296FE-3E5F-D8D2-7182-028779057274}"/>
              </a:ext>
            </a:extLst>
          </p:cNvPr>
          <p:cNvGraphicFramePr/>
          <p:nvPr/>
        </p:nvGraphicFramePr>
        <p:xfrm>
          <a:off x="4501290" y="1865636"/>
          <a:ext cx="3463740" cy="412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8CA0E21-0D2E-57E0-3318-0F77A14DC1D9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ammattilaisten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rvio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generatiivisen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vaikutuksesta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pelialaan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7D220-8FFD-6EE2-CB67-C7829CAE9663}"/>
              </a:ext>
            </a:extLst>
          </p:cNvPr>
          <p:cNvSpPr txBox="1"/>
          <p:nvPr/>
        </p:nvSpPr>
        <p:spPr>
          <a:xfrm>
            <a:off x="629838" y="6255822"/>
            <a:ext cx="9601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Lähde: GDC State of the Game Industry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2024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·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· 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</a:t>
            </a:r>
            <a:r>
              <a:rPr lang="en-FI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Eri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vuosina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eri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vastaajajoukot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388237"/>
      </p:ext>
    </p:extLst>
  </p:cSld>
  <p:clrMapOvr>
    <a:masterClrMapping/>
  </p:clrMapOvr>
  <p:transition>
    <p:wipe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56239-D12D-221C-D752-70007A18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121505-9219-3D42-5C5A-89CFA323CF04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Mihin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pelialan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ammattilaiset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käyttävät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186D4C-B5D2-18C3-C4C6-13B4FC8879AF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Pelialan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ammattilaisten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käyttökohteet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07933A-2A01-097E-A12A-75A7AC516676}"/>
              </a:ext>
            </a:extLst>
          </p:cNvPr>
          <p:cNvSpPr txBox="1"/>
          <p:nvPr/>
        </p:nvSpPr>
        <p:spPr>
          <a:xfrm>
            <a:off x="629837" y="6255822"/>
            <a:ext cx="107719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GDC State of the Game Industry 2026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koko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kysely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yli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2 300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vastaajaa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02C434B7-1651-7C86-149D-979E185299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383308"/>
              </p:ext>
            </p:extLst>
          </p:nvPr>
        </p:nvGraphicFramePr>
        <p:xfrm>
          <a:off x="446159" y="1538046"/>
          <a:ext cx="8128000" cy="4600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807FE53-E10E-9253-45D2-DEB7CF60F604}"/>
              </a:ext>
            </a:extLst>
          </p:cNvPr>
          <p:cNvSpPr txBox="1"/>
          <p:nvPr/>
        </p:nvSpPr>
        <p:spPr>
          <a:xfrm>
            <a:off x="8574159" y="1760697"/>
            <a:ext cx="34323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3600" b="1" dirty="0">
                <a:solidFill>
                  <a:srgbClr val="0070C0"/>
                </a:solidFill>
              </a:rPr>
              <a:t>36 %</a:t>
            </a:r>
            <a:endParaRPr lang="en-FI" sz="3600" dirty="0">
              <a:solidFill>
                <a:srgbClr val="0070C0"/>
              </a:solidFill>
            </a:endParaRPr>
          </a:p>
          <a:p>
            <a:r>
              <a:rPr lang="en-FI" dirty="0" err="1"/>
              <a:t>kaikista</a:t>
            </a:r>
            <a:r>
              <a:rPr lang="en-FI" dirty="0"/>
              <a:t> </a:t>
            </a:r>
            <a:r>
              <a:rPr lang="en-FI" dirty="0" err="1"/>
              <a:t>vastaajista</a:t>
            </a:r>
            <a:br>
              <a:rPr lang="en-FI" dirty="0"/>
            </a:br>
            <a:r>
              <a:rPr lang="en-FI" dirty="0" err="1"/>
              <a:t>käyttää</a:t>
            </a:r>
            <a:r>
              <a:rPr lang="en-FI" dirty="0"/>
              <a:t> </a:t>
            </a:r>
            <a:r>
              <a:rPr lang="en-FI" dirty="0" err="1"/>
              <a:t>GenAI:ta</a:t>
            </a:r>
            <a:r>
              <a:rPr lang="en-FI" dirty="0"/>
              <a:t> </a:t>
            </a:r>
            <a:r>
              <a:rPr lang="en-FI" dirty="0" err="1"/>
              <a:t>työssä</a:t>
            </a:r>
            <a:endParaRPr lang="en-FI" dirty="0"/>
          </a:p>
          <a:p>
            <a:endParaRPr lang="en-FI" dirty="0"/>
          </a:p>
          <a:p>
            <a:endParaRPr lang="en-FI" dirty="0"/>
          </a:p>
          <a:p>
            <a:r>
              <a:rPr lang="en-FI" b="1" dirty="0" err="1"/>
              <a:t>Käyttö</a:t>
            </a:r>
            <a:r>
              <a:rPr lang="en-FI" b="1" dirty="0"/>
              <a:t> </a:t>
            </a:r>
            <a:r>
              <a:rPr lang="en-FI" b="1" dirty="0" err="1"/>
              <a:t>työpaikan</a:t>
            </a:r>
            <a:r>
              <a:rPr lang="en-FI" b="1" dirty="0"/>
              <a:t> </a:t>
            </a:r>
            <a:r>
              <a:rPr lang="en-FI" b="1" dirty="0" err="1"/>
              <a:t>mukaan</a:t>
            </a:r>
            <a:endParaRPr lang="en-FI" b="1" dirty="0"/>
          </a:p>
          <a:p>
            <a:endParaRPr lang="en-FI" sz="1200" b="1" dirty="0"/>
          </a:p>
          <a:p>
            <a:r>
              <a:rPr lang="en-FI" sz="2400" b="1" dirty="0">
                <a:solidFill>
                  <a:srgbClr val="0070C0"/>
                </a:solidFill>
              </a:rPr>
              <a:t>30 %</a:t>
            </a:r>
          </a:p>
          <a:p>
            <a:r>
              <a:rPr lang="en-FI" dirty="0" err="1"/>
              <a:t>Pelinkehitysstudiot</a:t>
            </a:r>
            <a:endParaRPr lang="en-FI" dirty="0"/>
          </a:p>
          <a:p>
            <a:endParaRPr lang="en-FI" sz="1200" dirty="0"/>
          </a:p>
          <a:p>
            <a:r>
              <a:rPr lang="en-FI" sz="2400" b="1" dirty="0">
                <a:solidFill>
                  <a:srgbClr val="0070C0"/>
                </a:solidFill>
              </a:rPr>
              <a:t>58 %</a:t>
            </a:r>
          </a:p>
          <a:p>
            <a:r>
              <a:rPr lang="en-FI" dirty="0" err="1"/>
              <a:t>Julkaisu</a:t>
            </a:r>
            <a:r>
              <a:rPr lang="en-FI" dirty="0"/>
              <a:t>, </a:t>
            </a:r>
            <a:r>
              <a:rPr lang="en-FI" dirty="0" err="1"/>
              <a:t>tukipalvelut</a:t>
            </a:r>
            <a:br>
              <a:rPr lang="en-FI" dirty="0"/>
            </a:br>
            <a:r>
              <a:rPr lang="en-FI" dirty="0" err="1"/>
              <a:t>ja</a:t>
            </a:r>
            <a:r>
              <a:rPr lang="en-FI" dirty="0"/>
              <a:t> </a:t>
            </a:r>
            <a:r>
              <a:rPr lang="en-FI" dirty="0" err="1"/>
              <a:t>markkinointi</a:t>
            </a:r>
            <a:r>
              <a:rPr lang="en-FI" dirty="0"/>
              <a:t> / PR</a:t>
            </a:r>
          </a:p>
        </p:txBody>
      </p:sp>
    </p:spTree>
    <p:extLst>
      <p:ext uri="{BB962C8B-B14F-4D97-AF65-F5344CB8AC3E}">
        <p14:creationId xmlns:p14="http://schemas.microsoft.com/office/powerpoint/2010/main" val="796292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53C9-5DF9-331D-C038-B1F10D8D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6889AA7-A2F2-EEC3-DADD-773A2A7985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26377"/>
              </p:ext>
            </p:extLst>
          </p:nvPr>
        </p:nvGraphicFramePr>
        <p:xfrm>
          <a:off x="507076" y="2964221"/>
          <a:ext cx="10968644" cy="1518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D233C3-3679-73FA-A63E-B43800C6D378}"/>
              </a:ext>
            </a:extLst>
          </p:cNvPr>
          <p:cNvSpPr txBox="1"/>
          <p:nvPr/>
        </p:nvSpPr>
        <p:spPr>
          <a:xfrm>
            <a:off x="716280" y="1926803"/>
            <a:ext cx="64472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7200" b="1" dirty="0">
                <a:solidFill>
                  <a:schemeClr val="accent2">
                    <a:lumMod val="75000"/>
                  </a:schemeClr>
                </a:solidFill>
              </a:rPr>
              <a:t>85 %</a:t>
            </a:r>
            <a:r>
              <a:rPr lang="en-FI" sz="7200" b="1" dirty="0">
                <a:solidFill>
                  <a:srgbClr val="0070C0"/>
                </a:solidFill>
              </a:rPr>
              <a:t> </a:t>
            </a:r>
            <a:r>
              <a:rPr lang="en-FI" sz="3200" dirty="0" err="1"/>
              <a:t>suhtautui</a:t>
            </a:r>
            <a:r>
              <a:rPr lang="en-FI" sz="3200" dirty="0"/>
              <a:t> </a:t>
            </a:r>
            <a:r>
              <a:rPr lang="en-FI" sz="3200" dirty="0" err="1"/>
              <a:t>kielteisesti</a:t>
            </a:r>
            <a:endParaRPr lang="en-FI" sz="32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E322E1F-05FB-669B-A4C0-6AE88135114C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Miten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pelaajat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suhtautuvat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käyttöön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BDA1C-52E7-162F-EB9F-BC1E06F09D54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Tässä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pelaajajoukossa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Vahva</a:t>
            </a:r>
            <a:r>
              <a:rPr lang="en-FI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ei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351BCD-703D-A115-2080-07774B782595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Quantic Foundry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vapaaehtoinen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kysely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n = 1 799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aktiiviset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PC-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konsolipelaajat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painottuvat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6C52B4-B591-919A-77E9-2B5B83AF939C}"/>
              </a:ext>
            </a:extLst>
          </p:cNvPr>
          <p:cNvSpPr txBox="1"/>
          <p:nvPr/>
        </p:nvSpPr>
        <p:spPr>
          <a:xfrm>
            <a:off x="1041159" y="4482883"/>
            <a:ext cx="2954466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Kielteiset</a:t>
            </a:r>
            <a:endParaRPr lang="en-FI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67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   62.7 %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erittäin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kielteinen</a:t>
            </a:r>
            <a:endParaRPr lang="en-FI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67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   15.9 %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melko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kielteinen</a:t>
            </a:r>
            <a:endParaRPr lang="en-FI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67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   6.8 %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hieman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kielteinen</a:t>
            </a:r>
            <a:endParaRPr lang="en-FI" sz="1650" b="0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9B6923-2D4E-9FDF-F1F3-2C2F4B542E64}"/>
              </a:ext>
            </a:extLst>
          </p:cNvPr>
          <p:cNvSpPr txBox="1"/>
          <p:nvPr/>
        </p:nvSpPr>
        <p:spPr>
          <a:xfrm>
            <a:off x="4365068" y="4482883"/>
            <a:ext cx="295446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Neutraalit</a:t>
            </a:r>
            <a:endParaRPr lang="en-FI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spcAft>
                <a:spcPts val="675"/>
              </a:spcAft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   6.0 %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neutraali</a:t>
            </a:r>
            <a:endParaRPr lang="en-FI" sz="1650" b="0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733BDC-B95D-2EB2-117D-2AEBD5DFF010}"/>
              </a:ext>
            </a:extLst>
          </p:cNvPr>
          <p:cNvSpPr txBox="1"/>
          <p:nvPr/>
        </p:nvSpPr>
        <p:spPr>
          <a:xfrm>
            <a:off x="7412706" y="4511540"/>
            <a:ext cx="3738135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Myönteiset</a:t>
            </a:r>
            <a:endParaRPr lang="en-FI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67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   3.0 %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hieman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myönteinen</a:t>
            </a:r>
            <a:endParaRPr lang="en-FI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67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   2.8 %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melko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myönteinen</a:t>
            </a:r>
            <a:endParaRPr lang="en-FI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67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   1.8 %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erittäin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myönteinen</a:t>
            </a:r>
            <a:endParaRPr lang="en-FI" sz="1650" b="0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B7A7-A895-0004-58B8-0EE489077BD5}"/>
              </a:ext>
            </a:extLst>
          </p:cNvPr>
          <p:cNvSpPr/>
          <p:nvPr/>
        </p:nvSpPr>
        <p:spPr>
          <a:xfrm>
            <a:off x="1095328" y="4975029"/>
            <a:ext cx="165763" cy="1665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EC998C-7BE7-F552-9E5E-A7DF4FEA7031}"/>
              </a:ext>
            </a:extLst>
          </p:cNvPr>
          <p:cNvSpPr/>
          <p:nvPr/>
        </p:nvSpPr>
        <p:spPr>
          <a:xfrm>
            <a:off x="1095327" y="5321575"/>
            <a:ext cx="165763" cy="1665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AED047-2055-044B-571A-3B1A2E6FD310}"/>
              </a:ext>
            </a:extLst>
          </p:cNvPr>
          <p:cNvSpPr/>
          <p:nvPr/>
        </p:nvSpPr>
        <p:spPr>
          <a:xfrm>
            <a:off x="1095327" y="5707171"/>
            <a:ext cx="165763" cy="1665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7B694A-B0E9-832C-AAB7-5316A2564D66}"/>
              </a:ext>
            </a:extLst>
          </p:cNvPr>
          <p:cNvSpPr/>
          <p:nvPr/>
        </p:nvSpPr>
        <p:spPr>
          <a:xfrm>
            <a:off x="4420822" y="4975029"/>
            <a:ext cx="165763" cy="166563"/>
          </a:xfrm>
          <a:prstGeom prst="rect">
            <a:avLst/>
          </a:prstGeom>
          <a:solidFill>
            <a:srgbClr val="FFDF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3AD9E5-D588-BA46-D0FC-CEA69D405490}"/>
              </a:ext>
            </a:extLst>
          </p:cNvPr>
          <p:cNvSpPr/>
          <p:nvPr/>
        </p:nvSpPr>
        <p:spPr>
          <a:xfrm>
            <a:off x="7472433" y="5003570"/>
            <a:ext cx="165763" cy="166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2505FD-5619-A0F3-A06E-498F262CE83D}"/>
              </a:ext>
            </a:extLst>
          </p:cNvPr>
          <p:cNvSpPr/>
          <p:nvPr/>
        </p:nvSpPr>
        <p:spPr>
          <a:xfrm>
            <a:off x="7472433" y="5378859"/>
            <a:ext cx="165763" cy="1665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FA182F-5FBD-D8AD-E402-FAC4D81062E1}"/>
              </a:ext>
            </a:extLst>
          </p:cNvPr>
          <p:cNvSpPr/>
          <p:nvPr/>
        </p:nvSpPr>
        <p:spPr>
          <a:xfrm>
            <a:off x="7472433" y="5728236"/>
            <a:ext cx="165763" cy="1665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02107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7AE1C-8AFC-336B-0962-116DEF1D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9114F0A-E3E6-3DF5-DF62-96334B1695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7022582"/>
              </p:ext>
            </p:extLst>
          </p:nvPr>
        </p:nvGraphicFramePr>
        <p:xfrm>
          <a:off x="446159" y="1538046"/>
          <a:ext cx="11038012" cy="4600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99C00D66-32EB-2F90-285F-32F7265E1170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Mitä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pelaajat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vastustivat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eniten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530F0-1027-F438-C95C-B0AB9257858B}"/>
              </a:ext>
            </a:extLst>
          </p:cNvPr>
          <p:cNvSpPr txBox="1"/>
          <p:nvPr/>
        </p:nvSpPr>
        <p:spPr>
          <a:xfrm>
            <a:off x="274320" y="1047868"/>
            <a:ext cx="902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Suhtautuminen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eri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käyttötapoihin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B2D05-922E-C714-DAE8-DCD1EFAC5E7B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Quantic Foundry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vapaaehtoinen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kysely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n = 1 799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aktiiviset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PC-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konsolipelaajat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painottuvat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121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03CA1-96CA-7B54-ADBF-EB0F7C45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5BAF59D-1F57-A908-7831-3BD29DFD4F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672614"/>
              </p:ext>
            </p:extLst>
          </p:nvPr>
        </p:nvGraphicFramePr>
        <p:xfrm>
          <a:off x="264353" y="1538047"/>
          <a:ext cx="11657516" cy="4272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741837E-2017-4394-622B-5FBCEE9F3AB0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Ipsos AI Monitor 2026, s. 13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48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näytetty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27 / 32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maata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koko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kysely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n = 23 532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124EEAF-8739-A429-D1E0-BC421F99F153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Sama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,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eri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odotukset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D6304-C6E5-C437-F00C-C5D7C613AC9F}"/>
              </a:ext>
            </a:extLst>
          </p:cNvPr>
          <p:cNvSpPr txBox="1"/>
          <p:nvPr/>
        </p:nvSpPr>
        <p:spPr>
          <a:xfrm>
            <a:off x="274319" y="1047868"/>
            <a:ext cx="1122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Tekoälystä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enemmän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hyötyä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kuin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haittaa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tuotteet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palvelut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samaa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mieltä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olevien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osuus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A140CA-3ECF-D925-9BF1-DC92E07A9387}"/>
              </a:ext>
            </a:extLst>
          </p:cNvPr>
          <p:cNvSpPr txBox="1"/>
          <p:nvPr/>
        </p:nvSpPr>
        <p:spPr>
          <a:xfrm>
            <a:off x="421809" y="5758128"/>
            <a:ext cx="3439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← </a:t>
            </a:r>
            <a:r>
              <a:rPr lang="en-FI" sz="14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Enemmän</a:t>
            </a:r>
            <a:r>
              <a:rPr lang="en-FI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</a:t>
            </a:r>
            <a:r>
              <a:rPr lang="en-FI" sz="14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samaa</a:t>
            </a:r>
            <a:r>
              <a:rPr lang="en-FI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</a:t>
            </a:r>
            <a:r>
              <a:rPr lang="en-FI" sz="14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mieltä</a:t>
            </a:r>
            <a:endParaRPr lang="en-FI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FD42EA-4D6F-1418-96C7-1605773BEA0A}"/>
              </a:ext>
            </a:extLst>
          </p:cNvPr>
          <p:cNvSpPr txBox="1"/>
          <p:nvPr/>
        </p:nvSpPr>
        <p:spPr>
          <a:xfrm>
            <a:off x="9437606" y="5758128"/>
            <a:ext cx="24842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Vähemmän</a:t>
            </a:r>
            <a:r>
              <a:rPr lang="en-FI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</a:t>
            </a:r>
            <a:r>
              <a:rPr lang="en-FI" sz="14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samaa</a:t>
            </a:r>
            <a:r>
              <a:rPr lang="en-FI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</a:t>
            </a:r>
            <a:r>
              <a:rPr lang="en-FI" sz="14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mieltä</a:t>
            </a:r>
            <a:r>
              <a:rPr lang="en-FI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→</a:t>
            </a:r>
            <a:endParaRPr lang="en-FI" sz="14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E5E4EF-902D-B116-B9FF-9CB2F1184A2D}"/>
              </a:ext>
            </a:extLst>
          </p:cNvPr>
          <p:cNvCxnSpPr/>
          <p:nvPr/>
        </p:nvCxnSpPr>
        <p:spPr>
          <a:xfrm>
            <a:off x="2747534" y="5924099"/>
            <a:ext cx="6613149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506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2A87-17AE-77A5-565D-FE5A7D02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5426EF9-8A72-BCF9-98E8-5B5EA75FEB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6235026"/>
              </p:ext>
            </p:extLst>
          </p:nvPr>
        </p:nvGraphicFramePr>
        <p:xfrm>
          <a:off x="264353" y="1538046"/>
          <a:ext cx="11657516" cy="4272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4DD151-9718-18EB-8E0A-D64A4A193EDC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Ipsos AI Monitor 2026, s. 13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48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näytetty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27 / 32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maata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koko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kysely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n = 23 532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956D3C-77F9-48AF-881A-12A59AF3139B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Sama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,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eri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odotukset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E2ED0-FA43-8578-1E5C-DF7A4CD5C0BB}"/>
              </a:ext>
            </a:extLst>
          </p:cNvPr>
          <p:cNvSpPr txBox="1"/>
          <p:nvPr/>
        </p:nvSpPr>
        <p:spPr>
          <a:xfrm>
            <a:off x="274319" y="1047868"/>
            <a:ext cx="1122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Tekoälystä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enemmän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hyötyä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kuin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haittaa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tuotteet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palvelut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samaa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mieltä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olevien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osuus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8CFE21-11A6-25A7-BA65-44936EB81E74}"/>
              </a:ext>
            </a:extLst>
          </p:cNvPr>
          <p:cNvSpPr/>
          <p:nvPr/>
        </p:nvSpPr>
        <p:spPr>
          <a:xfrm>
            <a:off x="709634" y="5866413"/>
            <a:ext cx="165763" cy="1665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1C438F-CFB3-0CBD-A48D-9A23AF3572EA}"/>
              </a:ext>
            </a:extLst>
          </p:cNvPr>
          <p:cNvSpPr/>
          <p:nvPr/>
        </p:nvSpPr>
        <p:spPr>
          <a:xfrm>
            <a:off x="1947436" y="5866412"/>
            <a:ext cx="165763" cy="166563"/>
          </a:xfrm>
          <a:prstGeom prst="rect">
            <a:avLst/>
          </a:prstGeom>
          <a:solidFill>
            <a:srgbClr val="69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FCAFAB-8E96-5DD7-A9F7-FDECB9F3E6A6}"/>
              </a:ext>
            </a:extLst>
          </p:cNvPr>
          <p:cNvSpPr/>
          <p:nvPr/>
        </p:nvSpPr>
        <p:spPr>
          <a:xfrm>
            <a:off x="4903523" y="5866412"/>
            <a:ext cx="165763" cy="1665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A17BB0-3BA3-63E1-D213-D59054A78F80}"/>
              </a:ext>
            </a:extLst>
          </p:cNvPr>
          <p:cNvSpPr/>
          <p:nvPr/>
        </p:nvSpPr>
        <p:spPr>
          <a:xfrm>
            <a:off x="6554641" y="5876452"/>
            <a:ext cx="165763" cy="166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284DE-19E7-50B1-9440-EE8C07CB2F03}"/>
              </a:ext>
            </a:extLst>
          </p:cNvPr>
          <p:cNvSpPr txBox="1"/>
          <p:nvPr/>
        </p:nvSpPr>
        <p:spPr>
          <a:xfrm>
            <a:off x="939319" y="5765027"/>
            <a:ext cx="1158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Aasia</a:t>
            </a:r>
            <a:endParaRPr lang="en-FI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7DE9A2-641E-6D11-E7A2-4A21AC909B9D}"/>
              </a:ext>
            </a:extLst>
          </p:cNvPr>
          <p:cNvSpPr txBox="1"/>
          <p:nvPr/>
        </p:nvSpPr>
        <p:spPr>
          <a:xfrm>
            <a:off x="2161408" y="5765027"/>
            <a:ext cx="2859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Latinalainen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Amerikka</a:t>
            </a:r>
            <a:endParaRPr lang="en-FI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78941E-D8D9-2F11-C465-EDDCADE7C76F}"/>
              </a:ext>
            </a:extLst>
          </p:cNvPr>
          <p:cNvSpPr txBox="1"/>
          <p:nvPr/>
        </p:nvSpPr>
        <p:spPr>
          <a:xfrm>
            <a:off x="5069286" y="5765027"/>
            <a:ext cx="2859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Eurooppa</a:t>
            </a:r>
            <a:endParaRPr lang="en-FI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21D35F-8E31-E4D1-B5F4-7DD0DD8BC111}"/>
              </a:ext>
            </a:extLst>
          </p:cNvPr>
          <p:cNvSpPr txBox="1"/>
          <p:nvPr/>
        </p:nvSpPr>
        <p:spPr>
          <a:xfrm>
            <a:off x="6720404" y="5775067"/>
            <a:ext cx="2859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USA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Kanada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229880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19FA-B33B-3601-C441-7CB689A6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36F5FD2-3662-CE26-542D-A36A7B20A82F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Miksi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suhtautuminen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eroaa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5DC43-803D-FC34-5292-DBFA550D1A63}"/>
              </a:ext>
            </a:extLst>
          </p:cNvPr>
          <p:cNvSpPr txBox="1"/>
          <p:nvPr/>
        </p:nvSpPr>
        <p:spPr>
          <a:xfrm>
            <a:off x="274319" y="1047868"/>
            <a:ext cx="1122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Sama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teknologia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Eri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odotukset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siitä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kenen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elämä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paranee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7B566D-D36A-BEE3-6D8E-7460ECAFCC2D}"/>
              </a:ext>
            </a:extLst>
          </p:cNvPr>
          <p:cNvSpPr txBox="1"/>
          <p:nvPr/>
        </p:nvSpPr>
        <p:spPr>
          <a:xfrm>
            <a:off x="4243726" y="2014750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b="1"/>
              <a:t>Luottamus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61610-396B-B73E-3769-2B95A1274B04}"/>
              </a:ext>
            </a:extLst>
          </p:cNvPr>
          <p:cNvSpPr txBox="1"/>
          <p:nvPr/>
        </p:nvSpPr>
        <p:spPr>
          <a:xfrm>
            <a:off x="724803" y="2014750"/>
            <a:ext cx="2512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725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Odotettu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hyöty</a:t>
            </a:r>
            <a:endParaRPr lang="en-FI" sz="18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D0E41-75B9-EE50-5FAE-3914345EEB78}"/>
              </a:ext>
            </a:extLst>
          </p:cNvPr>
          <p:cNvSpPr txBox="1"/>
          <p:nvPr/>
        </p:nvSpPr>
        <p:spPr>
          <a:xfrm>
            <a:off x="8131009" y="2014750"/>
            <a:ext cx="2313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72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Oma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kokemus</a:t>
            </a:r>
            <a:endParaRPr lang="en-FI" sz="18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BE602-FE84-29DE-06C3-1F7D443F2F9E}"/>
              </a:ext>
            </a:extLst>
          </p:cNvPr>
          <p:cNvSpPr txBox="1"/>
          <p:nvPr/>
        </p:nvSpPr>
        <p:spPr>
          <a:xfrm>
            <a:off x="724803" y="3644557"/>
            <a:ext cx="26771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Kiinassa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AI:lta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odotetaan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vaurastumista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USA:ssa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alan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johtajat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varoittavat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myös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työn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katoamisesta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Uusi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mahdollisuus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vai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uhka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omalle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asemalle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?</a:t>
            </a:r>
            <a:endParaRPr lang="en-FI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572AF4-5EBB-E117-84FA-BDAD8AED1B69}"/>
              </a:ext>
            </a:extLst>
          </p:cNvPr>
          <p:cNvSpPr txBox="1"/>
          <p:nvPr/>
        </p:nvSpPr>
        <p:spPr>
          <a:xfrm>
            <a:off x="629837" y="5642686"/>
            <a:ext cx="8011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Pelottaako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enemmän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jäädä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AI-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junasta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vai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menettää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oma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paikkansa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?</a:t>
            </a:r>
            <a:endParaRPr lang="en-FI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4CB576-8702-43D5-B8D8-47C6DF9188DA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Ipsos 2026, s. 27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Melbourne / KPMG 2025, s. 21, 55–57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Kiina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USA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eivät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edusta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koko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Aasiaa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länttä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myös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maiden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sisällä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on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eroja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9C5F6-BA7D-020C-3DF6-5A62A93B2E41}"/>
              </a:ext>
            </a:extLst>
          </p:cNvPr>
          <p:cNvSpPr txBox="1"/>
          <p:nvPr/>
        </p:nvSpPr>
        <p:spPr>
          <a:xfrm>
            <a:off x="724803" y="2384082"/>
            <a:ext cx="2588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>
                <a:solidFill>
                  <a:schemeClr val="tx1"/>
                </a:solidFill>
                <a:effectLst/>
                <a:latin typeface="+mn-lt"/>
              </a:rPr>
              <a:t>Odottaa AI:n parantavan maan taloutta:</a:t>
            </a:r>
            <a:endParaRPr lang="en-FI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AE0FCD-9708-2618-3AF8-A3B30289325C}"/>
              </a:ext>
            </a:extLst>
          </p:cNvPr>
          <p:cNvSpPr txBox="1"/>
          <p:nvPr/>
        </p:nvSpPr>
        <p:spPr>
          <a:xfrm>
            <a:off x="672799" y="3100881"/>
            <a:ext cx="237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Kiina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77 % · USA 24 %</a:t>
            </a:r>
            <a:endParaRPr lang="en-FI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B1E6F4-365E-E12D-586A-7C4B782E9D84}"/>
              </a:ext>
            </a:extLst>
          </p:cNvPr>
          <p:cNvSpPr txBox="1"/>
          <p:nvPr/>
        </p:nvSpPr>
        <p:spPr>
          <a:xfrm>
            <a:off x="4243726" y="3649526"/>
            <a:ext cx="29544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Kiinassa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hallintoon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teknologiayhtiöihin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luotetaan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AI:n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käyttäjinä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paljon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USA:ta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enemmän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Uskotaanko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hyödyn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jakautuvan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myös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itselle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?</a:t>
            </a:r>
            <a:endParaRPr lang="en-FI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823F82-EDA8-A17D-0437-87EE793D5FD8}"/>
              </a:ext>
            </a:extLst>
          </p:cNvPr>
          <p:cNvSpPr txBox="1"/>
          <p:nvPr/>
        </p:nvSpPr>
        <p:spPr>
          <a:xfrm>
            <a:off x="4243726" y="2359478"/>
            <a:ext cx="33834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Luottamus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siihen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että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AI:ta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käytetään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yleiseksi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hyväksi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endParaRPr lang="en-FI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A73332-66EF-57F9-5888-587FF43A5CE1}"/>
              </a:ext>
            </a:extLst>
          </p:cNvPr>
          <p:cNvSpPr txBox="1"/>
          <p:nvPr/>
        </p:nvSpPr>
        <p:spPr>
          <a:xfrm>
            <a:off x="4241745" y="3027799"/>
            <a:ext cx="3799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Kiina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b="1" dirty="0"/>
              <a:t>96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% · USA </a:t>
            </a:r>
            <a:r>
              <a:rPr lang="en-FI" b="1" dirty="0"/>
              <a:t>58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%</a:t>
            </a:r>
            <a:r>
              <a:rPr lang="en-FI" b="1" dirty="0"/>
              <a:t> · Suomi 57 %</a:t>
            </a:r>
            <a:endParaRPr lang="en-FI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645378-B46D-9460-77E5-54F4F5EB6C42}"/>
              </a:ext>
            </a:extLst>
          </p:cNvPr>
          <p:cNvSpPr txBox="1"/>
          <p:nvPr/>
        </p:nvSpPr>
        <p:spPr>
          <a:xfrm>
            <a:off x="8040002" y="3720291"/>
            <a:ext cx="3539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Kiinassa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AI on jo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useamman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käytössä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Oma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hyöty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voi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ruokkia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luottamusta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Huono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ensikokeilu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taas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voi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jättää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aivan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toisen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kuvan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162891-6C12-7BCE-44E8-909943D46D8C}"/>
              </a:ext>
            </a:extLst>
          </p:cNvPr>
          <p:cNvSpPr txBox="1"/>
          <p:nvPr/>
        </p:nvSpPr>
        <p:spPr>
          <a:xfrm>
            <a:off x="8040002" y="2389762"/>
            <a:ext cx="3218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Käyttää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AI:ta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vähintään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muutaman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kuukauden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välein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endParaRPr lang="en-FI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5775EA-425E-D3EA-C5E8-7C10D5F6C018}"/>
              </a:ext>
            </a:extLst>
          </p:cNvPr>
          <p:cNvSpPr txBox="1"/>
          <p:nvPr/>
        </p:nvSpPr>
        <p:spPr>
          <a:xfrm>
            <a:off x="8040002" y="3030413"/>
            <a:ext cx="251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Kiina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89 % · USA 53 %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293561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D84F3-4E3E-9C0C-D5CA-9B7F4BC9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50307F-9DBF-9DB1-860F-E82E34874F5D}"/>
              </a:ext>
            </a:extLst>
          </p:cNvPr>
          <p:cNvCxnSpPr>
            <a:cxnSpLocks/>
          </p:cNvCxnSpPr>
          <p:nvPr/>
        </p:nvCxnSpPr>
        <p:spPr>
          <a:xfrm>
            <a:off x="398696" y="2834207"/>
            <a:ext cx="10942464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DE801204-D3F7-FA16-85DC-6F56BD376ECB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pelisääntöjä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etsitään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yhä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C953C-A62D-4876-A294-376B953DDAEA}"/>
              </a:ext>
            </a:extLst>
          </p:cNvPr>
          <p:cNvSpPr txBox="1"/>
          <p:nvPr/>
        </p:nvSpPr>
        <p:spPr>
          <a:xfrm>
            <a:off x="274319" y="1047868"/>
            <a:ext cx="1122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Valven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linja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Steamissa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vaihtunut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latin typeface="Segoe UI" panose="020B0502040204020203" pitchFamily="34" charset="0"/>
                <a:cs typeface="Segoe UI" panose="020B0502040204020203" pitchFamily="34" charset="0"/>
              </a:rPr>
              <a:t>oikeusepävarmuudesta</a:t>
            </a:r>
            <a:r>
              <a:rPr lang="en-FI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latin typeface="Segoe UI" panose="020B0502040204020203" pitchFamily="34" charset="0"/>
                <a:cs typeface="Segoe UI" panose="020B0502040204020203" pitchFamily="34" charset="0"/>
              </a:rPr>
              <a:t>käytännön</a:t>
            </a:r>
            <a:r>
              <a:rPr lang="en-FI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latin typeface="Segoe UI" panose="020B0502040204020203" pitchFamily="34" charset="0"/>
                <a:cs typeface="Segoe UI" panose="020B0502040204020203" pitchFamily="34" charset="0"/>
              </a:rPr>
              <a:t>rajanvetoon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6E21D-9670-1489-6DDE-C28F8B396AE2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Valven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lausunto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2023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Steamworks 2024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Steamworksin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nykyohje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FFE82-1654-1CF3-D61A-8F48577F3F4D}"/>
              </a:ext>
            </a:extLst>
          </p:cNvPr>
          <p:cNvSpPr txBox="1"/>
          <p:nvPr/>
        </p:nvSpPr>
        <p:spPr>
          <a:xfrm flipH="1">
            <a:off x="827727" y="2371479"/>
            <a:ext cx="758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spc="-150" dirty="0">
                <a:solidFill>
                  <a:schemeClr val="tx1"/>
                </a:solidFill>
                <a:effectLst/>
                <a:latin typeface="+mn-lt"/>
              </a:rPr>
              <a:t>2023</a:t>
            </a:r>
            <a:endParaRPr lang="en-FI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3941D9-567F-D80A-B851-5010105F89DF}"/>
              </a:ext>
            </a:extLst>
          </p:cNvPr>
          <p:cNvSpPr txBox="1"/>
          <p:nvPr/>
        </p:nvSpPr>
        <p:spPr>
          <a:xfrm>
            <a:off x="4685758" y="2371479"/>
            <a:ext cx="648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spc="-150" dirty="0">
                <a:solidFill>
                  <a:schemeClr val="tx1"/>
                </a:solidFill>
                <a:effectLst/>
                <a:latin typeface="+mn-lt"/>
              </a:rPr>
              <a:t>2024</a:t>
            </a:r>
            <a:endParaRPr lang="en-FI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D1254A-204D-BF9E-9FCD-FEA1522F819D}"/>
              </a:ext>
            </a:extLst>
          </p:cNvPr>
          <p:cNvSpPr txBox="1"/>
          <p:nvPr/>
        </p:nvSpPr>
        <p:spPr>
          <a:xfrm>
            <a:off x="8798391" y="2371479"/>
            <a:ext cx="696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spc="-150" dirty="0" err="1">
                <a:solidFill>
                  <a:schemeClr val="tx1"/>
                </a:solidFill>
                <a:effectLst/>
                <a:latin typeface="+mn-lt"/>
              </a:rPr>
              <a:t>Nyt</a:t>
            </a:r>
            <a:endParaRPr lang="en-FI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332B39-B01D-560A-E834-B7C0484088BD}"/>
              </a:ext>
            </a:extLst>
          </p:cNvPr>
          <p:cNvSpPr txBox="1"/>
          <p:nvPr/>
        </p:nvSpPr>
        <p:spPr>
          <a:xfrm>
            <a:off x="827727" y="2907703"/>
            <a:ext cx="3179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4650"/>
              </a:spcBef>
              <a:spcAft>
                <a:spcPts val="1350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Epävarmuus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esti</a:t>
            </a:r>
            <a:r>
              <a:rPr lang="en-FI" b="1" dirty="0"/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julkaisuja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sz="2475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89DD1-558A-50AD-7D10-0C394FF6B587}"/>
              </a:ext>
            </a:extLst>
          </p:cNvPr>
          <p:cNvSpPr txBox="1"/>
          <p:nvPr/>
        </p:nvSpPr>
        <p:spPr>
          <a:xfrm>
            <a:off x="4685758" y="2907703"/>
            <a:ext cx="3279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4650"/>
              </a:spcBef>
              <a:spcAft>
                <a:spcPts val="1350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Kerro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miten</a:t>
            </a:r>
            <a:r>
              <a:rPr lang="en-FI" b="1" dirty="0"/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käytät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AI:ta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sz="2475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89F88B-A4AB-DC55-DEA9-01312DF833E0}"/>
              </a:ext>
            </a:extLst>
          </p:cNvPr>
          <p:cNvSpPr txBox="1"/>
          <p:nvPr/>
        </p:nvSpPr>
        <p:spPr>
          <a:xfrm>
            <a:off x="8798391" y="2907703"/>
            <a:ext cx="2638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4650"/>
              </a:spcBef>
              <a:spcAft>
                <a:spcPts val="1350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Mitä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päätyy</a:t>
            </a:r>
            <a:r>
              <a:rPr lang="en-FI" b="1" dirty="0"/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pelaajalle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?</a:t>
            </a:r>
            <a:endParaRPr lang="en-FI" sz="2475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080907-A2B9-67BD-D4EA-6D857A9C0715}"/>
              </a:ext>
            </a:extLst>
          </p:cNvPr>
          <p:cNvSpPr txBox="1"/>
          <p:nvPr/>
        </p:nvSpPr>
        <p:spPr>
          <a:xfrm>
            <a:off x="827727" y="3580966"/>
            <a:ext cx="342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AI-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sisältö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johti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hylkäyksiin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kun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oikeuksia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voitu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varmistaa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E7D39D-31F8-461A-8AB7-616D4392F23E}"/>
              </a:ext>
            </a:extLst>
          </p:cNvPr>
          <p:cNvSpPr txBox="1"/>
          <p:nvPr/>
        </p:nvSpPr>
        <p:spPr>
          <a:xfrm>
            <a:off x="4685758" y="3580966"/>
            <a:ext cx="3387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AI-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sisällölle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ilmoitusmenettely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Pelatessa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syntyvälle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sisällölle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myös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suojaukset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C1C6AC-6122-D3B0-7B9E-D0B4317D5FCE}"/>
              </a:ext>
            </a:extLst>
          </p:cNvPr>
          <p:cNvSpPr txBox="1"/>
          <p:nvPr/>
        </p:nvSpPr>
        <p:spPr>
          <a:xfrm>
            <a:off x="8763722" y="3579566"/>
            <a:ext cx="31798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Nykyohje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keskittyy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pelin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sisältöön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Työkalujen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yleiset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tehokkuushyödyt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erotetaan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siitä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2CBC28-77E1-8149-62FE-4486CE6F377F}"/>
              </a:ext>
            </a:extLst>
          </p:cNvPr>
          <p:cNvSpPr txBox="1"/>
          <p:nvPr/>
        </p:nvSpPr>
        <p:spPr>
          <a:xfrm>
            <a:off x="827727" y="5305560"/>
            <a:ext cx="7461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Pelkkä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kyllä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tai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ei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ei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riitä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 Raja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pitää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myös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pystyä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valvomaan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1E737FF-A95E-33E0-3A00-CC0D79744E98}"/>
              </a:ext>
            </a:extLst>
          </p:cNvPr>
          <p:cNvSpPr/>
          <p:nvPr/>
        </p:nvSpPr>
        <p:spPr>
          <a:xfrm>
            <a:off x="1005231" y="2716548"/>
            <a:ext cx="216858" cy="2168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FB0275E-C1DA-93EA-50E7-B98547AB5BEB}"/>
              </a:ext>
            </a:extLst>
          </p:cNvPr>
          <p:cNvSpPr/>
          <p:nvPr/>
        </p:nvSpPr>
        <p:spPr>
          <a:xfrm>
            <a:off x="4840686" y="2734574"/>
            <a:ext cx="216858" cy="2168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A1E520B-2A07-6409-7083-4FAE1C840A14}"/>
              </a:ext>
            </a:extLst>
          </p:cNvPr>
          <p:cNvSpPr/>
          <p:nvPr/>
        </p:nvSpPr>
        <p:spPr>
          <a:xfrm>
            <a:off x="8929850" y="2729057"/>
            <a:ext cx="216858" cy="2168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34675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1E570-A555-44FA-A7FB-B06AEB83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66: Amsterdam | Panache - Jeux numériques">
            <a:extLst>
              <a:ext uri="{FF2B5EF4-FFF2-40B4-BE49-F238E27FC236}">
                <a16:creationId xmlns:a16="http://schemas.microsoft.com/office/drawing/2014/main" id="{C449368D-251B-DF86-3107-C48682FB2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48156" cy="689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84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0A14-166C-56B1-EEF3-BD731C8B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66: Amsterdam | Panache - Jeux numériques">
            <a:extLst>
              <a:ext uri="{FF2B5EF4-FFF2-40B4-BE49-F238E27FC236}">
                <a16:creationId xmlns:a16="http://schemas.microsoft.com/office/drawing/2014/main" id="{C4E09124-4AA6-EBCA-DC92-6DD5DB167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48156" cy="68991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EBC0DF-D698-3F9A-44B1-AE962B27C2CB}"/>
              </a:ext>
            </a:extLst>
          </p:cNvPr>
          <p:cNvSpPr/>
          <p:nvPr/>
        </p:nvSpPr>
        <p:spPr>
          <a:xfrm>
            <a:off x="6704359" y="5881705"/>
            <a:ext cx="5324388" cy="804044"/>
          </a:xfrm>
          <a:custGeom>
            <a:avLst/>
            <a:gdLst>
              <a:gd name="csX0" fmla="*/ 0 w 5324388"/>
              <a:gd name="csY0" fmla="*/ 0 h 804044"/>
              <a:gd name="csX1" fmla="*/ 5324388 w 5324388"/>
              <a:gd name="csY1" fmla="*/ 0 h 804044"/>
              <a:gd name="csX2" fmla="*/ 5324388 w 5324388"/>
              <a:gd name="csY2" fmla="*/ 804044 h 804044"/>
              <a:gd name="csX3" fmla="*/ 0 w 5324388"/>
              <a:gd name="csY3" fmla="*/ 804044 h 804044"/>
              <a:gd name="csX4" fmla="*/ 0 w 5324388"/>
              <a:gd name="csY4" fmla="*/ 0 h 804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4388" h="804044" fill="none" extrusionOk="0">
                <a:moveTo>
                  <a:pt x="0" y="0"/>
                </a:moveTo>
                <a:cubicBezTo>
                  <a:pt x="2349492" y="57912"/>
                  <a:pt x="4524832" y="-77563"/>
                  <a:pt x="5324388" y="0"/>
                </a:cubicBezTo>
                <a:cubicBezTo>
                  <a:pt x="5321633" y="210944"/>
                  <a:pt x="5318155" y="595015"/>
                  <a:pt x="5324388" y="804044"/>
                </a:cubicBezTo>
                <a:cubicBezTo>
                  <a:pt x="3728341" y="937971"/>
                  <a:pt x="1229150" y="905221"/>
                  <a:pt x="0" y="804044"/>
                </a:cubicBezTo>
                <a:cubicBezTo>
                  <a:pt x="-39265" y="603329"/>
                  <a:pt x="-44884" y="329410"/>
                  <a:pt x="0" y="0"/>
                </a:cubicBezTo>
                <a:close/>
              </a:path>
              <a:path w="5324388" h="804044" stroke="0" extrusionOk="0">
                <a:moveTo>
                  <a:pt x="0" y="0"/>
                </a:moveTo>
                <a:cubicBezTo>
                  <a:pt x="2566803" y="8342"/>
                  <a:pt x="3752177" y="6445"/>
                  <a:pt x="5324388" y="0"/>
                </a:cubicBezTo>
                <a:cubicBezTo>
                  <a:pt x="5301784" y="273755"/>
                  <a:pt x="5356384" y="637582"/>
                  <a:pt x="5324388" y="804044"/>
                </a:cubicBezTo>
                <a:cubicBezTo>
                  <a:pt x="3566951" y="807806"/>
                  <a:pt x="938260" y="715978"/>
                  <a:pt x="0" y="804044"/>
                </a:cubicBezTo>
                <a:cubicBezTo>
                  <a:pt x="35304" y="609762"/>
                  <a:pt x="34882" y="242251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1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666: Amsterdam</a:t>
            </a:r>
            <a:endParaRPr lang="en-FI" sz="28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E2C9D-BF1F-EADA-51F1-090CB2F1C89B}"/>
              </a:ext>
            </a:extLst>
          </p:cNvPr>
          <p:cNvSpPr txBox="1"/>
          <p:nvPr/>
        </p:nvSpPr>
        <p:spPr>
          <a:xfrm>
            <a:off x="110507" y="6441794"/>
            <a:ext cx="6129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0" i="0" dirty="0">
                <a:solidFill>
                  <a:srgbClr val="F0EAD9"/>
                </a:solidFill>
                <a:effectLst/>
                <a:latin typeface="+mn-lt"/>
              </a:rPr>
              <a:t>Kuva: Panache Digital Games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0B3038-9EC9-429D-C17F-2BE77871C23F}"/>
              </a:ext>
            </a:extLst>
          </p:cNvPr>
          <p:cNvSpPr/>
          <p:nvPr/>
        </p:nvSpPr>
        <p:spPr>
          <a:xfrm>
            <a:off x="269612" y="309355"/>
            <a:ext cx="7210267" cy="804044"/>
          </a:xfrm>
          <a:custGeom>
            <a:avLst/>
            <a:gdLst>
              <a:gd name="csX0" fmla="*/ 0 w 7210267"/>
              <a:gd name="csY0" fmla="*/ 0 h 804044"/>
              <a:gd name="csX1" fmla="*/ 7210267 w 7210267"/>
              <a:gd name="csY1" fmla="*/ 0 h 804044"/>
              <a:gd name="csX2" fmla="*/ 7210267 w 7210267"/>
              <a:gd name="csY2" fmla="*/ 804044 h 804044"/>
              <a:gd name="csX3" fmla="*/ 0 w 7210267"/>
              <a:gd name="csY3" fmla="*/ 804044 h 804044"/>
              <a:gd name="csX4" fmla="*/ 0 w 7210267"/>
              <a:gd name="csY4" fmla="*/ 0 h 804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10267" h="804044" fill="none" extrusionOk="0">
                <a:moveTo>
                  <a:pt x="0" y="0"/>
                </a:moveTo>
                <a:cubicBezTo>
                  <a:pt x="2032316" y="57912"/>
                  <a:pt x="3719902" y="-77563"/>
                  <a:pt x="7210267" y="0"/>
                </a:cubicBezTo>
                <a:cubicBezTo>
                  <a:pt x="7207512" y="210944"/>
                  <a:pt x="7204034" y="595015"/>
                  <a:pt x="7210267" y="804044"/>
                </a:cubicBezTo>
                <a:cubicBezTo>
                  <a:pt x="5725464" y="937971"/>
                  <a:pt x="1117786" y="905221"/>
                  <a:pt x="0" y="804044"/>
                </a:cubicBezTo>
                <a:cubicBezTo>
                  <a:pt x="-39265" y="603329"/>
                  <a:pt x="-44884" y="329410"/>
                  <a:pt x="0" y="0"/>
                </a:cubicBezTo>
                <a:close/>
              </a:path>
              <a:path w="7210267" h="804044" stroke="0" extrusionOk="0">
                <a:moveTo>
                  <a:pt x="0" y="0"/>
                </a:moveTo>
                <a:cubicBezTo>
                  <a:pt x="934889" y="8342"/>
                  <a:pt x="4734513" y="6445"/>
                  <a:pt x="7210267" y="0"/>
                </a:cubicBezTo>
                <a:cubicBezTo>
                  <a:pt x="7187663" y="273755"/>
                  <a:pt x="7242263" y="637582"/>
                  <a:pt x="7210267" y="804044"/>
                </a:cubicBezTo>
                <a:cubicBezTo>
                  <a:pt x="4858065" y="807806"/>
                  <a:pt x="1644697" y="715978"/>
                  <a:pt x="0" y="804044"/>
                </a:cubicBezTo>
                <a:cubicBezTo>
                  <a:pt x="35304" y="609762"/>
                  <a:pt x="34882" y="242251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arina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kolmessa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osassa</a:t>
            </a:r>
            <a:endParaRPr lang="en-FI" sz="28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5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4A47-DD61-F3B0-B734-9ECD80CC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87EF0F-4837-50D0-70B3-C5358E93FD3C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Tätä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peliä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odotettiin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33207-DBD2-376D-FD73-3B7D78C93622}"/>
              </a:ext>
            </a:extLst>
          </p:cNvPr>
          <p:cNvSpPr txBox="1"/>
          <p:nvPr/>
        </p:nvSpPr>
        <p:spPr>
          <a:xfrm>
            <a:off x="274319" y="1047868"/>
            <a:ext cx="1122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 err="1">
                <a:latin typeface="Segoe UI" panose="020B0502040204020203" pitchFamily="34" charset="0"/>
                <a:cs typeface="Segoe UI" panose="020B0502040204020203" pitchFamily="34" charset="0"/>
              </a:rPr>
              <a:t>Assasin’s</a:t>
            </a:r>
            <a:r>
              <a:rPr lang="en-FI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latin typeface="Segoe UI" panose="020B0502040204020203" pitchFamily="34" charset="0"/>
                <a:cs typeface="Segoe UI" panose="020B0502040204020203" pitchFamily="34" charset="0"/>
              </a:rPr>
              <a:t>Creedin</a:t>
            </a:r>
            <a:r>
              <a:rPr lang="en-FI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latin typeface="Segoe UI" panose="020B0502040204020203" pitchFamily="34" charset="0"/>
                <a:cs typeface="Segoe UI" panose="020B0502040204020203" pitchFamily="34" charset="0"/>
              </a:rPr>
              <a:t>luojalta</a:t>
            </a:r>
            <a:r>
              <a:rPr lang="en-FI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latin typeface="Segoe UI" panose="020B0502040204020203" pitchFamily="34" charset="0"/>
                <a:cs typeface="Segoe UI" panose="020B0502040204020203" pitchFamily="34" charset="0"/>
              </a:rPr>
              <a:t>jotain</a:t>
            </a:r>
            <a:r>
              <a:rPr lang="en-FI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latin typeface="Segoe UI" panose="020B0502040204020203" pitchFamily="34" charset="0"/>
                <a:cs typeface="Segoe UI" panose="020B0502040204020203" pitchFamily="34" charset="0"/>
              </a:rPr>
              <a:t>uutta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F425F-92A5-98B2-0B82-27353A467CE5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PC Gamer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Andrea Shearon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GamesRadar+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Ashley Bardhan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E720DE-5BA4-0347-F541-ADC9EFE6863C}"/>
              </a:ext>
            </a:extLst>
          </p:cNvPr>
          <p:cNvSpPr txBox="1"/>
          <p:nvPr/>
        </p:nvSpPr>
        <p:spPr>
          <a:xfrm>
            <a:off x="274318" y="2211157"/>
            <a:ext cx="2652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02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Andrea Shearon</a:t>
            </a:r>
            <a:endParaRPr lang="en-FI" sz="2175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6AFF0-BBC2-2BDD-8499-3AF840A8F97D}"/>
              </a:ext>
            </a:extLst>
          </p:cNvPr>
          <p:cNvSpPr txBox="1"/>
          <p:nvPr/>
        </p:nvSpPr>
        <p:spPr>
          <a:xfrm>
            <a:off x="274319" y="2580489"/>
            <a:ext cx="2018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PC Gamer</a:t>
            </a:r>
            <a:endParaRPr lang="en-FI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D47E84-87EA-DF6E-BA33-14CDE2A95D87}"/>
              </a:ext>
            </a:extLst>
          </p:cNvPr>
          <p:cNvSpPr txBox="1"/>
          <p:nvPr/>
        </p:nvSpPr>
        <p:spPr>
          <a:xfrm>
            <a:off x="274319" y="3024841"/>
            <a:ext cx="382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Traileri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sai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lataamaan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demon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heti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2E305-BD27-5880-AD67-8D6DE180878A}"/>
              </a:ext>
            </a:extLst>
          </p:cNvPr>
          <p:cNvSpPr txBox="1"/>
          <p:nvPr/>
        </p:nvSpPr>
        <p:spPr>
          <a:xfrm>
            <a:off x="274319" y="3429000"/>
            <a:ext cx="32476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/>
              <a:t>Assassin’s </a:t>
            </a:r>
            <a:r>
              <a:rPr lang="en-FI" dirty="0" err="1"/>
              <a:t>Creedin</a:t>
            </a:r>
            <a:r>
              <a:rPr lang="en-FI" dirty="0"/>
              <a:t> </a:t>
            </a:r>
            <a:r>
              <a:rPr lang="en-FI" dirty="0" err="1"/>
              <a:t>luojan</a:t>
            </a:r>
            <a:r>
              <a:rPr lang="en-FI" dirty="0"/>
              <a:t> </a:t>
            </a:r>
            <a:r>
              <a:rPr lang="en-FI" dirty="0" err="1"/>
              <a:t>pitkään</a:t>
            </a:r>
            <a:r>
              <a:rPr lang="en-FI" dirty="0"/>
              <a:t> </a:t>
            </a:r>
            <a:r>
              <a:rPr lang="en-FI" dirty="0" err="1"/>
              <a:t>odotettu</a:t>
            </a:r>
            <a:r>
              <a:rPr lang="en-FI" dirty="0"/>
              <a:t> </a:t>
            </a:r>
            <a:r>
              <a:rPr lang="en-FI" dirty="0" err="1"/>
              <a:t>projekti</a:t>
            </a:r>
            <a:r>
              <a:rPr lang="en-FI" dirty="0"/>
              <a:t> </a:t>
            </a:r>
            <a:r>
              <a:rPr lang="en-FI" dirty="0" err="1"/>
              <a:t>palasi</a:t>
            </a:r>
            <a:r>
              <a:rPr lang="en-FI" dirty="0"/>
              <a:t> </a:t>
            </a:r>
            <a:r>
              <a:rPr lang="en-FI" dirty="0" err="1"/>
              <a:t>julkisuuteen</a:t>
            </a:r>
            <a:r>
              <a:rPr lang="en-FI" dirty="0"/>
              <a:t>. </a:t>
            </a:r>
            <a:r>
              <a:rPr lang="en-FI" dirty="0" err="1"/>
              <a:t>Noitapäähenkilö</a:t>
            </a:r>
            <a:r>
              <a:rPr lang="en-FI" dirty="0"/>
              <a:t> </a:t>
            </a:r>
            <a:r>
              <a:rPr lang="en-FI" dirty="0" err="1"/>
              <a:t>ja</a:t>
            </a:r>
            <a:r>
              <a:rPr lang="en-FI" dirty="0"/>
              <a:t> </a:t>
            </a:r>
            <a:r>
              <a:rPr lang="en-FI" dirty="0" err="1"/>
              <a:t>trailerin</a:t>
            </a:r>
            <a:r>
              <a:rPr lang="en-FI" dirty="0"/>
              <a:t> </a:t>
            </a:r>
            <a:r>
              <a:rPr lang="en-FI" dirty="0" err="1"/>
              <a:t>tunnelma</a:t>
            </a:r>
            <a:r>
              <a:rPr lang="en-FI" dirty="0"/>
              <a:t> </a:t>
            </a:r>
            <a:r>
              <a:rPr lang="en-FI" dirty="0" err="1"/>
              <a:t>saivat</a:t>
            </a:r>
            <a:r>
              <a:rPr lang="en-FI" dirty="0"/>
              <a:t> </a:t>
            </a:r>
            <a:r>
              <a:rPr lang="en-FI" dirty="0" err="1"/>
              <a:t>Shearonin</a:t>
            </a:r>
            <a:r>
              <a:rPr lang="en-FI" dirty="0"/>
              <a:t> </a:t>
            </a:r>
            <a:r>
              <a:rPr lang="en-FI" dirty="0" err="1"/>
              <a:t>kokeilemaan</a:t>
            </a:r>
            <a:r>
              <a:rPr lang="en-FI" dirty="0"/>
              <a:t> </a:t>
            </a:r>
            <a:r>
              <a:rPr lang="en-FI" dirty="0" err="1"/>
              <a:t>peliä</a:t>
            </a:r>
            <a:r>
              <a:rPr lang="en-FI" dirty="0"/>
              <a:t> saman </a:t>
            </a:r>
            <a:r>
              <a:rPr lang="en-FI" dirty="0" err="1"/>
              <a:t>tien</a:t>
            </a:r>
            <a:r>
              <a:rPr lang="en-FI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3A42F-1E2E-1AB3-3362-CFFA82AF167B}"/>
              </a:ext>
            </a:extLst>
          </p:cNvPr>
          <p:cNvSpPr txBox="1"/>
          <p:nvPr/>
        </p:nvSpPr>
        <p:spPr>
          <a:xfrm>
            <a:off x="482119" y="5647337"/>
            <a:ext cx="6404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Kiinnostus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peliin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oli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olemassa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jo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ennen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AI-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keskustelua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E2ADAD-8596-135A-054B-1B7C21D211C4}"/>
              </a:ext>
            </a:extLst>
          </p:cNvPr>
          <p:cNvSpPr txBox="1"/>
          <p:nvPr/>
        </p:nvSpPr>
        <p:spPr>
          <a:xfrm>
            <a:off x="6242476" y="2211157"/>
            <a:ext cx="2652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02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Ashley Bardhan</a:t>
            </a:r>
            <a:endParaRPr lang="en-FI" sz="2175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83B9DA-F22D-06BA-28AD-D8A96E79CD7B}"/>
              </a:ext>
            </a:extLst>
          </p:cNvPr>
          <p:cNvSpPr txBox="1"/>
          <p:nvPr/>
        </p:nvSpPr>
        <p:spPr>
          <a:xfrm>
            <a:off x="6242477" y="2580489"/>
            <a:ext cx="2018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GamesRadar+</a:t>
            </a:r>
            <a:endParaRPr lang="en-FI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E21BAB-8EFC-72E1-76E2-74C954DED3DF}"/>
              </a:ext>
            </a:extLst>
          </p:cNvPr>
          <p:cNvSpPr txBox="1"/>
          <p:nvPr/>
        </p:nvSpPr>
        <p:spPr>
          <a:xfrm>
            <a:off x="6242476" y="3024841"/>
            <a:ext cx="5129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b="1" dirty="0" err="1"/>
              <a:t>Poikkeuksellisen</a:t>
            </a:r>
            <a:r>
              <a:rPr lang="en-FI" b="1" dirty="0"/>
              <a:t> </a:t>
            </a:r>
            <a:r>
              <a:rPr lang="en-FI" b="1" dirty="0" err="1"/>
              <a:t>kiinnostava</a:t>
            </a:r>
            <a:r>
              <a:rPr lang="en-FI" b="1" dirty="0"/>
              <a:t> </a:t>
            </a:r>
            <a:r>
              <a:rPr lang="en-FI" b="1" dirty="0" err="1"/>
              <a:t>uusi</a:t>
            </a:r>
            <a:r>
              <a:rPr lang="en-FI" b="1" dirty="0"/>
              <a:t> </a:t>
            </a:r>
            <a:r>
              <a:rPr lang="en-FI" b="1" dirty="0" err="1"/>
              <a:t>pelimaailma</a:t>
            </a:r>
            <a:r>
              <a:rPr lang="en-FI" b="1" dirty="0"/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76619-9960-317C-A333-64355811E909}"/>
              </a:ext>
            </a:extLst>
          </p:cNvPr>
          <p:cNvSpPr txBox="1"/>
          <p:nvPr/>
        </p:nvSpPr>
        <p:spPr>
          <a:xfrm>
            <a:off x="6242476" y="3429000"/>
            <a:ext cx="47606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 err="1"/>
              <a:t>Bardhanille</a:t>
            </a:r>
            <a:r>
              <a:rPr lang="en-FI" dirty="0"/>
              <a:t> </a:t>
            </a:r>
            <a:r>
              <a:rPr lang="en-FI" dirty="0" err="1"/>
              <a:t>tämä</a:t>
            </a:r>
            <a:r>
              <a:rPr lang="en-FI" dirty="0"/>
              <a:t> </a:t>
            </a:r>
            <a:r>
              <a:rPr lang="en-FI" dirty="0" err="1"/>
              <a:t>oli</a:t>
            </a:r>
            <a:r>
              <a:rPr lang="en-FI" dirty="0"/>
              <a:t> </a:t>
            </a:r>
            <a:r>
              <a:rPr lang="en-FI" dirty="0" err="1"/>
              <a:t>ensimmäinen</a:t>
            </a:r>
            <a:r>
              <a:rPr lang="en-FI" dirty="0"/>
              <a:t> </a:t>
            </a:r>
            <a:r>
              <a:rPr lang="en-FI" dirty="0" err="1"/>
              <a:t>tunnettuun</a:t>
            </a:r>
            <a:r>
              <a:rPr lang="en-FI" dirty="0"/>
              <a:t> </a:t>
            </a:r>
            <a:r>
              <a:rPr lang="en-FI" dirty="0" err="1"/>
              <a:t>tekijään</a:t>
            </a:r>
            <a:r>
              <a:rPr lang="en-FI" dirty="0"/>
              <a:t> </a:t>
            </a:r>
            <a:r>
              <a:rPr lang="en-FI" dirty="0" err="1"/>
              <a:t>liittyvä</a:t>
            </a:r>
            <a:r>
              <a:rPr lang="en-FI" dirty="0"/>
              <a:t> </a:t>
            </a:r>
            <a:r>
              <a:rPr lang="en-FI" dirty="0" err="1"/>
              <a:t>uusi</a:t>
            </a:r>
            <a:r>
              <a:rPr lang="en-FI" dirty="0"/>
              <a:t> </a:t>
            </a:r>
            <a:r>
              <a:rPr lang="en-FI" dirty="0" err="1"/>
              <a:t>pelisarja</a:t>
            </a:r>
            <a:r>
              <a:rPr lang="en-FI" dirty="0"/>
              <a:t> </a:t>
            </a:r>
            <a:r>
              <a:rPr lang="en-FI" dirty="0" err="1"/>
              <a:t>pitkään</a:t>
            </a:r>
            <a:r>
              <a:rPr lang="en-FI" dirty="0"/>
              <a:t> </a:t>
            </a:r>
            <a:r>
              <a:rPr lang="en-FI" dirty="0" err="1"/>
              <a:t>aikaan</a:t>
            </a:r>
            <a:r>
              <a:rPr lang="en-FI" dirty="0"/>
              <a:t>, </a:t>
            </a:r>
            <a:r>
              <a:rPr lang="en-FI" dirty="0" err="1"/>
              <a:t>josta</a:t>
            </a:r>
            <a:r>
              <a:rPr lang="en-FI" dirty="0"/>
              <a:t> </a:t>
            </a:r>
            <a:r>
              <a:rPr lang="en-FI" dirty="0" err="1"/>
              <a:t>hän</a:t>
            </a:r>
            <a:r>
              <a:rPr lang="en-FI" dirty="0"/>
              <a:t> </a:t>
            </a:r>
            <a:r>
              <a:rPr lang="en-FI" dirty="0" err="1"/>
              <a:t>todella</a:t>
            </a:r>
            <a:r>
              <a:rPr lang="en-FI" dirty="0"/>
              <a:t> </a:t>
            </a:r>
            <a:r>
              <a:rPr lang="en-FI" dirty="0" err="1"/>
              <a:t>innostui</a:t>
            </a:r>
            <a:r>
              <a:rPr lang="en-FI" dirty="0"/>
              <a:t>. Noa, </a:t>
            </a:r>
            <a:r>
              <a:rPr lang="en-FI" dirty="0" err="1"/>
              <a:t>synkkä</a:t>
            </a:r>
            <a:r>
              <a:rPr lang="en-FI" dirty="0"/>
              <a:t> </a:t>
            </a:r>
            <a:r>
              <a:rPr lang="en-FI" dirty="0" err="1"/>
              <a:t>huumori</a:t>
            </a:r>
            <a:r>
              <a:rPr lang="en-FI" dirty="0"/>
              <a:t> </a:t>
            </a:r>
            <a:r>
              <a:rPr lang="en-FI" dirty="0" err="1"/>
              <a:t>ja</a:t>
            </a:r>
            <a:r>
              <a:rPr lang="en-FI" dirty="0"/>
              <a:t> </a:t>
            </a:r>
            <a:r>
              <a:rPr lang="en-FI" dirty="0" err="1"/>
              <a:t>paluu</a:t>
            </a:r>
            <a:r>
              <a:rPr lang="en-FI" dirty="0"/>
              <a:t> </a:t>
            </a:r>
            <a:r>
              <a:rPr lang="en-FI" dirty="0" err="1"/>
              <a:t>vanhan</a:t>
            </a:r>
            <a:r>
              <a:rPr lang="en-FI" dirty="0"/>
              <a:t> Assassin’s </a:t>
            </a:r>
            <a:r>
              <a:rPr lang="en-FI" dirty="0" err="1"/>
              <a:t>Creedin</a:t>
            </a:r>
            <a:r>
              <a:rPr lang="en-FI" dirty="0"/>
              <a:t> </a:t>
            </a:r>
            <a:r>
              <a:rPr lang="en-FI" dirty="0" err="1"/>
              <a:t>tunnelmaan</a:t>
            </a:r>
            <a:r>
              <a:rPr lang="en-FI" dirty="0"/>
              <a:t> </a:t>
            </a:r>
            <a:r>
              <a:rPr lang="en-FI" dirty="0" err="1"/>
              <a:t>vetivät</a:t>
            </a:r>
            <a:r>
              <a:rPr lang="en-FI" dirty="0"/>
              <a:t> </a:t>
            </a:r>
            <a:r>
              <a:rPr lang="en-FI" dirty="0" err="1"/>
              <a:t>puoleensa</a:t>
            </a:r>
            <a:r>
              <a:rPr lang="en-FI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8410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2D7D-9043-8C2D-E9A5-3AFD41D2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CCE580-92C7-72B4-DB33-7326C6817011}"/>
              </a:ext>
            </a:extLst>
          </p:cNvPr>
          <p:cNvSpPr/>
          <p:nvPr/>
        </p:nvSpPr>
        <p:spPr>
          <a:xfrm>
            <a:off x="629837" y="2149489"/>
            <a:ext cx="8372611" cy="1239425"/>
          </a:xfrm>
          <a:prstGeom prst="rect">
            <a:avLst/>
          </a:prstGeom>
          <a:solidFill>
            <a:srgbClr val="DFDC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13F1E30-FC35-0227-CEA9-1ADD0111084C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Sitten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puhe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kääntyi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tekoälyyn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ABE8E-24EF-FF0B-E0DD-DDF09B449D7A}"/>
              </a:ext>
            </a:extLst>
          </p:cNvPr>
          <p:cNvSpPr txBox="1"/>
          <p:nvPr/>
        </p:nvSpPr>
        <p:spPr>
          <a:xfrm>
            <a:off x="274319" y="1047868"/>
            <a:ext cx="1122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Prologidemo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käytön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näkyviin</a:t>
            </a:r>
            <a:endParaRPr lang="en-FI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20BE0-843C-B3F4-3AA1-D4C611AD187F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GamesRadar+, Jordan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Gerblick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raportti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Panachen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lausunto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78CDF-34D6-433C-E60A-6F17DDD5EC01}"/>
              </a:ext>
            </a:extLst>
          </p:cNvPr>
          <p:cNvSpPr txBox="1"/>
          <p:nvPr/>
        </p:nvSpPr>
        <p:spPr>
          <a:xfrm>
            <a:off x="792890" y="2345588"/>
            <a:ext cx="80465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2400" b="1" i="0" dirty="0">
                <a:solidFill>
                  <a:schemeClr val="tx1"/>
                </a:solidFill>
                <a:effectLst/>
                <a:latin typeface="+mn-lt"/>
              </a:rPr>
              <a:t>“Assassin's Creed creator's new game is the latest to feature AI-generated assets its </a:t>
            </a:r>
            <a:r>
              <a:rPr lang="en-FI" sz="2400" b="1" i="0" dirty="0" err="1">
                <a:solidFill>
                  <a:schemeClr val="tx1"/>
                </a:solidFill>
                <a:effectLst/>
                <a:latin typeface="+mn-lt"/>
              </a:rPr>
              <a:t>devs</a:t>
            </a:r>
            <a:r>
              <a:rPr lang="en-FI" sz="2400" b="1" i="0" dirty="0">
                <a:solidFill>
                  <a:schemeClr val="tx1"/>
                </a:solidFill>
                <a:effectLst/>
                <a:latin typeface="+mn-lt"/>
              </a:rPr>
              <a:t> forgot to take out”</a:t>
            </a:r>
            <a:endParaRPr lang="en-FI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0BFC7C-682B-1CB6-6846-F16908930709}"/>
              </a:ext>
            </a:extLst>
          </p:cNvPr>
          <p:cNvSpPr txBox="1"/>
          <p:nvPr/>
        </p:nvSpPr>
        <p:spPr>
          <a:xfrm>
            <a:off x="833144" y="3901912"/>
            <a:ext cx="3673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AI-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sisältöä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päätyi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demoon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sz="2250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32DB6-162F-95ED-454E-29F1B1010F58}"/>
              </a:ext>
            </a:extLst>
          </p:cNvPr>
          <p:cNvSpPr txBox="1"/>
          <p:nvPr/>
        </p:nvSpPr>
        <p:spPr>
          <a:xfrm>
            <a:off x="6096724" y="3901912"/>
            <a:ext cx="4135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Tekotapa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nousi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arvioitavaksi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CAD6A-FEFB-7F2E-77F4-E2B7759DD279}"/>
              </a:ext>
            </a:extLst>
          </p:cNvPr>
          <p:cNvSpPr txBox="1"/>
          <p:nvPr/>
        </p:nvSpPr>
        <p:spPr>
          <a:xfrm>
            <a:off x="6177617" y="4450162"/>
            <a:ext cx="38114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700"/>
              </a:spcBef>
              <a:buNone/>
            </a:pP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AI-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epäilyt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herättivät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kritiikkiä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Pelin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kiinnostavuuden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rinnalle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nousi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kysymys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siitä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miten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se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oli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tehty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98C46B-4D6A-8B53-34C5-9913AF28A227}"/>
              </a:ext>
            </a:extLst>
          </p:cNvPr>
          <p:cNvSpPr txBox="1"/>
          <p:nvPr/>
        </p:nvSpPr>
        <p:spPr>
          <a:xfrm>
            <a:off x="837477" y="4399326"/>
            <a:ext cx="46302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Studio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vahvisti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AI:lla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tehtyjä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kuvia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pelin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muotokuvissa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markkinointimateriaalissa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dirty="0" err="1"/>
              <a:t>Studion</a:t>
            </a:r>
            <a:r>
              <a:rPr lang="en-FI" dirty="0"/>
              <a:t> </a:t>
            </a:r>
            <a:r>
              <a:rPr lang="en-FI" dirty="0" err="1"/>
              <a:t>mukaan</a:t>
            </a:r>
            <a:r>
              <a:rPr lang="en-FI" dirty="0"/>
              <a:t> </a:t>
            </a:r>
            <a:r>
              <a:rPr lang="en-FI" dirty="0" err="1"/>
              <a:t>varhaisia</a:t>
            </a:r>
            <a:r>
              <a:rPr lang="en-FI" dirty="0"/>
              <a:t> </a:t>
            </a:r>
            <a:r>
              <a:rPr lang="en-FI" dirty="0" err="1"/>
              <a:t>versioita</a:t>
            </a:r>
            <a:r>
              <a:rPr lang="en-FI" dirty="0"/>
              <a:t> </a:t>
            </a:r>
            <a:r>
              <a:rPr lang="en-FI" dirty="0" err="1"/>
              <a:t>oli</a:t>
            </a:r>
            <a:r>
              <a:rPr lang="en-FI" dirty="0"/>
              <a:t> </a:t>
            </a:r>
            <a:r>
              <a:rPr lang="en-FI" dirty="0" err="1"/>
              <a:t>jäänyt</a:t>
            </a:r>
            <a:r>
              <a:rPr lang="en-FI" dirty="0"/>
              <a:t> </a:t>
            </a:r>
            <a:r>
              <a:rPr lang="en-FI" dirty="0" err="1"/>
              <a:t>mukaan</a:t>
            </a:r>
            <a:r>
              <a:rPr lang="en-FI" dirty="0"/>
              <a:t> </a:t>
            </a:r>
            <a:r>
              <a:rPr lang="en-FI" dirty="0" err="1"/>
              <a:t>vahingossa</a:t>
            </a:r>
            <a:r>
              <a:rPr lang="en-FI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6145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EBF7-B1F8-1ABA-834C-A9490DC9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C36590F-444C-2A7F-64C8-A74600D588A8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Tekoälyn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tuotettu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materiaali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poistettiin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645BE-F534-06C2-331D-3C769141E1A9}"/>
              </a:ext>
            </a:extLst>
          </p:cNvPr>
          <p:cNvSpPr txBox="1"/>
          <p:nvPr/>
        </p:nvSpPr>
        <p:spPr>
          <a:xfrm>
            <a:off x="274319" y="1047868"/>
            <a:ext cx="1122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Tekoälyn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käyttö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herätti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vastustusta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tekijä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vastasi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mutta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vaikuttiko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se?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Poistuiko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epäluulo</a:t>
            </a:r>
            <a:r>
              <a:rPr lang="en-FI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8A077D-A1B6-2840-CE11-70DDFBCA07B7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fi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GamesRadar+, haastattelu ja Ashley Bardhanin kommentaari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E7864-F429-C840-E7C4-E577CDC269DC}"/>
              </a:ext>
            </a:extLst>
          </p:cNvPr>
          <p:cNvSpPr txBox="1"/>
          <p:nvPr/>
        </p:nvSpPr>
        <p:spPr>
          <a:xfrm>
            <a:off x="629837" y="1780687"/>
            <a:ext cx="245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725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Mitä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tekijä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kertoi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?</a:t>
            </a:r>
            <a:endParaRPr lang="en-FI" sz="2250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DB8BA-CAB3-0E16-187A-8161A72C7346}"/>
              </a:ext>
            </a:extLst>
          </p:cNvPr>
          <p:cNvSpPr txBox="1"/>
          <p:nvPr/>
        </p:nvSpPr>
        <p:spPr>
          <a:xfrm>
            <a:off x="629837" y="2296479"/>
            <a:ext cx="4522872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425"/>
              </a:spcAft>
              <a:buNone/>
            </a:pP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Patrice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Désilets’n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mukaan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AI:ta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oli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käytetty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lähinnä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konsepti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esituotantovaiheessa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indent="0" algn="l">
              <a:spcAft>
                <a:spcPts val="1425"/>
              </a:spcAft>
              <a:buNone/>
            </a:pP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Hän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kertoi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AI-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sisällön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olevan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poistettu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lupasi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ettei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AI:ta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enää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käytetä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FI" sz="2025" b="0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328B93-79EE-117B-40D8-D3D3DE31C260}"/>
              </a:ext>
            </a:extLst>
          </p:cNvPr>
          <p:cNvSpPr txBox="1"/>
          <p:nvPr/>
        </p:nvSpPr>
        <p:spPr>
          <a:xfrm>
            <a:off x="6596897" y="1780687"/>
            <a:ext cx="3556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72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Sama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toimittaja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uusi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ristiriita</a:t>
            </a:r>
            <a:endParaRPr lang="en-FI" sz="2250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E33B8-25A4-E73C-C808-6897A998AA37}"/>
              </a:ext>
            </a:extLst>
          </p:cNvPr>
          <p:cNvSpPr txBox="1"/>
          <p:nvPr/>
        </p:nvSpPr>
        <p:spPr>
          <a:xfrm>
            <a:off x="6596897" y="2441390"/>
            <a:ext cx="4198223" cy="1090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75"/>
              </a:spcAft>
              <a:buNone/>
            </a:pPr>
            <a:r>
              <a:rPr lang="en" sz="1800" b="1" i="0" dirty="0">
                <a:solidFill>
                  <a:schemeClr val="tx1"/>
                </a:solidFill>
                <a:effectLst/>
                <a:latin typeface="+mn-lt"/>
              </a:rPr>
              <a:t>“for me, 1666: Amsterdam will always have the stain of AI on it”</a:t>
            </a:r>
          </a:p>
          <a:p>
            <a:pPr marL="0" marR="0" indent="0" algn="l">
              <a:spcAft>
                <a:spcPts val="1425"/>
              </a:spcAft>
              <a:buNone/>
            </a:pP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Ashley Bardhan · GamesRadar+</a:t>
            </a:r>
            <a:endParaRPr lang="en-FI" sz="1575" b="0" i="0" dirty="0">
              <a:solidFill>
                <a:srgbClr val="66665C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D86635-FD96-14B6-DB06-3D6A70212FAA}"/>
              </a:ext>
            </a:extLst>
          </p:cNvPr>
          <p:cNvSpPr txBox="1"/>
          <p:nvPr/>
        </p:nvSpPr>
        <p:spPr>
          <a:xfrm>
            <a:off x="768139" y="5083273"/>
            <a:ext cx="7028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Jos AI-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sisältö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poistetaan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muuttaako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se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sinun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suhtautumistasi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?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180120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9C685-9145-F80C-D676-D76537B0D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air Obscur: Expedition 33 - Tomorrow comes">
            <a:extLst>
              <a:ext uri="{FF2B5EF4-FFF2-40B4-BE49-F238E27FC236}">
                <a16:creationId xmlns:a16="http://schemas.microsoft.com/office/drawing/2014/main" id="{A0E13056-59E8-12D7-F5C0-ECB9A5E90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75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921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EA32-9395-6034-F7D6-5149EDB4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air Obscur: Expedition 33 - Tomorrow comes">
            <a:extLst>
              <a:ext uri="{FF2B5EF4-FFF2-40B4-BE49-F238E27FC236}">
                <a16:creationId xmlns:a16="http://schemas.microsoft.com/office/drawing/2014/main" id="{1F3E2984-F02E-538A-0907-F1E22D80E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753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04EB61-7559-03CE-B948-FAE8065FA3FE}"/>
              </a:ext>
            </a:extLst>
          </p:cNvPr>
          <p:cNvSpPr/>
          <p:nvPr/>
        </p:nvSpPr>
        <p:spPr>
          <a:xfrm>
            <a:off x="6648022" y="5864371"/>
            <a:ext cx="5324388" cy="804044"/>
          </a:xfrm>
          <a:custGeom>
            <a:avLst/>
            <a:gdLst>
              <a:gd name="csX0" fmla="*/ 0 w 5324388"/>
              <a:gd name="csY0" fmla="*/ 0 h 804044"/>
              <a:gd name="csX1" fmla="*/ 5324388 w 5324388"/>
              <a:gd name="csY1" fmla="*/ 0 h 804044"/>
              <a:gd name="csX2" fmla="*/ 5324388 w 5324388"/>
              <a:gd name="csY2" fmla="*/ 804044 h 804044"/>
              <a:gd name="csX3" fmla="*/ 0 w 5324388"/>
              <a:gd name="csY3" fmla="*/ 804044 h 804044"/>
              <a:gd name="csX4" fmla="*/ 0 w 5324388"/>
              <a:gd name="csY4" fmla="*/ 0 h 804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4388" h="804044" fill="none" extrusionOk="0">
                <a:moveTo>
                  <a:pt x="0" y="0"/>
                </a:moveTo>
                <a:cubicBezTo>
                  <a:pt x="2349492" y="57912"/>
                  <a:pt x="4524832" y="-77563"/>
                  <a:pt x="5324388" y="0"/>
                </a:cubicBezTo>
                <a:cubicBezTo>
                  <a:pt x="5321633" y="210944"/>
                  <a:pt x="5318155" y="595015"/>
                  <a:pt x="5324388" y="804044"/>
                </a:cubicBezTo>
                <a:cubicBezTo>
                  <a:pt x="3728341" y="937971"/>
                  <a:pt x="1229150" y="905221"/>
                  <a:pt x="0" y="804044"/>
                </a:cubicBezTo>
                <a:cubicBezTo>
                  <a:pt x="-39265" y="603329"/>
                  <a:pt x="-44884" y="329410"/>
                  <a:pt x="0" y="0"/>
                </a:cubicBezTo>
                <a:close/>
              </a:path>
              <a:path w="5324388" h="804044" stroke="0" extrusionOk="0">
                <a:moveTo>
                  <a:pt x="0" y="0"/>
                </a:moveTo>
                <a:cubicBezTo>
                  <a:pt x="2566803" y="8342"/>
                  <a:pt x="3752177" y="6445"/>
                  <a:pt x="5324388" y="0"/>
                </a:cubicBezTo>
                <a:cubicBezTo>
                  <a:pt x="5301784" y="273755"/>
                  <a:pt x="5356384" y="637582"/>
                  <a:pt x="5324388" y="804044"/>
                </a:cubicBezTo>
                <a:cubicBezTo>
                  <a:pt x="3566951" y="807806"/>
                  <a:pt x="938260" y="715978"/>
                  <a:pt x="0" y="804044"/>
                </a:cubicBezTo>
                <a:cubicBezTo>
                  <a:pt x="35304" y="609762"/>
                  <a:pt x="34882" y="242251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C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lair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obscur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: E33</a:t>
            </a:r>
            <a:endParaRPr lang="en-FI" sz="28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CEFAC-DC92-4447-B7AA-9D76B376D3D0}"/>
              </a:ext>
            </a:extLst>
          </p:cNvPr>
          <p:cNvSpPr txBox="1"/>
          <p:nvPr/>
        </p:nvSpPr>
        <p:spPr>
          <a:xfrm>
            <a:off x="110507" y="6441794"/>
            <a:ext cx="6129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0" i="0" dirty="0">
                <a:solidFill>
                  <a:srgbClr val="F0EAD9"/>
                </a:solidFill>
                <a:effectLst/>
                <a:latin typeface="+mn-lt"/>
              </a:rPr>
              <a:t>Kuva: </a:t>
            </a:r>
            <a:r>
              <a:rPr lang="en-FI" sz="1800" b="0" i="0" dirty="0" err="1">
                <a:solidFill>
                  <a:srgbClr val="F0EAD9"/>
                </a:solidFill>
                <a:effectLst/>
                <a:latin typeface="+mn-lt"/>
              </a:rPr>
              <a:t>Sandfall</a:t>
            </a:r>
            <a:r>
              <a:rPr lang="en-FI" sz="1800" b="0" i="0" dirty="0">
                <a:solidFill>
                  <a:srgbClr val="F0EAD9"/>
                </a:solidFill>
                <a:effectLst/>
                <a:latin typeface="+mn-lt"/>
              </a:rPr>
              <a:t> Interactive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D7F9-713A-C6FA-D269-6BBDAF2AA205}"/>
              </a:ext>
            </a:extLst>
          </p:cNvPr>
          <p:cNvSpPr/>
          <p:nvPr/>
        </p:nvSpPr>
        <p:spPr>
          <a:xfrm>
            <a:off x="269612" y="309355"/>
            <a:ext cx="6248197" cy="804044"/>
          </a:xfrm>
          <a:custGeom>
            <a:avLst/>
            <a:gdLst>
              <a:gd name="csX0" fmla="*/ 0 w 6248197"/>
              <a:gd name="csY0" fmla="*/ 0 h 804044"/>
              <a:gd name="csX1" fmla="*/ 6248197 w 6248197"/>
              <a:gd name="csY1" fmla="*/ 0 h 804044"/>
              <a:gd name="csX2" fmla="*/ 6248197 w 6248197"/>
              <a:gd name="csY2" fmla="*/ 804044 h 804044"/>
              <a:gd name="csX3" fmla="*/ 0 w 6248197"/>
              <a:gd name="csY3" fmla="*/ 804044 h 804044"/>
              <a:gd name="csX4" fmla="*/ 0 w 6248197"/>
              <a:gd name="csY4" fmla="*/ 0 h 804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48197" h="804044" fill="none" extrusionOk="0">
                <a:moveTo>
                  <a:pt x="0" y="0"/>
                </a:moveTo>
                <a:cubicBezTo>
                  <a:pt x="1485987" y="57912"/>
                  <a:pt x="3748713" y="-77563"/>
                  <a:pt x="6248197" y="0"/>
                </a:cubicBezTo>
                <a:cubicBezTo>
                  <a:pt x="6245442" y="210944"/>
                  <a:pt x="6241964" y="595015"/>
                  <a:pt x="6248197" y="804044"/>
                </a:cubicBezTo>
                <a:cubicBezTo>
                  <a:pt x="4302393" y="937971"/>
                  <a:pt x="966922" y="905221"/>
                  <a:pt x="0" y="804044"/>
                </a:cubicBezTo>
                <a:cubicBezTo>
                  <a:pt x="-39265" y="603329"/>
                  <a:pt x="-44884" y="329410"/>
                  <a:pt x="0" y="0"/>
                </a:cubicBezTo>
                <a:close/>
              </a:path>
              <a:path w="6248197" h="804044" stroke="0" extrusionOk="0">
                <a:moveTo>
                  <a:pt x="0" y="0"/>
                </a:moveTo>
                <a:cubicBezTo>
                  <a:pt x="1685994" y="8342"/>
                  <a:pt x="4663533" y="6445"/>
                  <a:pt x="6248197" y="0"/>
                </a:cubicBezTo>
                <a:cubicBezTo>
                  <a:pt x="6225593" y="273755"/>
                  <a:pt x="6280193" y="637582"/>
                  <a:pt x="6248197" y="804044"/>
                </a:cubicBezTo>
                <a:cubicBezTo>
                  <a:pt x="3186934" y="807806"/>
                  <a:pt x="3090030" y="715978"/>
                  <a:pt x="0" y="804044"/>
                </a:cubicBezTo>
                <a:cubicBezTo>
                  <a:pt x="35304" y="609762"/>
                  <a:pt x="34882" y="242251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S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e on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vähästä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kiinni</a:t>
            </a:r>
            <a:endParaRPr lang="en-FI" sz="28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19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7EEE7-501C-6844-BEBD-8E91D023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4FD269-96F2-D234-37CA-6E7A0FB67004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2049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</a:rPr>
              <a:t>Tekoälyllä</a:t>
            </a:r>
            <a:r>
              <a:rPr lang="en-FI" sz="3200" dirty="0">
                <a:latin typeface="Arial Black" panose="020B0A04020102020204" pitchFamily="34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</a:rPr>
              <a:t>tuotetut</a:t>
            </a:r>
            <a:r>
              <a:rPr lang="en-FI" sz="3200" dirty="0">
                <a:latin typeface="Arial Black" panose="020B0A04020102020204" pitchFamily="34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</a:rPr>
              <a:t>tekstuurit</a:t>
            </a:r>
            <a:r>
              <a:rPr lang="en-FI" sz="3200" dirty="0">
                <a:latin typeface="Arial Black" panose="020B0A04020102020204" pitchFamily="34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</a:rPr>
              <a:t>poistettiin</a:t>
            </a:r>
            <a:r>
              <a:rPr lang="en-FI" sz="3200" dirty="0">
                <a:latin typeface="Arial Black" panose="020B0A04020102020204" pitchFamily="34" charset="0"/>
              </a:rPr>
              <a:t>,</a:t>
            </a:r>
          </a:p>
          <a:p>
            <a:r>
              <a:rPr lang="en-FI" sz="3200" dirty="0" err="1">
                <a:latin typeface="Arial Black" panose="020B0A04020102020204" pitchFamily="34" charset="0"/>
              </a:rPr>
              <a:t>kaksi</a:t>
            </a:r>
            <a:r>
              <a:rPr lang="en-FI" sz="3200" dirty="0">
                <a:latin typeface="Arial Black" panose="020B0A04020102020204" pitchFamily="34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</a:rPr>
              <a:t>palkintoa</a:t>
            </a:r>
            <a:r>
              <a:rPr lang="en-FI" sz="3200" dirty="0">
                <a:latin typeface="Arial Black" panose="020B0A04020102020204" pitchFamily="34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</a:rPr>
              <a:t>silti</a:t>
            </a:r>
            <a:r>
              <a:rPr lang="en-FI" sz="3200" dirty="0">
                <a:latin typeface="Arial Black" panose="020B0A04020102020204" pitchFamily="34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</a:rPr>
              <a:t>lähti</a:t>
            </a:r>
            <a:endParaRPr lang="en-FI" sz="3200" dirty="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22150-20F3-B31B-2A6A-3A5B16CAADFF}"/>
              </a:ext>
            </a:extLst>
          </p:cNvPr>
          <p:cNvSpPr txBox="1"/>
          <p:nvPr/>
        </p:nvSpPr>
        <p:spPr>
          <a:xfrm>
            <a:off x="629837" y="6255822"/>
            <a:ext cx="1102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 País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PC Gamer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7D23C-E3F4-D095-8EC1-E51179A246B3}"/>
              </a:ext>
            </a:extLst>
          </p:cNvPr>
          <p:cNvSpPr txBox="1"/>
          <p:nvPr/>
        </p:nvSpPr>
        <p:spPr>
          <a:xfrm>
            <a:off x="694467" y="5320485"/>
            <a:ext cx="7270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Missä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meni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raja: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kokeilussa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julkaisussa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vai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kilpailun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säännöissä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38068D-BB50-4E9D-2610-D3FC5B022286}"/>
              </a:ext>
            </a:extLst>
          </p:cNvPr>
          <p:cNvSpPr txBox="1"/>
          <p:nvPr/>
        </p:nvSpPr>
        <p:spPr>
          <a:xfrm>
            <a:off x="820143" y="2404667"/>
            <a:ext cx="6095276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cap="all" spc="79" dirty="0">
                <a:solidFill>
                  <a:schemeClr val="tx1"/>
                </a:solidFill>
                <a:effectLst/>
                <a:latin typeface="+mn-lt"/>
              </a:rPr>
              <a:t>2022 · </a:t>
            </a:r>
            <a:r>
              <a:rPr lang="en-FI" sz="1800" b="1" i="0" cap="all" spc="79" dirty="0" err="1">
                <a:solidFill>
                  <a:schemeClr val="tx1"/>
                </a:solidFill>
                <a:effectLst/>
                <a:latin typeface="+mn-lt"/>
              </a:rPr>
              <a:t>Kehitys</a:t>
            </a:r>
            <a:endParaRPr lang="en-FI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3CCFE-4832-C926-69DF-A1AD335CB103}"/>
              </a:ext>
            </a:extLst>
          </p:cNvPr>
          <p:cNvSpPr txBox="1"/>
          <p:nvPr/>
        </p:nvSpPr>
        <p:spPr>
          <a:xfrm>
            <a:off x="724803" y="2971039"/>
            <a:ext cx="2655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Väliaikainen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kokeilu</a:t>
            </a:r>
            <a:endParaRPr lang="en-FI" sz="18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3433D-2146-7BCF-A278-2D9C3F4FFCA0}"/>
              </a:ext>
            </a:extLst>
          </p:cNvPr>
          <p:cNvSpPr txBox="1"/>
          <p:nvPr/>
        </p:nvSpPr>
        <p:spPr>
          <a:xfrm>
            <a:off x="724803" y="3406265"/>
            <a:ext cx="32751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Sandfall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kokeili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tekoälyä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väliaikaisiin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tekstuureihin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Kauan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ennen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tekoälybuumia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73CF00-9F6E-69B5-28DE-BCB296E476A0}"/>
              </a:ext>
            </a:extLst>
          </p:cNvPr>
          <p:cNvSpPr txBox="1"/>
          <p:nvPr/>
        </p:nvSpPr>
        <p:spPr>
          <a:xfrm>
            <a:off x="3819029" y="2370042"/>
            <a:ext cx="2356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350"/>
              </a:spcAft>
              <a:buNone/>
            </a:pPr>
            <a:r>
              <a:rPr lang="en-FI" sz="1800" b="1" i="0" cap="all" dirty="0">
                <a:solidFill>
                  <a:schemeClr val="tx1"/>
                </a:solidFill>
                <a:effectLst/>
                <a:latin typeface="+mn-lt"/>
              </a:rPr>
              <a:t>2025 · </a:t>
            </a:r>
            <a:r>
              <a:rPr lang="en-FI" sz="1800" b="1" i="0" cap="all" dirty="0" err="1">
                <a:solidFill>
                  <a:schemeClr val="tx1"/>
                </a:solidFill>
                <a:effectLst/>
                <a:latin typeface="+mn-lt"/>
              </a:rPr>
              <a:t>Julkaisu</a:t>
            </a:r>
            <a:endParaRPr lang="en-FI" sz="1800" b="1" i="0" cap="all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0F9127-7840-EE03-0F87-316625A2CCAE}"/>
              </a:ext>
            </a:extLst>
          </p:cNvPr>
          <p:cNvSpPr txBox="1"/>
          <p:nvPr/>
        </p:nvSpPr>
        <p:spPr>
          <a:xfrm>
            <a:off x="3944704" y="2865487"/>
            <a:ext cx="1784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Osa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jäi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peliin</a:t>
            </a:r>
            <a:endParaRPr lang="en-FI" sz="18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B8384F-D68D-FF16-E9DC-5A138102CEEA}"/>
              </a:ext>
            </a:extLst>
          </p:cNvPr>
          <p:cNvSpPr txBox="1"/>
          <p:nvPr/>
        </p:nvSpPr>
        <p:spPr>
          <a:xfrm>
            <a:off x="3944704" y="3406265"/>
            <a:ext cx="36088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Studion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mukaan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tekstuurit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jäivät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laadunvarmistuksessa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huomaamatta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Ne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korvattiin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viiden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päivän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sisällä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julkaisusta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EB5F72-D967-621B-70B6-DAD0C5195ABF}"/>
              </a:ext>
            </a:extLst>
          </p:cNvPr>
          <p:cNvSpPr txBox="1"/>
          <p:nvPr/>
        </p:nvSpPr>
        <p:spPr>
          <a:xfrm>
            <a:off x="7664420" y="2370042"/>
            <a:ext cx="452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350"/>
              </a:spcAft>
              <a:buNone/>
            </a:pPr>
            <a:r>
              <a:rPr lang="en-FI" sz="1800" b="1" i="0" cap="all" dirty="0" err="1">
                <a:solidFill>
                  <a:schemeClr val="tx1"/>
                </a:solidFill>
                <a:effectLst/>
                <a:latin typeface="+mn-lt"/>
              </a:rPr>
              <a:t>Joulukuu</a:t>
            </a:r>
            <a:r>
              <a:rPr lang="en-FI" sz="1800" b="1" i="0" cap="all" dirty="0">
                <a:solidFill>
                  <a:schemeClr val="tx1"/>
                </a:solidFill>
                <a:effectLst/>
                <a:latin typeface="+mn-lt"/>
              </a:rPr>
              <a:t> 2025 · Indie Game Awards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FB5838-BF9A-220A-8CB6-C9AD1081F802}"/>
              </a:ext>
            </a:extLst>
          </p:cNvPr>
          <p:cNvSpPr txBox="1"/>
          <p:nvPr/>
        </p:nvSpPr>
        <p:spPr>
          <a:xfrm>
            <a:off x="7664420" y="2874934"/>
            <a:ext cx="3048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Vuoden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peli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+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debyyttipeli</a:t>
            </a:r>
            <a:endParaRPr lang="en-FI" sz="18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64313-C10A-952E-E00D-2305241DA1D8}"/>
              </a:ext>
            </a:extLst>
          </p:cNvPr>
          <p:cNvSpPr txBox="1"/>
          <p:nvPr/>
        </p:nvSpPr>
        <p:spPr>
          <a:xfrm>
            <a:off x="7664420" y="3357992"/>
            <a:ext cx="3867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4950"/>
              </a:spcBef>
              <a:buNone/>
            </a:pP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Molemmat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palkinnot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peruttiin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Kilpailu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kielsi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GenAI:n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käytön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Järjestäjän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mukaan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osallistuja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oli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vakuuttanut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ettei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GenAI:ta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käytetty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2559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8749-CED2-6A10-9CA9-E235FA9EB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DF5F0F-175A-25DE-4B56-383D390FA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3425"/>
            <a:ext cx="4966871" cy="27689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366433-F567-B8F1-EEAA-B3F3662AD178}"/>
              </a:ext>
            </a:extLst>
          </p:cNvPr>
          <p:cNvSpPr/>
          <p:nvPr/>
        </p:nvSpPr>
        <p:spPr>
          <a:xfrm>
            <a:off x="269612" y="309355"/>
            <a:ext cx="6438877" cy="804044"/>
          </a:xfrm>
          <a:custGeom>
            <a:avLst/>
            <a:gdLst>
              <a:gd name="csX0" fmla="*/ 0 w 6438877"/>
              <a:gd name="csY0" fmla="*/ 0 h 804044"/>
              <a:gd name="csX1" fmla="*/ 6438877 w 6438877"/>
              <a:gd name="csY1" fmla="*/ 0 h 804044"/>
              <a:gd name="csX2" fmla="*/ 6438877 w 6438877"/>
              <a:gd name="csY2" fmla="*/ 804044 h 804044"/>
              <a:gd name="csX3" fmla="*/ 0 w 6438877"/>
              <a:gd name="csY3" fmla="*/ 804044 h 804044"/>
              <a:gd name="csX4" fmla="*/ 0 w 6438877"/>
              <a:gd name="csY4" fmla="*/ 0 h 804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38877" h="804044" fill="none" extrusionOk="0">
                <a:moveTo>
                  <a:pt x="0" y="0"/>
                </a:moveTo>
                <a:cubicBezTo>
                  <a:pt x="2276281" y="57912"/>
                  <a:pt x="4996638" y="-77563"/>
                  <a:pt x="6438877" y="0"/>
                </a:cubicBezTo>
                <a:cubicBezTo>
                  <a:pt x="6436122" y="210944"/>
                  <a:pt x="6432644" y="595015"/>
                  <a:pt x="6438877" y="804044"/>
                </a:cubicBezTo>
                <a:cubicBezTo>
                  <a:pt x="5097625" y="937971"/>
                  <a:pt x="2981271" y="905221"/>
                  <a:pt x="0" y="804044"/>
                </a:cubicBezTo>
                <a:cubicBezTo>
                  <a:pt x="-39265" y="603329"/>
                  <a:pt x="-44884" y="329410"/>
                  <a:pt x="0" y="0"/>
                </a:cubicBezTo>
                <a:close/>
              </a:path>
              <a:path w="6438877" h="804044" stroke="0" extrusionOk="0">
                <a:moveTo>
                  <a:pt x="0" y="0"/>
                </a:moveTo>
                <a:cubicBezTo>
                  <a:pt x="1982028" y="8342"/>
                  <a:pt x="5544776" y="6445"/>
                  <a:pt x="6438877" y="0"/>
                </a:cubicBezTo>
                <a:cubicBezTo>
                  <a:pt x="6416273" y="273755"/>
                  <a:pt x="6470873" y="637582"/>
                  <a:pt x="6438877" y="804044"/>
                </a:cubicBezTo>
                <a:cubicBezTo>
                  <a:pt x="4518539" y="807806"/>
                  <a:pt x="1241394" y="715978"/>
                  <a:pt x="0" y="804044"/>
                </a:cubicBezTo>
                <a:cubicBezTo>
                  <a:pt x="35304" y="609762"/>
                  <a:pt x="34882" y="242251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elaisitko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sinä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36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tätä</a:t>
            </a:r>
            <a:r>
              <a:rPr lang="en-FI" sz="36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?</a:t>
            </a:r>
            <a:endParaRPr lang="en-FI" sz="28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97F8B-656B-50EC-8B24-A467D2E99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218" y="4091509"/>
            <a:ext cx="5039098" cy="2770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B436FF-8550-83B8-5EF1-94826C34D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140" y="4091509"/>
            <a:ext cx="4925911" cy="277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8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98757-E336-34B9-6310-96859E5F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64B1A6-2C71-10E6-3A36-3E32A28580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/>
          <a:stretch>
            <a:fillRect/>
          </a:stretch>
        </p:blipFill>
        <p:spPr>
          <a:xfrm>
            <a:off x="6095310" y="-381388"/>
            <a:ext cx="6095999" cy="3810000"/>
          </a:xfrm>
          <a:prstGeom prst="rect">
            <a:avLst/>
          </a:prstGeom>
        </p:spPr>
      </p:pic>
      <p:pic>
        <p:nvPicPr>
          <p:cNvPr id="2" name="Picture 1" descr="Marvel's Wolverine Wallpaper 4K, Key Art, 2026 Games">
            <a:extLst>
              <a:ext uri="{FF2B5EF4-FFF2-40B4-BE49-F238E27FC236}">
                <a16:creationId xmlns:a16="http://schemas.microsoft.com/office/drawing/2014/main" id="{0A5E73FB-7B25-6A98-D0D0-C412BAE0F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89" y="-378026"/>
            <a:ext cx="6095999" cy="3810000"/>
          </a:xfrm>
          <a:prstGeom prst="rect">
            <a:avLst/>
          </a:prstGeom>
        </p:spPr>
      </p:pic>
      <p:pic>
        <p:nvPicPr>
          <p:cNvPr id="5" name="Picture 4" descr="THE BLOOD OF DAWNWALKER | Official Website (EN)">
            <a:extLst>
              <a:ext uri="{FF2B5EF4-FFF2-40B4-BE49-F238E27FC236}">
                <a16:creationId xmlns:a16="http://schemas.microsoft.com/office/drawing/2014/main" id="{DD6797E5-E7F2-54B0-02EA-E72821751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" y="3429388"/>
            <a:ext cx="6095310" cy="3428612"/>
          </a:xfrm>
          <a:prstGeom prst="rect">
            <a:avLst/>
          </a:prstGeom>
        </p:spPr>
      </p:pic>
      <p:pic>
        <p:nvPicPr>
          <p:cNvPr id="6" name="Picture 5" descr="Grand Theft Auto VI: Ultimate Edition">
            <a:extLst>
              <a:ext uri="{FF2B5EF4-FFF2-40B4-BE49-F238E27FC236}">
                <a16:creationId xmlns:a16="http://schemas.microsoft.com/office/drawing/2014/main" id="{1127A379-FBA4-1BCA-8253-0E2C9E268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310" y="3429000"/>
            <a:ext cx="6095999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41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E2A46-B745-A212-A11F-88BB5A9D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F23FC4-D657-5DEA-D6D3-58635A98D7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0000"/>
          <a:stretch>
            <a:fillRect/>
          </a:stretch>
        </p:blipFill>
        <p:spPr>
          <a:xfrm>
            <a:off x="6095310" y="-381388"/>
            <a:ext cx="6095999" cy="3810000"/>
          </a:xfrm>
          <a:prstGeom prst="rect">
            <a:avLst/>
          </a:prstGeom>
        </p:spPr>
      </p:pic>
      <p:pic>
        <p:nvPicPr>
          <p:cNvPr id="2" name="Picture 1" descr="Marvel's Wolverine Wallpaper 4K, Key Art, 2026 Games">
            <a:extLst>
              <a:ext uri="{FF2B5EF4-FFF2-40B4-BE49-F238E27FC236}">
                <a16:creationId xmlns:a16="http://schemas.microsoft.com/office/drawing/2014/main" id="{927A3A97-B9BC-C579-4210-65ADF692E0E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346" y="-381388"/>
            <a:ext cx="6095999" cy="3810000"/>
          </a:xfrm>
          <a:prstGeom prst="rect">
            <a:avLst/>
          </a:prstGeom>
        </p:spPr>
      </p:pic>
      <p:pic>
        <p:nvPicPr>
          <p:cNvPr id="5" name="Picture 4" descr="THE BLOOD OF DAWNWALKER | Official Website (EN)">
            <a:extLst>
              <a:ext uri="{FF2B5EF4-FFF2-40B4-BE49-F238E27FC236}">
                <a16:creationId xmlns:a16="http://schemas.microsoft.com/office/drawing/2014/main" id="{6086A718-B38B-8550-DCAC-81A90A8F4DA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691" y="3429388"/>
            <a:ext cx="6095310" cy="3428612"/>
          </a:xfrm>
          <a:prstGeom prst="rect">
            <a:avLst/>
          </a:prstGeom>
        </p:spPr>
      </p:pic>
      <p:pic>
        <p:nvPicPr>
          <p:cNvPr id="6" name="Picture 5" descr="Grand Theft Auto VI: Ultimate Edition">
            <a:extLst>
              <a:ext uri="{FF2B5EF4-FFF2-40B4-BE49-F238E27FC236}">
                <a16:creationId xmlns:a16="http://schemas.microsoft.com/office/drawing/2014/main" id="{ACD547D8-661D-50D4-7970-E00EA9174F8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6095310" y="3429000"/>
            <a:ext cx="6095999" cy="3428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0F98550-EB29-5FA7-0C71-E5CA9DC3D4F9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“Ei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tekoäly-sisältöä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” on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nyt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uutinen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0D8E3E-43D7-849E-3EC5-E6908482C83F}"/>
              </a:ext>
            </a:extLst>
          </p:cNvPr>
          <p:cNvSpPr/>
          <p:nvPr/>
        </p:nvSpPr>
        <p:spPr>
          <a:xfrm>
            <a:off x="895565" y="1532036"/>
            <a:ext cx="4463495" cy="1239425"/>
          </a:xfrm>
          <a:prstGeom prst="rect">
            <a:avLst/>
          </a:prstGeom>
          <a:solidFill>
            <a:srgbClr val="DFDC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b="1" dirty="0">
                <a:solidFill>
                  <a:schemeClr val="tx1"/>
                </a:solidFill>
              </a:rPr>
              <a:t>“There are no AI generated assets in Marvel’s Wolverine.”</a:t>
            </a:r>
            <a:endParaRPr lang="en-FI" sz="2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037C3A-5B5B-2562-E970-7D4C9DF8F86F}"/>
              </a:ext>
            </a:extLst>
          </p:cNvPr>
          <p:cNvSpPr/>
          <p:nvPr/>
        </p:nvSpPr>
        <p:spPr>
          <a:xfrm>
            <a:off x="592836" y="4246499"/>
            <a:ext cx="5146880" cy="1239425"/>
          </a:xfrm>
          <a:prstGeom prst="rect">
            <a:avLst/>
          </a:prstGeom>
          <a:solidFill>
            <a:srgbClr val="DFDC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“Nothing that’s in The Blood of </a:t>
            </a:r>
            <a:r>
              <a:rPr lang="en-US" sz="2400" b="1" dirty="0" err="1">
                <a:solidFill>
                  <a:schemeClr val="tx1"/>
                </a:solidFill>
              </a:rPr>
              <a:t>Dawnwalker</a:t>
            </a:r>
            <a:r>
              <a:rPr lang="en-US" sz="2400" b="1" dirty="0">
                <a:solidFill>
                  <a:schemeClr val="tx1"/>
                </a:solidFill>
              </a:rPr>
              <a:t> was created using generative AI, nothing.”</a:t>
            </a:r>
            <a:endParaRPr lang="en-FI" sz="2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CED1-68BC-1478-C178-353658861C72}"/>
              </a:ext>
            </a:extLst>
          </p:cNvPr>
          <p:cNvSpPr/>
          <p:nvPr/>
        </p:nvSpPr>
        <p:spPr>
          <a:xfrm>
            <a:off x="6681754" y="1524728"/>
            <a:ext cx="4927140" cy="1239425"/>
          </a:xfrm>
          <a:prstGeom prst="rect">
            <a:avLst/>
          </a:prstGeom>
          <a:solidFill>
            <a:srgbClr val="DFDC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“There’s no generative AI content whatsoever in the game.”</a:t>
            </a:r>
            <a:endParaRPr lang="en-FI" sz="2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D5E6B4-78E6-1CA5-1A67-7A7D90FB3496}"/>
              </a:ext>
            </a:extLst>
          </p:cNvPr>
          <p:cNvSpPr/>
          <p:nvPr/>
        </p:nvSpPr>
        <p:spPr>
          <a:xfrm>
            <a:off x="6631340" y="4028681"/>
            <a:ext cx="4930134" cy="1819117"/>
          </a:xfrm>
          <a:prstGeom prst="rect">
            <a:avLst/>
          </a:prstGeom>
          <a:solidFill>
            <a:srgbClr val="DFDC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“Specifically with regards to GTA 6, Generative AI has zero part in what Rockstar Games is building.”</a:t>
            </a:r>
            <a:endParaRPr lang="en-FI" sz="24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CE4BA5-FAF2-7593-2A8D-F21C7EB2EDA0}"/>
              </a:ext>
            </a:extLst>
          </p:cNvPr>
          <p:cNvSpPr txBox="1"/>
          <p:nvPr/>
        </p:nvSpPr>
        <p:spPr>
          <a:xfrm>
            <a:off x="892570" y="1162703"/>
            <a:ext cx="446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Marvel’s Wolverine</a:t>
            </a:r>
            <a:endParaRPr lang="en-FI" sz="2175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352F61-D05D-7D84-8080-7B84AE5E5507}"/>
              </a:ext>
            </a:extLst>
          </p:cNvPr>
          <p:cNvSpPr txBox="1"/>
          <p:nvPr/>
        </p:nvSpPr>
        <p:spPr>
          <a:xfrm>
            <a:off x="592836" y="3877167"/>
            <a:ext cx="514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The Blood of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Dawnwalker</a:t>
            </a:r>
            <a:endParaRPr lang="en-FI" sz="2175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0D05CE-65DB-CA3D-0E08-3A6F934C3FEE}"/>
              </a:ext>
            </a:extLst>
          </p:cNvPr>
          <p:cNvSpPr txBox="1"/>
          <p:nvPr/>
        </p:nvSpPr>
        <p:spPr>
          <a:xfrm>
            <a:off x="6681754" y="1155396"/>
            <a:ext cx="3191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Control Resonant</a:t>
            </a:r>
            <a:endParaRPr lang="en-FI" sz="2175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BE301-A9B9-26F4-BFA9-70D1F3B81F1F}"/>
              </a:ext>
            </a:extLst>
          </p:cNvPr>
          <p:cNvSpPr txBox="1"/>
          <p:nvPr/>
        </p:nvSpPr>
        <p:spPr>
          <a:xfrm>
            <a:off x="6631340" y="3659349"/>
            <a:ext cx="2355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800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GTA VI</a:t>
            </a:r>
            <a:endParaRPr lang="en-FI" sz="2250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4CC80-D623-3159-1D2A-75E5734C8C5C}"/>
              </a:ext>
            </a:extLst>
          </p:cNvPr>
          <p:cNvSpPr txBox="1"/>
          <p:nvPr/>
        </p:nvSpPr>
        <p:spPr>
          <a:xfrm>
            <a:off x="892569" y="2765655"/>
            <a:ext cx="446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James Stevenson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· Insomniac Games</a:t>
            </a:r>
            <a:endParaRPr lang="en-FI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A3D19-B894-6405-018F-2903F6324CDA}"/>
              </a:ext>
            </a:extLst>
          </p:cNvPr>
          <p:cNvSpPr txBox="1"/>
          <p:nvPr/>
        </p:nvSpPr>
        <p:spPr>
          <a:xfrm>
            <a:off x="592836" y="5478466"/>
            <a:ext cx="514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Tomasz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Tinc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· Rebel Wolves</a:t>
            </a:r>
            <a:endParaRPr lang="en-FI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D8A6E6-D940-E4C1-284E-AF11747C016B}"/>
              </a:ext>
            </a:extLst>
          </p:cNvPr>
          <p:cNvSpPr txBox="1"/>
          <p:nvPr/>
        </p:nvSpPr>
        <p:spPr>
          <a:xfrm>
            <a:off x="6678760" y="2755113"/>
            <a:ext cx="4415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Elmeri Raitanen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· Remedy Entertainment</a:t>
            </a:r>
            <a:endParaRPr lang="en-FI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9B96C-10CC-6944-CB98-81A007A976D6}"/>
              </a:ext>
            </a:extLst>
          </p:cNvPr>
          <p:cNvSpPr txBox="1"/>
          <p:nvPr/>
        </p:nvSpPr>
        <p:spPr>
          <a:xfrm>
            <a:off x="6631340" y="5847798"/>
            <a:ext cx="446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Strauss Zelnick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·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Take-Two</a:t>
            </a:r>
            <a:endParaRPr lang="en-FI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FE2A1C-9922-B482-036B-8BB9EBECFC68}"/>
              </a:ext>
            </a:extLst>
          </p:cNvPr>
          <p:cNvSpPr txBox="1"/>
          <p:nvPr/>
        </p:nvSpPr>
        <p:spPr>
          <a:xfrm>
            <a:off x="629837" y="6255822"/>
            <a:ext cx="107719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Kotaku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Gamers Now / Eurogamer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GamerBraves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Insider Gaming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948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53ABC-3FC4-914F-37E4-CCB59628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Grand Theft Auto VI: Ultimate Edition">
            <a:extLst>
              <a:ext uri="{FF2B5EF4-FFF2-40B4-BE49-F238E27FC236}">
                <a16:creationId xmlns:a16="http://schemas.microsoft.com/office/drawing/2014/main" id="{337B9F3A-CD51-89F6-9664-5EB704D1A0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690" y="0"/>
            <a:ext cx="12192000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EE63EA4-7AD7-C3AE-1605-E506FD9C5D57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“Ei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tekoäly-sisältöä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” on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nyt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uutinen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4B090-99A5-9754-AFC3-FBE870FF0E34}"/>
              </a:ext>
            </a:extLst>
          </p:cNvPr>
          <p:cNvSpPr txBox="1"/>
          <p:nvPr/>
        </p:nvSpPr>
        <p:spPr>
          <a:xfrm>
            <a:off x="629837" y="6255822"/>
            <a:ext cx="107719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Insider Gaming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GamesRadar+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5E729-FF31-FF59-EE3B-1F4E645B63C5}"/>
              </a:ext>
            </a:extLst>
          </p:cNvPr>
          <p:cNvSpPr/>
          <p:nvPr/>
        </p:nvSpPr>
        <p:spPr>
          <a:xfrm>
            <a:off x="525775" y="1891838"/>
            <a:ext cx="4981313" cy="1819117"/>
          </a:xfrm>
          <a:prstGeom prst="rect">
            <a:avLst/>
          </a:prstGeom>
          <a:solidFill>
            <a:srgbClr val="DFDC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“Specifically with regards to GTA 6, Generative AI has zero part in what Rockstar Games is building.”</a:t>
            </a:r>
            <a:endParaRPr lang="en-FI" sz="2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D1FF6-CBFF-BEEA-5584-73BA81876DD7}"/>
              </a:ext>
            </a:extLst>
          </p:cNvPr>
          <p:cNvSpPr txBox="1"/>
          <p:nvPr/>
        </p:nvSpPr>
        <p:spPr>
          <a:xfrm>
            <a:off x="525775" y="1522506"/>
            <a:ext cx="2355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800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GTA VI</a:t>
            </a:r>
            <a:endParaRPr lang="en-FI" sz="2250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9CF68-94AB-345E-E7FD-CEBA3E46A4FD}"/>
              </a:ext>
            </a:extLst>
          </p:cNvPr>
          <p:cNvSpPr txBox="1"/>
          <p:nvPr/>
        </p:nvSpPr>
        <p:spPr>
          <a:xfrm>
            <a:off x="6009443" y="1522506"/>
            <a:ext cx="405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800"/>
              </a:spcAft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Take-Two -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konserni</a:t>
            </a:r>
            <a:endParaRPr lang="en-FI" sz="2250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1187BB-A18A-E7BE-0720-D096E1B68FB6}"/>
              </a:ext>
            </a:extLst>
          </p:cNvPr>
          <p:cNvSpPr/>
          <p:nvPr/>
        </p:nvSpPr>
        <p:spPr>
          <a:xfrm>
            <a:off x="6009443" y="1891838"/>
            <a:ext cx="5656782" cy="2717685"/>
          </a:xfrm>
          <a:prstGeom prst="rect">
            <a:avLst/>
          </a:prstGeom>
          <a:solidFill>
            <a:srgbClr val="DFDC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“[…] right now we have </a:t>
            </a:r>
            <a:r>
              <a:rPr lang="en-US" sz="2400" b="1" dirty="0">
                <a:solidFill>
                  <a:srgbClr val="0070C0"/>
                </a:solidFill>
              </a:rPr>
              <a:t>hundreds of pilots and implementations </a:t>
            </a:r>
            <a:r>
              <a:rPr lang="en-US" sz="2400" b="1" dirty="0">
                <a:solidFill>
                  <a:schemeClr val="tx1"/>
                </a:solidFill>
              </a:rPr>
              <a:t>across our company, including within our studios.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[…] generative AI tools are driving </a:t>
            </a:r>
            <a:r>
              <a:rPr lang="en-US" sz="2400" b="1" dirty="0">
                <a:solidFill>
                  <a:srgbClr val="0070C0"/>
                </a:solidFill>
              </a:rPr>
              <a:t>costs and time efficiencies.</a:t>
            </a:r>
            <a:r>
              <a:rPr lang="en-US" sz="2400" b="1" dirty="0">
                <a:solidFill>
                  <a:schemeClr val="tx1"/>
                </a:solidFill>
              </a:rPr>
              <a:t>”</a:t>
            </a:r>
            <a:endParaRPr lang="en-FI" sz="24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700031-92B7-DF36-9CE6-3CC8083081E1}"/>
              </a:ext>
            </a:extLst>
          </p:cNvPr>
          <p:cNvSpPr txBox="1"/>
          <p:nvPr/>
        </p:nvSpPr>
        <p:spPr>
          <a:xfrm>
            <a:off x="6009443" y="4623961"/>
            <a:ext cx="4841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Strauss Zelnick</a:t>
            </a:r>
            <a:br>
              <a:rPr lang="en-FI" dirty="0"/>
            </a:b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Take-Twon </a:t>
            </a:r>
            <a:r>
              <a:rPr lang="en-FI" sz="1800" b="0" i="0" dirty="0" err="1">
                <a:solidFill>
                  <a:schemeClr val="tx1"/>
                </a:solidFill>
                <a:effectLst/>
                <a:latin typeface="+mn-lt"/>
              </a:rPr>
              <a:t>toimitusjohtaja</a:t>
            </a:r>
            <a:endParaRPr lang="en-FI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2B0AD0-8D57-ADBC-8C45-BEF40259414F}"/>
              </a:ext>
            </a:extLst>
          </p:cNvPr>
          <p:cNvSpPr txBox="1"/>
          <p:nvPr/>
        </p:nvSpPr>
        <p:spPr>
          <a:xfrm>
            <a:off x="629837" y="5663645"/>
            <a:ext cx="909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Tietenkin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b="1" dirty="0" err="1"/>
              <a:t>p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elikohtainen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lausunto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ja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koko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yhtiön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AI-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linjaus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ovat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eri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asioita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FI" sz="1800" b="1" i="0" dirty="0" err="1">
                <a:solidFill>
                  <a:schemeClr val="tx1"/>
                </a:solidFill>
                <a:effectLst/>
                <a:latin typeface="+mn-lt"/>
              </a:rPr>
              <a:t>mutta</a:t>
            </a: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...</a:t>
            </a:r>
            <a:endParaRPr lang="en-FI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9496FC-5B64-ADA5-1C1C-5A548100AF14}"/>
              </a:ext>
            </a:extLst>
          </p:cNvPr>
          <p:cNvSpPr txBox="1"/>
          <p:nvPr/>
        </p:nvSpPr>
        <p:spPr>
          <a:xfrm>
            <a:off x="525775" y="3710955"/>
            <a:ext cx="4649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Strauss Zelnick</a:t>
            </a:r>
            <a:r>
              <a:rPr lang="en-FI" sz="1800" b="0" i="0" dirty="0">
                <a:solidFill>
                  <a:schemeClr val="tx1"/>
                </a:solidFill>
                <a:effectLst/>
                <a:latin typeface="+mn-lt"/>
              </a:rPr>
              <a:t> ·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Take-Two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046033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F27F-B2C0-5879-A8BA-E7514FBF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4277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5A21B-9F0D-2623-5661-42A595D0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5136912"/>
              </p:ext>
            </p:extLst>
          </p:nvPr>
        </p:nvGraphicFramePr>
        <p:xfrm>
          <a:off x="629837" y="2127935"/>
          <a:ext cx="4865230" cy="1802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394264"/>
              </p:ext>
            </p:extLst>
          </p:nvPr>
        </p:nvGraphicFramePr>
        <p:xfrm>
          <a:off x="6233159" y="2087603"/>
          <a:ext cx="4921653" cy="1802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3622446"/>
              </p:ext>
            </p:extLst>
          </p:nvPr>
        </p:nvGraphicFramePr>
        <p:xfrm>
          <a:off x="617625" y="4333346"/>
          <a:ext cx="4877441" cy="1749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0867472"/>
              </p:ext>
            </p:extLst>
          </p:nvPr>
        </p:nvGraphicFramePr>
        <p:xfrm>
          <a:off x="6233158" y="4333346"/>
          <a:ext cx="4921653" cy="17498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93F1C3D4-4451-C6A4-0E83-F78E0CAB67C9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917680" cy="141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Modaus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kasvaa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,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modeja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kertyy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yhä</a:t>
            </a:r>
            <a:r>
              <a:rPr lang="en-FI" sz="3200" dirty="0">
                <a:latin typeface="Arial Black" panose="020B0A04020102020204" pitchFamily="34" charset="0"/>
                <a:ea typeface="Bungee" pitchFamily="2" charset="0"/>
              </a:rPr>
              <a:t> </a:t>
            </a:r>
            <a:r>
              <a:rPr lang="en-FI" sz="3200" dirty="0" err="1">
                <a:latin typeface="Arial Black" panose="020B0A04020102020204" pitchFamily="34" charset="0"/>
                <a:ea typeface="Bungee" pitchFamily="2" charset="0"/>
              </a:rPr>
              <a:t>enemmän</a:t>
            </a:r>
            <a:endParaRPr lang="en-FI" sz="3200" dirty="0">
              <a:latin typeface="Arial Black" panose="020B0A04020102020204" pitchFamily="34" charset="0"/>
              <a:ea typeface="Bungee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05CF5-47A4-E3F4-6A0B-FB7B8BE34B21}"/>
              </a:ext>
            </a:extLst>
          </p:cNvPr>
          <p:cNvSpPr txBox="1"/>
          <p:nvPr/>
        </p:nvSpPr>
        <p:spPr>
          <a:xfrm>
            <a:off x="274319" y="1047868"/>
            <a:ext cx="1122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Projektien</a:t>
            </a:r>
            <a:r>
              <a:rPr lang="en-FI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FI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kokonaismäärät</a:t>
            </a:r>
            <a:endParaRPr lang="en-FI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997EDF-2987-04B4-C7A3-2D9129D19534}"/>
              </a:ext>
            </a:extLst>
          </p:cNvPr>
          <p:cNvSpPr txBox="1"/>
          <p:nvPr/>
        </p:nvSpPr>
        <p:spPr>
          <a:xfrm>
            <a:off x="629837" y="6255822"/>
            <a:ext cx="107719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Lähde: </a:t>
            </a:r>
            <a:r>
              <a:rPr lang="en-FI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CurseForge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Nexus Mods: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Skyrim SE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Stardew Valley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· </a:t>
            </a:r>
            <a:r>
              <a:rPr lang="en-FI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Cyberpunk 2077</a:t>
            </a:r>
            <a:endParaRPr lang="en-FI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22D8E-2684-14A2-2EB8-71CC8B488484}"/>
              </a:ext>
            </a:extLst>
          </p:cNvPr>
          <p:cNvSpPr txBox="1"/>
          <p:nvPr/>
        </p:nvSpPr>
        <p:spPr>
          <a:xfrm>
            <a:off x="629837" y="1787955"/>
            <a:ext cx="1553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Minecraft</a:t>
            </a:r>
            <a:endParaRPr lang="en-FI" sz="2250" b="1" i="0" dirty="0">
              <a:solidFill>
                <a:srgbClr val="20231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0C07AC-9286-0E9F-3E42-EBBB4FA7D17F}"/>
              </a:ext>
            </a:extLst>
          </p:cNvPr>
          <p:cNvSpPr txBox="1"/>
          <p:nvPr/>
        </p:nvSpPr>
        <p:spPr>
          <a:xfrm>
            <a:off x="548287" y="4045655"/>
            <a:ext cx="2412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Stardew Valley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BF766C-369B-78B1-E7B9-E573F12CC925}"/>
              </a:ext>
            </a:extLst>
          </p:cNvPr>
          <p:cNvSpPr txBox="1"/>
          <p:nvPr/>
        </p:nvSpPr>
        <p:spPr>
          <a:xfrm>
            <a:off x="6233159" y="4044677"/>
            <a:ext cx="242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Cyberpunk 2077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AC9952-1EB2-8169-C6A6-F4B179594D3E}"/>
              </a:ext>
            </a:extLst>
          </p:cNvPr>
          <p:cNvSpPr txBox="1"/>
          <p:nvPr/>
        </p:nvSpPr>
        <p:spPr>
          <a:xfrm>
            <a:off x="6233160" y="1758603"/>
            <a:ext cx="2980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FI" sz="1800" b="1" i="0" dirty="0">
                <a:solidFill>
                  <a:schemeClr val="tx1"/>
                </a:solidFill>
                <a:effectLst/>
                <a:latin typeface="+mn-lt"/>
              </a:rPr>
              <a:t>Skyrim Special Edition</a:t>
            </a:r>
          </a:p>
        </p:txBody>
      </p:sp>
    </p:spTree>
    <p:extLst>
      <p:ext uri="{BB962C8B-B14F-4D97-AF65-F5344CB8AC3E}">
        <p14:creationId xmlns:p14="http://schemas.microsoft.com/office/powerpoint/2010/main" val="13827871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0F0B1-1FDD-7AFE-02B3-10C30B16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5649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8F7C-7EFF-1957-D1D9-9F68A60B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B4A7C-48E8-9A7C-B051-316C4D9A0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81650" cy="2571750"/>
          </a:xfrm>
          <a:prstGeom prst="rect">
            <a:avLst/>
          </a:prstGeom>
        </p:spPr>
      </p:pic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33FCE9C9-ADA9-D0FD-C992-D1FC692DA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1" y="0"/>
            <a:ext cx="6858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54C824-E75E-6F32-EE6E-A854028C8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71751"/>
            <a:ext cx="5348163" cy="144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84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9C98-42E0-D357-9F54-30B77C637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3784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8E62C-3C7F-40FD-4B7E-61495BB8F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546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1F67-B272-C2E8-20D2-8EE3F865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4837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4436-759C-0FC7-5338-A8AC4E9C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2666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E555-CD10-955B-355B-B87538BF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n sitting in a chair pointing at something">
            <a:extLst>
              <a:ext uri="{FF2B5EF4-FFF2-40B4-BE49-F238E27FC236}">
                <a16:creationId xmlns:a16="http://schemas.microsoft.com/office/drawing/2014/main" id="{92750C9F-1D19-783F-779C-76F248110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2" y="41376"/>
            <a:ext cx="3885719" cy="3679290"/>
          </a:xfrm>
          <a:prstGeom prst="rect">
            <a:avLst/>
          </a:prstGeom>
        </p:spPr>
      </p:pic>
      <p:pic>
        <p:nvPicPr>
          <p:cNvPr id="5" name="Picture 4" descr="a woman says they 're the same picture while sitting in front of a window">
            <a:extLst>
              <a:ext uri="{FF2B5EF4-FFF2-40B4-BE49-F238E27FC236}">
                <a16:creationId xmlns:a16="http://schemas.microsoft.com/office/drawing/2014/main" id="{D9FD6EED-6C02-F6BF-EFD9-7C63366BD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481" y="-67753"/>
            <a:ext cx="4703022" cy="2645450"/>
          </a:xfrm>
          <a:prstGeom prst="rect">
            <a:avLst/>
          </a:prstGeom>
        </p:spPr>
      </p:pic>
      <p:pic>
        <p:nvPicPr>
          <p:cNvPr id="6" name="Picture 5" descr="a cartoon of squidward from spongebob squarepants holding a flashlight and the word future behind him">
            <a:extLst>
              <a:ext uri="{FF2B5EF4-FFF2-40B4-BE49-F238E27FC236}">
                <a16:creationId xmlns:a16="http://schemas.microsoft.com/office/drawing/2014/main" id="{CE51A6C7-C911-B2DD-7BB3-6C20715F4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132" y="3614842"/>
            <a:ext cx="3885719" cy="2902585"/>
          </a:xfrm>
          <a:prstGeom prst="rect">
            <a:avLst/>
          </a:prstGeom>
        </p:spPr>
      </p:pic>
      <p:pic>
        <p:nvPicPr>
          <p:cNvPr id="7" name="Picture 6" descr="a cartoon dog is sitting at a table with a cup of coffee in front of a fire with the words this is fine .">
            <a:extLst>
              <a:ext uri="{FF2B5EF4-FFF2-40B4-BE49-F238E27FC236}">
                <a16:creationId xmlns:a16="http://schemas.microsoft.com/office/drawing/2014/main" id="{425BF4AF-8DAD-85F3-86A3-3C05C0E83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31" y="4290645"/>
            <a:ext cx="4255615" cy="239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592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4904F-8120-388E-3283-8025EA18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thanos from avengers infinity war holding a glowing object in his hands .">
            <a:extLst>
              <a:ext uri="{FF2B5EF4-FFF2-40B4-BE49-F238E27FC236}">
                <a16:creationId xmlns:a16="http://schemas.microsoft.com/office/drawing/2014/main" id="{22E56856-FD26-1815-669C-E3DA9B609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905250"/>
          </a:xfrm>
          <a:prstGeom prst="rect">
            <a:avLst/>
          </a:prstGeom>
        </p:spPr>
      </p:pic>
      <p:pic>
        <p:nvPicPr>
          <p:cNvPr id="4" name="Picture 3" descr="a cartoon of goku and trunks are dancing on a wooden floor">
            <a:extLst>
              <a:ext uri="{FF2B5EF4-FFF2-40B4-BE49-F238E27FC236}">
                <a16:creationId xmlns:a16="http://schemas.microsoft.com/office/drawing/2014/main" id="{B6D36152-6D03-9C6B-3E5F-585F53194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692" y="0"/>
            <a:ext cx="6096000" cy="3390900"/>
          </a:xfrm>
          <a:prstGeom prst="rect">
            <a:avLst/>
          </a:prstGeom>
        </p:spPr>
      </p:pic>
      <p:pic>
        <p:nvPicPr>
          <p:cNvPr id="6" name="Picture 5" descr="a group of people are sitting at a table and one of them is saying hey i 've seen this one .">
            <a:extLst>
              <a:ext uri="{FF2B5EF4-FFF2-40B4-BE49-F238E27FC236}">
                <a16:creationId xmlns:a16="http://schemas.microsoft.com/office/drawing/2014/main" id="{946697C8-F66C-3E8B-1A2F-CF472AE42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6096000" cy="3429000"/>
          </a:xfrm>
          <a:prstGeom prst="rect">
            <a:avLst/>
          </a:prstGeom>
        </p:spPr>
      </p:pic>
      <p:pic>
        <p:nvPicPr>
          <p:cNvPr id="8" name="Picture 7" descr="a man wearing glasses says you were so preoccupied">
            <a:extLst>
              <a:ext uri="{FF2B5EF4-FFF2-40B4-BE49-F238E27FC236}">
                <a16:creationId xmlns:a16="http://schemas.microsoft.com/office/drawing/2014/main" id="{8DC999CF-8C1F-65CB-1497-B6E5719FB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691" y="3460824"/>
            <a:ext cx="6176683" cy="339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068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6A00-E6EB-983D-4F1F-7FAD0625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cartoon character 's face with glasses">
            <a:extLst>
              <a:ext uri="{FF2B5EF4-FFF2-40B4-BE49-F238E27FC236}">
                <a16:creationId xmlns:a16="http://schemas.microsoft.com/office/drawing/2014/main" id="{C50B0AC2-0D84-CCFF-0F03-2690C101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731" y="0"/>
            <a:ext cx="7125743" cy="3028441"/>
          </a:xfrm>
          <a:prstGeom prst="rect">
            <a:avLst/>
          </a:prstGeom>
        </p:spPr>
      </p:pic>
      <p:pic>
        <p:nvPicPr>
          <p:cNvPr id="4" name="Picture 3" descr="spongebob squarepants is making a funny face with his hands in the air and says imagination .">
            <a:extLst>
              <a:ext uri="{FF2B5EF4-FFF2-40B4-BE49-F238E27FC236}">
                <a16:creationId xmlns:a16="http://schemas.microsoft.com/office/drawing/2014/main" id="{6CF2670A-C1C8-C2B9-52D4-4AE156C0D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45" y="0"/>
            <a:ext cx="6036255" cy="4346104"/>
          </a:xfrm>
          <a:prstGeom prst="rect">
            <a:avLst/>
          </a:prstGeom>
        </p:spPr>
      </p:pic>
      <p:pic>
        <p:nvPicPr>
          <p:cNvPr id="6" name="Picture 5" descr="a man with red hair and a beard is looking at the camera .">
            <a:extLst>
              <a:ext uri="{FF2B5EF4-FFF2-40B4-BE49-F238E27FC236}">
                <a16:creationId xmlns:a16="http://schemas.microsoft.com/office/drawing/2014/main" id="{A57145BA-C9FF-A065-2294-AD2535D9F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59749"/>
            <a:ext cx="4238857" cy="292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847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C6701-A5D0-5DCB-57B7-16DD0AFA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CD6C78-8EE0-0624-1116-04C145B9E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418"/>
            <a:ext cx="3030760" cy="3030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E732CE-9462-7A31-CC84-437313B1B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882" y="64132"/>
            <a:ext cx="4486490" cy="33648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1D6DC-A926-34BC-6309-0CDC814C97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92" b="14406"/>
          <a:stretch>
            <a:fillRect/>
          </a:stretch>
        </p:blipFill>
        <p:spPr>
          <a:xfrm>
            <a:off x="7062809" y="4293473"/>
            <a:ext cx="4616134" cy="22958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000D9A-A723-1C35-4C1D-2574D508E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15" y="3294112"/>
            <a:ext cx="4891490" cy="275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744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625CB-FED6-49E6-92EB-CE7E9174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479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B0BB5-F2A2-4681-5A1C-67C56305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9530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D9B5A-46D1-D764-276D-FBE4E5A7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8319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92F3-9B9D-C8C9-1372-12753AFA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2452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787F-51B9-C5DB-F670-DC06DE6B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AE3E2-590F-03C8-B00B-38B0D380B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415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2A9A-7BF7-4366-D9AB-42ED73E8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7F8E23-3DB5-27CF-F684-21549115E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155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116E7-B2D9-4111-6BDC-06620116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26AEB-9EA7-C13A-5B10-64B6615D3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218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4435-607D-499D-326B-873B5CAA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5DACC7-CA0F-0FA5-E927-F3772ABE6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656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90C7A-FA11-B3C3-569F-EE5C46A9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344EFA-312B-7EDE-ED31-4E2A58C4B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434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466C-D2E9-0530-04CD-AF8C81B7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728903-5FC9-5FB0-733B-F0D02E0C0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E017-FC59-8EE4-808D-90002E35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F25498C-0836-EA7B-ECA8-B969615AD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974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7C1F8-89AF-78D8-79A4-DF2BD60F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BC1697-7F58-D289-CFC2-50A4B0DE3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838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4D81B-703C-4A1C-3DBB-476A4D49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2A213-ECEB-0B11-AB1F-66C75C481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81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D0C2-9474-D611-214A-AB778182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6C207-EEA2-AF61-207E-A48A74672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6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61AAD-7D4D-64F0-2E0D-03DBE834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342570-14BD-A957-485E-F502E7B905C9}"/>
              </a:ext>
            </a:extLst>
          </p:cNvPr>
          <p:cNvSpPr/>
          <p:nvPr/>
        </p:nvSpPr>
        <p:spPr>
          <a:xfrm>
            <a:off x="7412773" y="1365816"/>
            <a:ext cx="4370419" cy="437041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F9430-79F0-2275-5B5A-7D612BAF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134" y="1668180"/>
            <a:ext cx="3745998" cy="374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215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6638-6C71-2C9F-5C3E-978EA18B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4310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DBEB-7372-C4F3-7304-43CBADACC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0907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4069-C791-618C-F184-2108F1C1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7912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9B68-DDBD-3961-C35D-631EBF737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5338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2EFD5-2477-7C6A-A523-6411D8EB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69DA086-1023-2FA8-C2D3-9627313D66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916" y="0"/>
            <a:ext cx="13691831" cy="6867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AF446D-C2B8-C020-53F4-93A32966DB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8200">
            <a:off x="10310220" y="4684221"/>
            <a:ext cx="1541498" cy="2023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A167DE-7D96-A93B-AC03-BBC545B138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84613">
            <a:off x="4727716" y="884173"/>
            <a:ext cx="754046" cy="542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0E549D-2D45-612D-5B6C-8C3CB32B72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9351">
            <a:off x="6634045" y="177165"/>
            <a:ext cx="1939872" cy="945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8A49AB-2124-FCCD-B856-D00E1882A6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1462">
            <a:off x="244686" y="1523009"/>
            <a:ext cx="2422526" cy="2716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F8B994-8285-531E-4BED-C56623BCAB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936">
            <a:off x="5430184" y="127060"/>
            <a:ext cx="954678" cy="6087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2FBFC8-9A0B-4CFE-3C97-664AC29147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2151">
            <a:off x="6793363" y="983305"/>
            <a:ext cx="1335270" cy="6951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6F96B7-5949-B4BD-0CD9-FFCEC7BB3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675" y="888059"/>
            <a:ext cx="711936" cy="5824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195ED0-DCE2-AD75-9C45-E2E5DC9BC8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9884">
            <a:off x="9746406" y="1125634"/>
            <a:ext cx="1930070" cy="10167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FAF5A3-67B4-B5F7-C894-AFD4CADC35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3751">
            <a:off x="344188" y="364401"/>
            <a:ext cx="2408679" cy="8862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D4367C2-3DD9-DCDB-292F-353A807DDC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3948">
            <a:off x="2964959" y="584907"/>
            <a:ext cx="1565084" cy="7200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0EA109-24F3-F929-B8A9-754C7868B79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0731">
            <a:off x="9225917" y="279098"/>
            <a:ext cx="1243525" cy="74202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D7C8127-9127-6358-1C0C-3E22526FDB23}"/>
              </a:ext>
            </a:extLst>
          </p:cNvPr>
          <p:cNvSpPr/>
          <p:nvPr/>
        </p:nvSpPr>
        <p:spPr>
          <a:xfrm>
            <a:off x="328065" y="4621549"/>
            <a:ext cx="4866102" cy="874225"/>
          </a:xfrm>
          <a:custGeom>
            <a:avLst/>
            <a:gdLst>
              <a:gd name="csX0" fmla="*/ 0 w 4866102"/>
              <a:gd name="csY0" fmla="*/ 0 h 874225"/>
              <a:gd name="csX1" fmla="*/ 4866102 w 4866102"/>
              <a:gd name="csY1" fmla="*/ 0 h 874225"/>
              <a:gd name="csX2" fmla="*/ 4866102 w 4866102"/>
              <a:gd name="csY2" fmla="*/ 874225 h 874225"/>
              <a:gd name="csX3" fmla="*/ 0 w 4866102"/>
              <a:gd name="csY3" fmla="*/ 874225 h 874225"/>
              <a:gd name="csX4" fmla="*/ 0 w 4866102"/>
              <a:gd name="csY4" fmla="*/ 0 h 874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66102" h="874225" fill="none" extrusionOk="0">
                <a:moveTo>
                  <a:pt x="0" y="0"/>
                </a:moveTo>
                <a:cubicBezTo>
                  <a:pt x="1776720" y="57912"/>
                  <a:pt x="2668860" y="-77563"/>
                  <a:pt x="4866102" y="0"/>
                </a:cubicBezTo>
                <a:cubicBezTo>
                  <a:pt x="4828172" y="250687"/>
                  <a:pt x="4933241" y="663534"/>
                  <a:pt x="4866102" y="874225"/>
                </a:cubicBezTo>
                <a:cubicBezTo>
                  <a:pt x="3137615" y="1008152"/>
                  <a:pt x="2026043" y="975402"/>
                  <a:pt x="0" y="874225"/>
                </a:cubicBezTo>
                <a:cubicBezTo>
                  <a:pt x="-30175" y="456943"/>
                  <a:pt x="-12581" y="105973"/>
                  <a:pt x="0" y="0"/>
                </a:cubicBezTo>
                <a:close/>
              </a:path>
              <a:path w="4866102" h="874225" stroke="0" extrusionOk="0">
                <a:moveTo>
                  <a:pt x="0" y="0"/>
                </a:moveTo>
                <a:cubicBezTo>
                  <a:pt x="1402118" y="8342"/>
                  <a:pt x="3673256" y="6445"/>
                  <a:pt x="4866102" y="0"/>
                </a:cubicBezTo>
                <a:cubicBezTo>
                  <a:pt x="4847918" y="176348"/>
                  <a:pt x="4854693" y="772962"/>
                  <a:pt x="4866102" y="874225"/>
                </a:cubicBezTo>
                <a:cubicBezTo>
                  <a:pt x="3263859" y="877987"/>
                  <a:pt x="2418675" y="786159"/>
                  <a:pt x="0" y="874225"/>
                </a:cubicBezTo>
                <a:cubicBezTo>
                  <a:pt x="51705" y="691909"/>
                  <a:pt x="-40101" y="213876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FI" sz="28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/</a:t>
            </a:r>
            <a:r>
              <a:rPr lang="en-FI" sz="28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juha-ala-rantala</a:t>
            </a:r>
            <a:endParaRPr lang="en-FI" sz="20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A3830E4-E971-6D06-FCBE-A532FDAFAE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22" y="4744644"/>
            <a:ext cx="609604" cy="60960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1205169-F996-A383-8CB3-CC712C6E3847}"/>
              </a:ext>
            </a:extLst>
          </p:cNvPr>
          <p:cNvSpPr/>
          <p:nvPr/>
        </p:nvSpPr>
        <p:spPr>
          <a:xfrm>
            <a:off x="5594284" y="4647954"/>
            <a:ext cx="4318288" cy="874225"/>
          </a:xfrm>
          <a:custGeom>
            <a:avLst/>
            <a:gdLst>
              <a:gd name="csX0" fmla="*/ 0 w 4318288"/>
              <a:gd name="csY0" fmla="*/ 0 h 874225"/>
              <a:gd name="csX1" fmla="*/ 4318288 w 4318288"/>
              <a:gd name="csY1" fmla="*/ 0 h 874225"/>
              <a:gd name="csX2" fmla="*/ 4318288 w 4318288"/>
              <a:gd name="csY2" fmla="*/ 874225 h 874225"/>
              <a:gd name="csX3" fmla="*/ 0 w 4318288"/>
              <a:gd name="csY3" fmla="*/ 874225 h 874225"/>
              <a:gd name="csX4" fmla="*/ 0 w 4318288"/>
              <a:gd name="csY4" fmla="*/ 0 h 874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8288" h="874225" fill="none" extrusionOk="0">
                <a:moveTo>
                  <a:pt x="0" y="0"/>
                </a:moveTo>
                <a:cubicBezTo>
                  <a:pt x="583627" y="57912"/>
                  <a:pt x="3396520" y="-77563"/>
                  <a:pt x="4318288" y="0"/>
                </a:cubicBezTo>
                <a:cubicBezTo>
                  <a:pt x="4280358" y="250687"/>
                  <a:pt x="4385427" y="663534"/>
                  <a:pt x="4318288" y="874225"/>
                </a:cubicBezTo>
                <a:cubicBezTo>
                  <a:pt x="3775169" y="1008152"/>
                  <a:pt x="517538" y="975402"/>
                  <a:pt x="0" y="874225"/>
                </a:cubicBezTo>
                <a:cubicBezTo>
                  <a:pt x="-30175" y="456943"/>
                  <a:pt x="-12581" y="105973"/>
                  <a:pt x="0" y="0"/>
                </a:cubicBezTo>
                <a:close/>
              </a:path>
              <a:path w="4318288" h="874225" stroke="0" extrusionOk="0">
                <a:moveTo>
                  <a:pt x="0" y="0"/>
                </a:moveTo>
                <a:cubicBezTo>
                  <a:pt x="1245551" y="8342"/>
                  <a:pt x="3127302" y="6445"/>
                  <a:pt x="4318288" y="0"/>
                </a:cubicBezTo>
                <a:cubicBezTo>
                  <a:pt x="4300104" y="176348"/>
                  <a:pt x="4306879" y="772962"/>
                  <a:pt x="4318288" y="874225"/>
                </a:cubicBezTo>
                <a:cubicBezTo>
                  <a:pt x="3489139" y="877987"/>
                  <a:pt x="1507476" y="786159"/>
                  <a:pt x="0" y="874225"/>
                </a:cubicBezTo>
                <a:cubicBezTo>
                  <a:pt x="51705" y="691909"/>
                  <a:pt x="-40101" y="213876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FI" sz="28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/</a:t>
            </a:r>
            <a:r>
              <a:rPr lang="en-FI" sz="28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vaarattu</a:t>
            </a:r>
            <a:endParaRPr lang="en-FI" sz="20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FD4C4-2D78-346E-AFA8-7FD31E6E1D1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149" y="4780264"/>
            <a:ext cx="609604" cy="6096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ABDFE8-BEF7-3DA8-86E0-13CB677EAB0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370" y="4775978"/>
            <a:ext cx="609604" cy="60960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E852EA-F9FE-6CF2-8644-3E2F2CD2C3C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327" y="4775978"/>
            <a:ext cx="609604" cy="60960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8584608-6A4A-8258-DEF0-46E5836763B0}"/>
              </a:ext>
            </a:extLst>
          </p:cNvPr>
          <p:cNvSpPr/>
          <p:nvPr/>
        </p:nvSpPr>
        <p:spPr>
          <a:xfrm>
            <a:off x="4694946" y="5790017"/>
            <a:ext cx="5235283" cy="874225"/>
          </a:xfrm>
          <a:custGeom>
            <a:avLst/>
            <a:gdLst>
              <a:gd name="csX0" fmla="*/ 0 w 5235283"/>
              <a:gd name="csY0" fmla="*/ 0 h 874225"/>
              <a:gd name="csX1" fmla="*/ 5235283 w 5235283"/>
              <a:gd name="csY1" fmla="*/ 0 h 874225"/>
              <a:gd name="csX2" fmla="*/ 5235283 w 5235283"/>
              <a:gd name="csY2" fmla="*/ 874225 h 874225"/>
              <a:gd name="csX3" fmla="*/ 0 w 5235283"/>
              <a:gd name="csY3" fmla="*/ 874225 h 874225"/>
              <a:gd name="csX4" fmla="*/ 0 w 5235283"/>
              <a:gd name="csY4" fmla="*/ 0 h 874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235283" h="874225" fill="none" extrusionOk="0">
                <a:moveTo>
                  <a:pt x="0" y="0"/>
                </a:moveTo>
                <a:cubicBezTo>
                  <a:pt x="1758025" y="57912"/>
                  <a:pt x="3683871" y="-77563"/>
                  <a:pt x="5235283" y="0"/>
                </a:cubicBezTo>
                <a:cubicBezTo>
                  <a:pt x="5197353" y="250687"/>
                  <a:pt x="5302422" y="663534"/>
                  <a:pt x="5235283" y="874225"/>
                </a:cubicBezTo>
                <a:cubicBezTo>
                  <a:pt x="3008351" y="1008152"/>
                  <a:pt x="1434678" y="975402"/>
                  <a:pt x="0" y="874225"/>
                </a:cubicBezTo>
                <a:cubicBezTo>
                  <a:pt x="-30175" y="456943"/>
                  <a:pt x="-12581" y="105973"/>
                  <a:pt x="0" y="0"/>
                </a:cubicBezTo>
                <a:close/>
              </a:path>
              <a:path w="5235283" h="874225" stroke="0" extrusionOk="0">
                <a:moveTo>
                  <a:pt x="0" y="0"/>
                </a:moveTo>
                <a:cubicBezTo>
                  <a:pt x="2490678" y="8342"/>
                  <a:pt x="3333090" y="6445"/>
                  <a:pt x="5235283" y="0"/>
                </a:cubicBezTo>
                <a:cubicBezTo>
                  <a:pt x="5217099" y="176348"/>
                  <a:pt x="5223874" y="772962"/>
                  <a:pt x="5235283" y="874225"/>
                </a:cubicBezTo>
                <a:cubicBezTo>
                  <a:pt x="3508978" y="877987"/>
                  <a:pt x="621443" y="786159"/>
                  <a:pt x="0" y="874225"/>
                </a:cubicBezTo>
                <a:cubicBezTo>
                  <a:pt x="51705" y="691909"/>
                  <a:pt x="-40101" y="213876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📧 juha@ala-ranta.la</a:t>
            </a:r>
            <a:endParaRPr lang="en-FI" sz="20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9B71E4-EA68-B68C-A3D0-A0FBB5068C98}"/>
              </a:ext>
            </a:extLst>
          </p:cNvPr>
          <p:cNvSpPr/>
          <p:nvPr/>
        </p:nvSpPr>
        <p:spPr>
          <a:xfrm>
            <a:off x="358095" y="5790018"/>
            <a:ext cx="3957514" cy="874225"/>
          </a:xfrm>
          <a:custGeom>
            <a:avLst/>
            <a:gdLst>
              <a:gd name="csX0" fmla="*/ 0 w 3957514"/>
              <a:gd name="csY0" fmla="*/ 0 h 874225"/>
              <a:gd name="csX1" fmla="*/ 3957514 w 3957514"/>
              <a:gd name="csY1" fmla="*/ 0 h 874225"/>
              <a:gd name="csX2" fmla="*/ 3957514 w 3957514"/>
              <a:gd name="csY2" fmla="*/ 874225 h 874225"/>
              <a:gd name="csX3" fmla="*/ 0 w 3957514"/>
              <a:gd name="csY3" fmla="*/ 874225 h 874225"/>
              <a:gd name="csX4" fmla="*/ 0 w 3957514"/>
              <a:gd name="csY4" fmla="*/ 0 h 874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57514" h="874225" fill="none" extrusionOk="0">
                <a:moveTo>
                  <a:pt x="0" y="0"/>
                </a:moveTo>
                <a:cubicBezTo>
                  <a:pt x="774471" y="57912"/>
                  <a:pt x="2288578" y="-77563"/>
                  <a:pt x="3957514" y="0"/>
                </a:cubicBezTo>
                <a:cubicBezTo>
                  <a:pt x="3919584" y="250687"/>
                  <a:pt x="4024653" y="663534"/>
                  <a:pt x="3957514" y="874225"/>
                </a:cubicBezTo>
                <a:cubicBezTo>
                  <a:pt x="2949843" y="1008152"/>
                  <a:pt x="944325" y="975402"/>
                  <a:pt x="0" y="874225"/>
                </a:cubicBezTo>
                <a:cubicBezTo>
                  <a:pt x="-30175" y="456943"/>
                  <a:pt x="-12581" y="105973"/>
                  <a:pt x="0" y="0"/>
                </a:cubicBezTo>
                <a:close/>
              </a:path>
              <a:path w="3957514" h="874225" stroke="0" extrusionOk="0">
                <a:moveTo>
                  <a:pt x="0" y="0"/>
                </a:moveTo>
                <a:cubicBezTo>
                  <a:pt x="869669" y="8342"/>
                  <a:pt x="2999703" y="6445"/>
                  <a:pt x="3957514" y="0"/>
                </a:cubicBezTo>
                <a:cubicBezTo>
                  <a:pt x="3939330" y="176348"/>
                  <a:pt x="3946105" y="772962"/>
                  <a:pt x="3957514" y="874225"/>
                </a:cubicBezTo>
                <a:cubicBezTo>
                  <a:pt x="3014988" y="877987"/>
                  <a:pt x="972597" y="786159"/>
                  <a:pt x="0" y="874225"/>
                </a:cubicBezTo>
                <a:cubicBezTo>
                  <a:pt x="51705" y="691909"/>
                  <a:pt x="-40101" y="213876"/>
                  <a:pt x="0" y="0"/>
                </a:cubicBezTo>
                <a:close/>
              </a:path>
            </a:pathLst>
          </a:custGeom>
          <a:solidFill>
            <a:srgbClr val="F1ECE1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38007224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🌍 ala-ranta.la</a:t>
            </a:r>
            <a:endParaRPr lang="en-FI" sz="20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32C370-7A47-F7E3-FACC-DE20C8CC67C7}"/>
              </a:ext>
            </a:extLst>
          </p:cNvPr>
          <p:cNvSpPr/>
          <p:nvPr/>
        </p:nvSpPr>
        <p:spPr>
          <a:xfrm rot="212283">
            <a:off x="2741496" y="1844545"/>
            <a:ext cx="2804873" cy="1639485"/>
          </a:xfrm>
          <a:custGeom>
            <a:avLst/>
            <a:gdLst>
              <a:gd name="csX0" fmla="*/ 0 w 2804873"/>
              <a:gd name="csY0" fmla="*/ 0 h 1639485"/>
              <a:gd name="csX1" fmla="*/ 589023 w 2804873"/>
              <a:gd name="csY1" fmla="*/ 0 h 1639485"/>
              <a:gd name="csX2" fmla="*/ 1093900 w 2804873"/>
              <a:gd name="csY2" fmla="*/ 0 h 1639485"/>
              <a:gd name="csX3" fmla="*/ 1626826 w 2804873"/>
              <a:gd name="csY3" fmla="*/ 0 h 1639485"/>
              <a:gd name="csX4" fmla="*/ 2187801 w 2804873"/>
              <a:gd name="csY4" fmla="*/ 0 h 1639485"/>
              <a:gd name="csX5" fmla="*/ 2804873 w 2804873"/>
              <a:gd name="csY5" fmla="*/ 0 h 1639485"/>
              <a:gd name="csX6" fmla="*/ 2804873 w 2804873"/>
              <a:gd name="csY6" fmla="*/ 530100 h 1639485"/>
              <a:gd name="csX7" fmla="*/ 2804873 w 2804873"/>
              <a:gd name="csY7" fmla="*/ 1092990 h 1639485"/>
              <a:gd name="csX8" fmla="*/ 2804873 w 2804873"/>
              <a:gd name="csY8" fmla="*/ 1639485 h 1639485"/>
              <a:gd name="csX9" fmla="*/ 2328045 w 2804873"/>
              <a:gd name="csY9" fmla="*/ 1639485 h 1639485"/>
              <a:gd name="csX10" fmla="*/ 1823167 w 2804873"/>
              <a:gd name="csY10" fmla="*/ 1639485 h 1639485"/>
              <a:gd name="csX11" fmla="*/ 1262193 w 2804873"/>
              <a:gd name="csY11" fmla="*/ 1639485 h 1639485"/>
              <a:gd name="csX12" fmla="*/ 785364 w 2804873"/>
              <a:gd name="csY12" fmla="*/ 1639485 h 1639485"/>
              <a:gd name="csX13" fmla="*/ 0 w 2804873"/>
              <a:gd name="csY13" fmla="*/ 1639485 h 1639485"/>
              <a:gd name="csX14" fmla="*/ 0 w 2804873"/>
              <a:gd name="csY14" fmla="*/ 1060200 h 1639485"/>
              <a:gd name="csX15" fmla="*/ 0 w 2804873"/>
              <a:gd name="csY15" fmla="*/ 562890 h 1639485"/>
              <a:gd name="csX16" fmla="*/ 0 w 2804873"/>
              <a:gd name="csY16" fmla="*/ 0 h 1639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804873" h="1639485" fill="none" extrusionOk="0">
                <a:moveTo>
                  <a:pt x="0" y="0"/>
                </a:moveTo>
                <a:cubicBezTo>
                  <a:pt x="289660" y="2551"/>
                  <a:pt x="359698" y="22108"/>
                  <a:pt x="589023" y="0"/>
                </a:cubicBezTo>
                <a:cubicBezTo>
                  <a:pt x="818348" y="-22108"/>
                  <a:pt x="957120" y="-12818"/>
                  <a:pt x="1093900" y="0"/>
                </a:cubicBezTo>
                <a:cubicBezTo>
                  <a:pt x="1230680" y="12818"/>
                  <a:pt x="1430932" y="-18997"/>
                  <a:pt x="1626826" y="0"/>
                </a:cubicBezTo>
                <a:cubicBezTo>
                  <a:pt x="1822720" y="18997"/>
                  <a:pt x="1925692" y="-20421"/>
                  <a:pt x="2187801" y="0"/>
                </a:cubicBezTo>
                <a:cubicBezTo>
                  <a:pt x="2449910" y="20421"/>
                  <a:pt x="2567262" y="-3081"/>
                  <a:pt x="2804873" y="0"/>
                </a:cubicBezTo>
                <a:cubicBezTo>
                  <a:pt x="2812547" y="151593"/>
                  <a:pt x="2785546" y="284209"/>
                  <a:pt x="2804873" y="530100"/>
                </a:cubicBezTo>
                <a:cubicBezTo>
                  <a:pt x="2824200" y="775991"/>
                  <a:pt x="2804540" y="952893"/>
                  <a:pt x="2804873" y="1092990"/>
                </a:cubicBezTo>
                <a:cubicBezTo>
                  <a:pt x="2805207" y="1233087"/>
                  <a:pt x="2818144" y="1369468"/>
                  <a:pt x="2804873" y="1639485"/>
                </a:cubicBezTo>
                <a:cubicBezTo>
                  <a:pt x="2632884" y="1658637"/>
                  <a:pt x="2439203" y="1651164"/>
                  <a:pt x="2328045" y="1639485"/>
                </a:cubicBezTo>
                <a:cubicBezTo>
                  <a:pt x="2216887" y="1627806"/>
                  <a:pt x="2055501" y="1638489"/>
                  <a:pt x="1823167" y="1639485"/>
                </a:cubicBezTo>
                <a:cubicBezTo>
                  <a:pt x="1590833" y="1640481"/>
                  <a:pt x="1401505" y="1628932"/>
                  <a:pt x="1262193" y="1639485"/>
                </a:cubicBezTo>
                <a:cubicBezTo>
                  <a:pt x="1122881" y="1650038"/>
                  <a:pt x="902608" y="1629232"/>
                  <a:pt x="785364" y="1639485"/>
                </a:cubicBezTo>
                <a:cubicBezTo>
                  <a:pt x="668120" y="1649738"/>
                  <a:pt x="186495" y="1658186"/>
                  <a:pt x="0" y="1639485"/>
                </a:cubicBezTo>
                <a:cubicBezTo>
                  <a:pt x="-15297" y="1523490"/>
                  <a:pt x="5405" y="1187483"/>
                  <a:pt x="0" y="1060200"/>
                </a:cubicBezTo>
                <a:cubicBezTo>
                  <a:pt x="-5405" y="932917"/>
                  <a:pt x="13609" y="724401"/>
                  <a:pt x="0" y="562890"/>
                </a:cubicBezTo>
                <a:cubicBezTo>
                  <a:pt x="-13609" y="401379"/>
                  <a:pt x="-10704" y="268861"/>
                  <a:pt x="0" y="0"/>
                </a:cubicBezTo>
                <a:close/>
              </a:path>
              <a:path w="2804873" h="1639485" stroke="0" extrusionOk="0">
                <a:moveTo>
                  <a:pt x="0" y="0"/>
                </a:moveTo>
                <a:cubicBezTo>
                  <a:pt x="226700" y="-22596"/>
                  <a:pt x="330399" y="9608"/>
                  <a:pt x="617072" y="0"/>
                </a:cubicBezTo>
                <a:cubicBezTo>
                  <a:pt x="903745" y="-9608"/>
                  <a:pt x="911795" y="26528"/>
                  <a:pt x="1178047" y="0"/>
                </a:cubicBezTo>
                <a:cubicBezTo>
                  <a:pt x="1444299" y="-26528"/>
                  <a:pt x="1482918" y="-12532"/>
                  <a:pt x="1682924" y="0"/>
                </a:cubicBezTo>
                <a:cubicBezTo>
                  <a:pt x="1882930" y="12532"/>
                  <a:pt x="1975390" y="26952"/>
                  <a:pt x="2243898" y="0"/>
                </a:cubicBezTo>
                <a:cubicBezTo>
                  <a:pt x="2512406" y="-26952"/>
                  <a:pt x="2570304" y="-2749"/>
                  <a:pt x="2804873" y="0"/>
                </a:cubicBezTo>
                <a:cubicBezTo>
                  <a:pt x="2827927" y="165811"/>
                  <a:pt x="2800682" y="294251"/>
                  <a:pt x="2804873" y="513705"/>
                </a:cubicBezTo>
                <a:cubicBezTo>
                  <a:pt x="2809064" y="733160"/>
                  <a:pt x="2824062" y="850802"/>
                  <a:pt x="2804873" y="1011016"/>
                </a:cubicBezTo>
                <a:cubicBezTo>
                  <a:pt x="2785684" y="1171230"/>
                  <a:pt x="2812881" y="1452192"/>
                  <a:pt x="2804873" y="1639485"/>
                </a:cubicBezTo>
                <a:cubicBezTo>
                  <a:pt x="2606958" y="1633960"/>
                  <a:pt x="2444534" y="1657381"/>
                  <a:pt x="2271947" y="1639485"/>
                </a:cubicBezTo>
                <a:cubicBezTo>
                  <a:pt x="2099360" y="1621589"/>
                  <a:pt x="1951408" y="1652970"/>
                  <a:pt x="1739021" y="1639485"/>
                </a:cubicBezTo>
                <a:cubicBezTo>
                  <a:pt x="1526634" y="1626000"/>
                  <a:pt x="1322944" y="1659989"/>
                  <a:pt x="1206095" y="1639485"/>
                </a:cubicBezTo>
                <a:cubicBezTo>
                  <a:pt x="1089246" y="1618981"/>
                  <a:pt x="858286" y="1639852"/>
                  <a:pt x="617072" y="1639485"/>
                </a:cubicBezTo>
                <a:cubicBezTo>
                  <a:pt x="375858" y="1639118"/>
                  <a:pt x="177079" y="1650952"/>
                  <a:pt x="0" y="1639485"/>
                </a:cubicBezTo>
                <a:cubicBezTo>
                  <a:pt x="-18560" y="1426889"/>
                  <a:pt x="9348" y="1320361"/>
                  <a:pt x="0" y="1109385"/>
                </a:cubicBezTo>
                <a:cubicBezTo>
                  <a:pt x="-9348" y="898409"/>
                  <a:pt x="14452" y="815728"/>
                  <a:pt x="0" y="595680"/>
                </a:cubicBezTo>
                <a:cubicBezTo>
                  <a:pt x="-14452" y="375632"/>
                  <a:pt x="21347" y="176420"/>
                  <a:pt x="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Oma idea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voi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nyt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päästä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pelattavaksi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6E8658-CF8D-D31D-3DFF-B35080C1AC9D}"/>
              </a:ext>
            </a:extLst>
          </p:cNvPr>
          <p:cNvSpPr/>
          <p:nvPr/>
        </p:nvSpPr>
        <p:spPr>
          <a:xfrm rot="21358298">
            <a:off x="5465319" y="2464464"/>
            <a:ext cx="3276924" cy="1639485"/>
          </a:xfrm>
          <a:custGeom>
            <a:avLst/>
            <a:gdLst>
              <a:gd name="csX0" fmla="*/ 0 w 3276924"/>
              <a:gd name="csY0" fmla="*/ 0 h 1639485"/>
              <a:gd name="csX1" fmla="*/ 688154 w 3276924"/>
              <a:gd name="csY1" fmla="*/ 0 h 1639485"/>
              <a:gd name="csX2" fmla="*/ 1278000 w 3276924"/>
              <a:gd name="csY2" fmla="*/ 0 h 1639485"/>
              <a:gd name="csX3" fmla="*/ 1900616 w 3276924"/>
              <a:gd name="csY3" fmla="*/ 0 h 1639485"/>
              <a:gd name="csX4" fmla="*/ 2556001 w 3276924"/>
              <a:gd name="csY4" fmla="*/ 0 h 1639485"/>
              <a:gd name="csX5" fmla="*/ 3276924 w 3276924"/>
              <a:gd name="csY5" fmla="*/ 0 h 1639485"/>
              <a:gd name="csX6" fmla="*/ 3276924 w 3276924"/>
              <a:gd name="csY6" fmla="*/ 530100 h 1639485"/>
              <a:gd name="csX7" fmla="*/ 3276924 w 3276924"/>
              <a:gd name="csY7" fmla="*/ 1092990 h 1639485"/>
              <a:gd name="csX8" fmla="*/ 3276924 w 3276924"/>
              <a:gd name="csY8" fmla="*/ 1639485 h 1639485"/>
              <a:gd name="csX9" fmla="*/ 2719847 w 3276924"/>
              <a:gd name="csY9" fmla="*/ 1639485 h 1639485"/>
              <a:gd name="csX10" fmla="*/ 2130001 w 3276924"/>
              <a:gd name="csY10" fmla="*/ 1639485 h 1639485"/>
              <a:gd name="csX11" fmla="*/ 1474616 w 3276924"/>
              <a:gd name="csY11" fmla="*/ 1639485 h 1639485"/>
              <a:gd name="csX12" fmla="*/ 917539 w 3276924"/>
              <a:gd name="csY12" fmla="*/ 1639485 h 1639485"/>
              <a:gd name="csX13" fmla="*/ 0 w 3276924"/>
              <a:gd name="csY13" fmla="*/ 1639485 h 1639485"/>
              <a:gd name="csX14" fmla="*/ 0 w 3276924"/>
              <a:gd name="csY14" fmla="*/ 1060200 h 1639485"/>
              <a:gd name="csX15" fmla="*/ 0 w 3276924"/>
              <a:gd name="csY15" fmla="*/ 562890 h 1639485"/>
              <a:gd name="csX16" fmla="*/ 0 w 3276924"/>
              <a:gd name="csY16" fmla="*/ 0 h 1639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276924" h="1639485" fill="none" extrusionOk="0">
                <a:moveTo>
                  <a:pt x="0" y="0"/>
                </a:moveTo>
                <a:cubicBezTo>
                  <a:pt x="254508" y="23184"/>
                  <a:pt x="433109" y="2859"/>
                  <a:pt x="688154" y="0"/>
                </a:cubicBezTo>
                <a:cubicBezTo>
                  <a:pt x="943199" y="-2859"/>
                  <a:pt x="1154988" y="14286"/>
                  <a:pt x="1278000" y="0"/>
                </a:cubicBezTo>
                <a:cubicBezTo>
                  <a:pt x="1401012" y="-14286"/>
                  <a:pt x="1765809" y="-17035"/>
                  <a:pt x="1900616" y="0"/>
                </a:cubicBezTo>
                <a:cubicBezTo>
                  <a:pt x="2035423" y="17035"/>
                  <a:pt x="2334326" y="17420"/>
                  <a:pt x="2556001" y="0"/>
                </a:cubicBezTo>
                <a:cubicBezTo>
                  <a:pt x="2777676" y="-17420"/>
                  <a:pt x="3007191" y="23412"/>
                  <a:pt x="3276924" y="0"/>
                </a:cubicBezTo>
                <a:cubicBezTo>
                  <a:pt x="3284598" y="151593"/>
                  <a:pt x="3257597" y="284209"/>
                  <a:pt x="3276924" y="530100"/>
                </a:cubicBezTo>
                <a:cubicBezTo>
                  <a:pt x="3296251" y="775991"/>
                  <a:pt x="3276591" y="952893"/>
                  <a:pt x="3276924" y="1092990"/>
                </a:cubicBezTo>
                <a:cubicBezTo>
                  <a:pt x="3277258" y="1233087"/>
                  <a:pt x="3290195" y="1369468"/>
                  <a:pt x="3276924" y="1639485"/>
                </a:cubicBezTo>
                <a:cubicBezTo>
                  <a:pt x="3093418" y="1654823"/>
                  <a:pt x="2991038" y="1619446"/>
                  <a:pt x="2719847" y="1639485"/>
                </a:cubicBezTo>
                <a:cubicBezTo>
                  <a:pt x="2448656" y="1659524"/>
                  <a:pt x="2252302" y="1645185"/>
                  <a:pt x="2130001" y="1639485"/>
                </a:cubicBezTo>
                <a:cubicBezTo>
                  <a:pt x="2007700" y="1633785"/>
                  <a:pt x="1635184" y="1657399"/>
                  <a:pt x="1474616" y="1639485"/>
                </a:cubicBezTo>
                <a:cubicBezTo>
                  <a:pt x="1314049" y="1621571"/>
                  <a:pt x="1101820" y="1654728"/>
                  <a:pt x="917539" y="1639485"/>
                </a:cubicBezTo>
                <a:cubicBezTo>
                  <a:pt x="733258" y="1624242"/>
                  <a:pt x="376223" y="1649180"/>
                  <a:pt x="0" y="1639485"/>
                </a:cubicBezTo>
                <a:cubicBezTo>
                  <a:pt x="-15297" y="1523490"/>
                  <a:pt x="5405" y="1187483"/>
                  <a:pt x="0" y="1060200"/>
                </a:cubicBezTo>
                <a:cubicBezTo>
                  <a:pt x="-5405" y="932917"/>
                  <a:pt x="13609" y="724401"/>
                  <a:pt x="0" y="562890"/>
                </a:cubicBezTo>
                <a:cubicBezTo>
                  <a:pt x="-13609" y="401379"/>
                  <a:pt x="-10704" y="268861"/>
                  <a:pt x="0" y="0"/>
                </a:cubicBezTo>
                <a:close/>
              </a:path>
              <a:path w="3276924" h="1639485" stroke="0" extrusionOk="0">
                <a:moveTo>
                  <a:pt x="0" y="0"/>
                </a:moveTo>
                <a:cubicBezTo>
                  <a:pt x="225392" y="15213"/>
                  <a:pt x="434864" y="-32886"/>
                  <a:pt x="720923" y="0"/>
                </a:cubicBezTo>
                <a:cubicBezTo>
                  <a:pt x="1006982" y="32886"/>
                  <a:pt x="1180834" y="-10054"/>
                  <a:pt x="1376308" y="0"/>
                </a:cubicBezTo>
                <a:cubicBezTo>
                  <a:pt x="1571783" y="10054"/>
                  <a:pt x="1696048" y="26072"/>
                  <a:pt x="1966154" y="0"/>
                </a:cubicBezTo>
                <a:cubicBezTo>
                  <a:pt x="2236260" y="-26072"/>
                  <a:pt x="2371564" y="3951"/>
                  <a:pt x="2621539" y="0"/>
                </a:cubicBezTo>
                <a:cubicBezTo>
                  <a:pt x="2871515" y="-3951"/>
                  <a:pt x="3050548" y="-25706"/>
                  <a:pt x="3276924" y="0"/>
                </a:cubicBezTo>
                <a:cubicBezTo>
                  <a:pt x="3299978" y="165811"/>
                  <a:pt x="3272733" y="294251"/>
                  <a:pt x="3276924" y="513705"/>
                </a:cubicBezTo>
                <a:cubicBezTo>
                  <a:pt x="3281115" y="733160"/>
                  <a:pt x="3296113" y="850802"/>
                  <a:pt x="3276924" y="1011016"/>
                </a:cubicBezTo>
                <a:cubicBezTo>
                  <a:pt x="3257735" y="1171230"/>
                  <a:pt x="3284932" y="1452192"/>
                  <a:pt x="3276924" y="1639485"/>
                </a:cubicBezTo>
                <a:cubicBezTo>
                  <a:pt x="3131015" y="1659067"/>
                  <a:pt x="2917105" y="1627500"/>
                  <a:pt x="2654308" y="1639485"/>
                </a:cubicBezTo>
                <a:cubicBezTo>
                  <a:pt x="2391511" y="1651470"/>
                  <a:pt x="2190828" y="1653688"/>
                  <a:pt x="2031693" y="1639485"/>
                </a:cubicBezTo>
                <a:cubicBezTo>
                  <a:pt x="1872558" y="1625282"/>
                  <a:pt x="1580449" y="1665891"/>
                  <a:pt x="1409077" y="1639485"/>
                </a:cubicBezTo>
                <a:cubicBezTo>
                  <a:pt x="1237705" y="1613079"/>
                  <a:pt x="947800" y="1616331"/>
                  <a:pt x="720923" y="1639485"/>
                </a:cubicBezTo>
                <a:cubicBezTo>
                  <a:pt x="494046" y="1662639"/>
                  <a:pt x="351358" y="1628457"/>
                  <a:pt x="0" y="1639485"/>
                </a:cubicBezTo>
                <a:cubicBezTo>
                  <a:pt x="-18560" y="1426889"/>
                  <a:pt x="9348" y="1320361"/>
                  <a:pt x="0" y="1109385"/>
                </a:cubicBezTo>
                <a:cubicBezTo>
                  <a:pt x="-9348" y="898409"/>
                  <a:pt x="14452" y="815728"/>
                  <a:pt x="0" y="595680"/>
                </a:cubicBezTo>
                <a:cubicBezTo>
                  <a:pt x="-14452" y="375632"/>
                  <a:pt x="21347" y="176420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Pelin arvo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syntyy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siitä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,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mitä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joku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kokee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B98CA6-A553-BB9D-67B4-E85F8EB10C17}"/>
              </a:ext>
            </a:extLst>
          </p:cNvPr>
          <p:cNvSpPr/>
          <p:nvPr/>
        </p:nvSpPr>
        <p:spPr>
          <a:xfrm rot="21358375">
            <a:off x="8739993" y="2655119"/>
            <a:ext cx="3127954" cy="1639485"/>
          </a:xfrm>
          <a:custGeom>
            <a:avLst/>
            <a:gdLst>
              <a:gd name="csX0" fmla="*/ 0 w 3127954"/>
              <a:gd name="csY0" fmla="*/ 0 h 1639485"/>
              <a:gd name="csX1" fmla="*/ 656870 w 3127954"/>
              <a:gd name="csY1" fmla="*/ 0 h 1639485"/>
              <a:gd name="csX2" fmla="*/ 1219902 w 3127954"/>
              <a:gd name="csY2" fmla="*/ 0 h 1639485"/>
              <a:gd name="csX3" fmla="*/ 1814213 w 3127954"/>
              <a:gd name="csY3" fmla="*/ 0 h 1639485"/>
              <a:gd name="csX4" fmla="*/ 2439804 w 3127954"/>
              <a:gd name="csY4" fmla="*/ 0 h 1639485"/>
              <a:gd name="csX5" fmla="*/ 3127954 w 3127954"/>
              <a:gd name="csY5" fmla="*/ 0 h 1639485"/>
              <a:gd name="csX6" fmla="*/ 3127954 w 3127954"/>
              <a:gd name="csY6" fmla="*/ 530100 h 1639485"/>
              <a:gd name="csX7" fmla="*/ 3127954 w 3127954"/>
              <a:gd name="csY7" fmla="*/ 1092990 h 1639485"/>
              <a:gd name="csX8" fmla="*/ 3127954 w 3127954"/>
              <a:gd name="csY8" fmla="*/ 1639485 h 1639485"/>
              <a:gd name="csX9" fmla="*/ 2596202 w 3127954"/>
              <a:gd name="csY9" fmla="*/ 1639485 h 1639485"/>
              <a:gd name="csX10" fmla="*/ 2033170 w 3127954"/>
              <a:gd name="csY10" fmla="*/ 1639485 h 1639485"/>
              <a:gd name="csX11" fmla="*/ 1407579 w 3127954"/>
              <a:gd name="csY11" fmla="*/ 1639485 h 1639485"/>
              <a:gd name="csX12" fmla="*/ 875827 w 3127954"/>
              <a:gd name="csY12" fmla="*/ 1639485 h 1639485"/>
              <a:gd name="csX13" fmla="*/ 0 w 3127954"/>
              <a:gd name="csY13" fmla="*/ 1639485 h 1639485"/>
              <a:gd name="csX14" fmla="*/ 0 w 3127954"/>
              <a:gd name="csY14" fmla="*/ 1060200 h 1639485"/>
              <a:gd name="csX15" fmla="*/ 0 w 3127954"/>
              <a:gd name="csY15" fmla="*/ 562890 h 1639485"/>
              <a:gd name="csX16" fmla="*/ 0 w 3127954"/>
              <a:gd name="csY16" fmla="*/ 0 h 1639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127954" h="1639485" fill="none" extrusionOk="0">
                <a:moveTo>
                  <a:pt x="0" y="0"/>
                </a:moveTo>
                <a:cubicBezTo>
                  <a:pt x="187315" y="-22730"/>
                  <a:pt x="522988" y="16518"/>
                  <a:pt x="656870" y="0"/>
                </a:cubicBezTo>
                <a:cubicBezTo>
                  <a:pt x="790752" y="-16518"/>
                  <a:pt x="1046206" y="9778"/>
                  <a:pt x="1219902" y="0"/>
                </a:cubicBezTo>
                <a:cubicBezTo>
                  <a:pt x="1393598" y="-9778"/>
                  <a:pt x="1686263" y="1328"/>
                  <a:pt x="1814213" y="0"/>
                </a:cubicBezTo>
                <a:cubicBezTo>
                  <a:pt x="1942163" y="-1328"/>
                  <a:pt x="2236420" y="5226"/>
                  <a:pt x="2439804" y="0"/>
                </a:cubicBezTo>
                <a:cubicBezTo>
                  <a:pt x="2643188" y="-5226"/>
                  <a:pt x="2836442" y="-8017"/>
                  <a:pt x="3127954" y="0"/>
                </a:cubicBezTo>
                <a:cubicBezTo>
                  <a:pt x="3135628" y="151593"/>
                  <a:pt x="3108627" y="284209"/>
                  <a:pt x="3127954" y="530100"/>
                </a:cubicBezTo>
                <a:cubicBezTo>
                  <a:pt x="3147281" y="775991"/>
                  <a:pt x="3127621" y="952893"/>
                  <a:pt x="3127954" y="1092990"/>
                </a:cubicBezTo>
                <a:cubicBezTo>
                  <a:pt x="3128288" y="1233087"/>
                  <a:pt x="3141225" y="1369468"/>
                  <a:pt x="3127954" y="1639485"/>
                </a:cubicBezTo>
                <a:cubicBezTo>
                  <a:pt x="2898724" y="1617466"/>
                  <a:pt x="2747488" y="1642422"/>
                  <a:pt x="2596202" y="1639485"/>
                </a:cubicBezTo>
                <a:cubicBezTo>
                  <a:pt x="2444916" y="1636548"/>
                  <a:pt x="2229600" y="1658392"/>
                  <a:pt x="2033170" y="1639485"/>
                </a:cubicBezTo>
                <a:cubicBezTo>
                  <a:pt x="1836740" y="1620578"/>
                  <a:pt x="1571890" y="1644422"/>
                  <a:pt x="1407579" y="1639485"/>
                </a:cubicBezTo>
                <a:cubicBezTo>
                  <a:pt x="1243268" y="1634548"/>
                  <a:pt x="1039535" y="1650206"/>
                  <a:pt x="875827" y="1639485"/>
                </a:cubicBezTo>
                <a:cubicBezTo>
                  <a:pt x="712119" y="1628764"/>
                  <a:pt x="198269" y="1683060"/>
                  <a:pt x="0" y="1639485"/>
                </a:cubicBezTo>
                <a:cubicBezTo>
                  <a:pt x="-15297" y="1523490"/>
                  <a:pt x="5405" y="1187483"/>
                  <a:pt x="0" y="1060200"/>
                </a:cubicBezTo>
                <a:cubicBezTo>
                  <a:pt x="-5405" y="932917"/>
                  <a:pt x="13609" y="724401"/>
                  <a:pt x="0" y="562890"/>
                </a:cubicBezTo>
                <a:cubicBezTo>
                  <a:pt x="-13609" y="401379"/>
                  <a:pt x="-10704" y="268861"/>
                  <a:pt x="0" y="0"/>
                </a:cubicBezTo>
                <a:close/>
              </a:path>
              <a:path w="3127954" h="1639485" stroke="0" extrusionOk="0">
                <a:moveTo>
                  <a:pt x="0" y="0"/>
                </a:moveTo>
                <a:cubicBezTo>
                  <a:pt x="144069" y="26505"/>
                  <a:pt x="521361" y="-25933"/>
                  <a:pt x="688150" y="0"/>
                </a:cubicBezTo>
                <a:cubicBezTo>
                  <a:pt x="854939" y="25933"/>
                  <a:pt x="1012594" y="18749"/>
                  <a:pt x="1313741" y="0"/>
                </a:cubicBezTo>
                <a:cubicBezTo>
                  <a:pt x="1614888" y="-18749"/>
                  <a:pt x="1686152" y="25718"/>
                  <a:pt x="1876772" y="0"/>
                </a:cubicBezTo>
                <a:cubicBezTo>
                  <a:pt x="2067392" y="-25718"/>
                  <a:pt x="2360706" y="-15663"/>
                  <a:pt x="2502363" y="0"/>
                </a:cubicBezTo>
                <a:cubicBezTo>
                  <a:pt x="2644020" y="15663"/>
                  <a:pt x="2823939" y="6433"/>
                  <a:pt x="3127954" y="0"/>
                </a:cubicBezTo>
                <a:cubicBezTo>
                  <a:pt x="3151008" y="165811"/>
                  <a:pt x="3123763" y="294251"/>
                  <a:pt x="3127954" y="513705"/>
                </a:cubicBezTo>
                <a:cubicBezTo>
                  <a:pt x="3132145" y="733160"/>
                  <a:pt x="3147143" y="850802"/>
                  <a:pt x="3127954" y="1011016"/>
                </a:cubicBezTo>
                <a:cubicBezTo>
                  <a:pt x="3108765" y="1171230"/>
                  <a:pt x="3135962" y="1452192"/>
                  <a:pt x="3127954" y="1639485"/>
                </a:cubicBezTo>
                <a:cubicBezTo>
                  <a:pt x="2972257" y="1613859"/>
                  <a:pt x="2738322" y="1620124"/>
                  <a:pt x="2533643" y="1639485"/>
                </a:cubicBezTo>
                <a:cubicBezTo>
                  <a:pt x="2328964" y="1658846"/>
                  <a:pt x="2078923" y="1668611"/>
                  <a:pt x="1939331" y="1639485"/>
                </a:cubicBezTo>
                <a:cubicBezTo>
                  <a:pt x="1799739" y="1610359"/>
                  <a:pt x="1565874" y="1626017"/>
                  <a:pt x="1345020" y="1639485"/>
                </a:cubicBezTo>
                <a:cubicBezTo>
                  <a:pt x="1124166" y="1652953"/>
                  <a:pt x="995987" y="1646161"/>
                  <a:pt x="688150" y="1639485"/>
                </a:cubicBezTo>
                <a:cubicBezTo>
                  <a:pt x="380313" y="1632810"/>
                  <a:pt x="155043" y="1622926"/>
                  <a:pt x="0" y="1639485"/>
                </a:cubicBezTo>
                <a:cubicBezTo>
                  <a:pt x="-18560" y="1426889"/>
                  <a:pt x="9348" y="1320361"/>
                  <a:pt x="0" y="1109385"/>
                </a:cubicBezTo>
                <a:cubicBezTo>
                  <a:pt x="-9348" y="898409"/>
                  <a:pt x="14452" y="815728"/>
                  <a:pt x="0" y="595680"/>
                </a:cubicBezTo>
                <a:cubicBezTo>
                  <a:pt x="-14452" y="375632"/>
                  <a:pt x="21347" y="176420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sq" cmpd="dbl">
            <a:solidFill>
              <a:srgbClr val="000000">
                <a:alpha val="0"/>
              </a:srgbClr>
            </a:solidFill>
            <a:prstDash val="sysDot"/>
            <a:beve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Tekoälyn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käyttötavalla</a:t>
            </a:r>
            <a:r>
              <a:rPr lang="en-FI" sz="2400" dirty="0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 on </a:t>
            </a:r>
            <a:r>
              <a:rPr lang="en-FI" sz="2400" dirty="0" err="1">
                <a:solidFill>
                  <a:schemeClr val="tx1"/>
                </a:solidFill>
                <a:latin typeface="Bungee" pitchFamily="2" charset="0"/>
                <a:ea typeface="Bungee" pitchFamily="2" charset="0"/>
              </a:rPr>
              <a:t>väliä</a:t>
            </a:r>
            <a:endParaRPr lang="en-FI" sz="2400" dirty="0">
              <a:solidFill>
                <a:schemeClr val="tx1"/>
              </a:solidFill>
              <a:latin typeface="Bungee" pitchFamily="2" charset="0"/>
              <a:ea typeface="Bungee" pitchFamily="2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1CF1631-9965-0F86-37DA-57E9311A97B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266" y="4407132"/>
            <a:ext cx="501650" cy="50165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172FFB4-B68D-D371-0185-5F340959DE7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749" y="2516974"/>
            <a:ext cx="450850" cy="45085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D79371F-5816-D5D5-1938-CC270F51C49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645" y="1641342"/>
            <a:ext cx="534168" cy="53416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2B7C230-3EFE-7E46-5535-30ECDB198E5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920" y="4400552"/>
            <a:ext cx="577850" cy="57785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5BA6060-88D1-8928-838E-CE75D91560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41096">
            <a:off x="6948210" y="2309858"/>
            <a:ext cx="450850" cy="45085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A3176250-5D16-90E9-9BA5-1E101BCF6A5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631" y="5586438"/>
            <a:ext cx="534168" cy="53416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12E29CE-64B7-2CB5-C5FC-E4CDCA8966C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095" y="5669756"/>
            <a:ext cx="450850" cy="4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1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0" grpId="0" animBg="1"/>
      <p:bldP spid="31" grpId="0" animBg="1"/>
      <p:bldP spid="32" grpId="0" animBg="1"/>
      <p:bldP spid="41" grpId="0" animBg="1"/>
      <p:bldP spid="45" grpId="0" animBg="1"/>
      <p:bldP spid="4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4490</TotalTime>
  <Words>1671</Words>
  <Application>Microsoft Office PowerPoint</Application>
  <PresentationFormat>Widescreen</PresentationFormat>
  <Paragraphs>309</Paragraphs>
  <Slides>75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Aptos</vt:lpstr>
      <vt:lpstr>Aptos Display</vt:lpstr>
      <vt:lpstr>Arial</vt:lpstr>
      <vt:lpstr>Arial Black</vt:lpstr>
      <vt:lpstr>Bungee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Juha Ala-Rantala</dc:creator>
  <cp:lastModifiedBy>Juha Ala-Rantala</cp:lastModifiedBy>
  <cp:revision>71</cp:revision>
  <dcterms:created xsi:type="dcterms:W3CDTF">2026-09-27T11:31:45Z</dcterms:created>
  <dcterms:modified xsi:type="dcterms:W3CDTF">2026-10-10T17:42:26Z</dcterms:modified>
</cp:coreProperties>
</file>